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0:00 to 0:15
Most eye tests begin in a clinic. SeeNA begins with the iPhone already in your hand. It is a voice-guided vision screening companion built to make the first eye check simple.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0:15 to 0:45
For many older adults and people in remote communities, eye care is not a simple appointment. Distance, transport, confusing interfaces and needing someone else to help can become missing blocks. We asked: could the phone connect that first block without pretending to replace a clinician? That became SeeNA.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0:45 to 1:10
The experience is deliberately simple. Press Start. SeeNA speaks every step, uses the front sensors to help the person get into position, then presents one large target at a time. The user answers naturally by voice, including ‘I cannot see it.’ No charts, typing or technical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1:10 to 2:10
Here is the complete flow. After Start, SeeNA checks distance, gaze, lighting and stillness, guiding the user with human instructions. Once positioned, it counts down and begins. The first task is Landolt C: the person says where the circle opens. The second is a Gabor pattern: they say left or right. Each eye is screened separately, and the target waits for the answer. At the end, SeeNA returns an estimated screening result for each eye, explains it in plain language and lets the user inspect every prompt, correct answer and response. The goal is not to make a diagnosis from a phone. It is to provide a clear first signal and a better reason to seek a complete eye examination.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2:10 to 2:45
Every design decision supports independence. Large targets remain visible at a practical distance. Voice begins only after Start. Prompts do not overlap or cut each other off. Positioning allows natural human movement. If the target is not visible, SeeNA accepts that as useful evidence instead of forcing a guess. Results are readable, and every answer remains reviewable.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2:45 to 3:20
Trust comes from separating screening from explanation. TrueDepth and motion signals enforce quality gates. Landolt C and Gabor responses are scored deterministically on the iPhone. OpenAI transcription converts speech to text, and GPT-5.6 Luna explains the result in plain language under a strict schema. AI never creates or changes the numeric estimate. Raw camera frames, face meshes and biometric data are not sent to OpenAI.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3:20 to 3:45
SeeNA is for the moment before access: an older person screening independently, a family checking someone at home, or a remote community needing a first signal. It makes screening more approachable while keeping the next step clear: a complete eye examination when the result indicates concern.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3:45 to 4:00
Technology should connect the blocks that access leaves missing. SeeNA turns the phone already in a person's hand into a first step toward clarity, because everyone deserves to see their world, now and always. We are SeeNA.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video" Target="../media/media-4-1.mp4"/><Relationship Id="rId2" Type="http://schemas.microsoft.com/office/2007/relationships/media" Target="../media/media-4-1.mp4"/><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image" Target="../media/image-5-4.jp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SeeNA hero image with the app and Landolt C symbol">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5577840" cy="6858000"/>
          </a:xfrm>
          <a:prstGeom prst="rect">
            <a:avLst/>
          </a:prstGeom>
          <a:solidFill>
            <a:srgbClr val="050505">
              <a:alpha val="96000"/>
            </a:srgbClr>
          </a:solidFill>
          <a:ln w="12700">
            <a:solidFill>
              <a:srgbClr val="050505">
                <a:alpha val="0"/>
              </a:srgbClr>
            </a:solidFill>
            <a:prstDash val="solid"/>
          </a:ln>
        </p:spPr>
      </p:sp>
      <p:sp>
        <p:nvSpPr>
          <p:cNvPr id="4" name="Shape 1"/>
          <p:cNvSpPr/>
          <p:nvPr/>
        </p:nvSpPr>
        <p:spPr>
          <a:xfrm>
            <a:off x="713232" y="530352"/>
            <a:ext cx="2304288" cy="384048"/>
          </a:xfrm>
          <a:prstGeom prst="roundRect">
            <a:avLst>
              <a:gd name="adj" fmla="val 19048"/>
            </a:avLst>
          </a:prstGeom>
          <a:solidFill>
            <a:srgbClr val="FFFFFF"/>
          </a:solidFill>
          <a:ln w="10160">
            <a:solidFill>
              <a:srgbClr val="FFFFFF"/>
            </a:solidFill>
            <a:prstDash val="solid"/>
          </a:ln>
        </p:spPr>
      </p:sp>
      <p:sp>
        <p:nvSpPr>
          <p:cNvPr id="5" name="Text 2"/>
          <p:cNvSpPr/>
          <p:nvPr/>
        </p:nvSpPr>
        <p:spPr>
          <a:xfrm>
            <a:off x="713232" y="548640"/>
            <a:ext cx="2304288" cy="301752"/>
          </a:xfrm>
          <a:prstGeom prst="rect">
            <a:avLst/>
          </a:prstGeom>
          <a:noFill/>
          <a:ln/>
        </p:spPr>
        <p:txBody>
          <a:bodyPr wrap="square" lIns="0" tIns="0" rIns="0" bIns="0" rtlCol="0" anchor="ctr">
            <a:normAutofit/>
          </a:bodyPr>
          <a:lstStyle/>
          <a:p>
            <a:pPr algn="ctr" indent="0" marL="0">
              <a:buNone/>
            </a:pPr>
            <a:r>
              <a:rPr lang="en-US" sz="1250" b="1" spc="20" kern="0" dirty="0">
                <a:solidFill>
                  <a:srgbClr val="050505"/>
                </a:solidFill>
                <a:latin typeface="Arial" pitchFamily="34" charset="0"/>
                <a:ea typeface="Arial" pitchFamily="34" charset="-122"/>
                <a:cs typeface="Arial" pitchFamily="34" charset="-120"/>
              </a:rPr>
              <a:t>SYNCS HACKATHON 2026</a:t>
            </a:r>
            <a:endParaRPr lang="en-US" sz="1250" dirty="0"/>
          </a:p>
        </p:txBody>
      </p:sp>
      <p:sp>
        <p:nvSpPr>
          <p:cNvPr id="6" name="Text 3"/>
          <p:cNvSpPr/>
          <p:nvPr/>
        </p:nvSpPr>
        <p:spPr>
          <a:xfrm>
            <a:off x="713232" y="3090672"/>
            <a:ext cx="4480560" cy="1316736"/>
          </a:xfrm>
          <a:prstGeom prst="rect">
            <a:avLst/>
          </a:prstGeom>
          <a:noFill/>
          <a:ln/>
        </p:spPr>
        <p:txBody>
          <a:bodyPr wrap="square" lIns="0" tIns="0" rIns="0" bIns="0" rtlCol="0" anchor="ctr">
            <a:normAutofit/>
          </a:bodyPr>
          <a:lstStyle/>
          <a:p>
            <a:pPr indent="0" marL="0">
              <a:lnSpc>
                <a:spcPct val="90000"/>
              </a:lnSpc>
              <a:buNone/>
            </a:pPr>
            <a:r>
              <a:rPr lang="en-US" sz="4700" b="1" dirty="0">
                <a:solidFill>
                  <a:srgbClr val="FFFFFF"/>
                </a:solidFill>
                <a:latin typeface="Arial" pitchFamily="34" charset="0"/>
                <a:ea typeface="Arial" pitchFamily="34" charset="-122"/>
                <a:cs typeface="Arial" pitchFamily="34" charset="-120"/>
              </a:rPr>
              <a:t>See now.</a:t>
            </a:r>
            <a:endParaRPr lang="en-US" sz="4700" dirty="0"/>
          </a:p>
          <a:p>
            <a:pPr indent="0" marL="0">
              <a:lnSpc>
                <a:spcPct val="90000"/>
              </a:lnSpc>
              <a:buNone/>
            </a:pPr>
            <a:r>
              <a:rPr lang="en-US" sz="4700" b="1" dirty="0">
                <a:solidFill>
                  <a:srgbClr val="FFFFFF"/>
                </a:solidFill>
                <a:latin typeface="Arial" pitchFamily="34" charset="0"/>
                <a:ea typeface="Arial" pitchFamily="34" charset="-122"/>
                <a:cs typeface="Arial" pitchFamily="34" charset="-120"/>
              </a:rPr>
              <a:t>Always.</a:t>
            </a:r>
            <a:endParaRPr lang="en-US" sz="4700" dirty="0"/>
          </a:p>
        </p:txBody>
      </p:sp>
      <p:sp>
        <p:nvSpPr>
          <p:cNvPr id="7" name="Text 4"/>
          <p:cNvSpPr/>
          <p:nvPr/>
        </p:nvSpPr>
        <p:spPr>
          <a:xfrm>
            <a:off x="731520" y="4590288"/>
            <a:ext cx="4297680" cy="347472"/>
          </a:xfrm>
          <a:prstGeom prst="rect">
            <a:avLst/>
          </a:prstGeom>
          <a:noFill/>
          <a:ln/>
        </p:spPr>
        <p:txBody>
          <a:bodyPr wrap="square" lIns="0" tIns="0" rIns="0" bIns="0" rtlCol="0" anchor="ctr">
            <a:normAutofit/>
          </a:bodyPr>
          <a:lstStyle/>
          <a:p>
            <a:pPr indent="0" marL="0">
              <a:buNone/>
            </a:pPr>
            <a:r>
              <a:rPr lang="en-US" sz="1800" dirty="0">
                <a:solidFill>
                  <a:srgbClr val="E8E8E8"/>
                </a:solidFill>
                <a:latin typeface="Arial" pitchFamily="34" charset="0"/>
                <a:ea typeface="Arial" pitchFamily="34" charset="-122"/>
                <a:cs typeface="Arial" pitchFamily="34" charset="-120"/>
              </a:rPr>
              <a:t>A voice-guided vision screening companion.</a:t>
            </a:r>
            <a:endParaRPr lang="en-US" sz="1800" dirty="0"/>
          </a:p>
        </p:txBody>
      </p:sp>
      <p:sp>
        <p:nvSpPr>
          <p:cNvPr id="8" name="Text 5"/>
          <p:cNvSpPr/>
          <p:nvPr/>
        </p:nvSpPr>
        <p:spPr>
          <a:xfrm>
            <a:off x="731520" y="6099048"/>
            <a:ext cx="3108960" cy="201168"/>
          </a:xfrm>
          <a:prstGeom prst="rect">
            <a:avLst/>
          </a:prstGeom>
          <a:noFill/>
          <a:ln/>
        </p:spPr>
        <p:txBody>
          <a:bodyPr wrap="square" lIns="0" tIns="0" rIns="0" bIns="0" rtlCol="0" anchor="ctr">
            <a:normAutofit/>
          </a:bodyPr>
          <a:lstStyle/>
          <a:p>
            <a:pPr indent="0" marL="0">
              <a:buNone/>
            </a:pPr>
            <a:r>
              <a:rPr lang="en-US" sz="1050" b="1" spc="80" kern="0" dirty="0">
                <a:solidFill>
                  <a:srgbClr val="BDBDBD"/>
                </a:solidFill>
                <a:latin typeface="Arial" pitchFamily="34" charset="0"/>
                <a:ea typeface="Arial" pitchFamily="34" charset="-122"/>
                <a:cs typeface="Arial" pitchFamily="34" charset="-120"/>
              </a:rPr>
              <a:t>SeeNA  |  See Now and Always</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Older adult overlooking a remote community connected by illuminated blocks">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6675120" cy="6858000"/>
          </a:xfrm>
          <a:prstGeom prst="rect">
            <a:avLst/>
          </a:prstGeom>
          <a:solidFill>
            <a:srgbClr val="050505">
              <a:alpha val="82000"/>
            </a:srgbClr>
          </a:solidFill>
          <a:ln w="12700">
            <a:solidFill>
              <a:srgbClr val="050505">
                <a:alpha val="0"/>
              </a:srgbClr>
            </a:solidFill>
            <a:prstDash val="solid"/>
          </a:ln>
        </p:spPr>
      </p:sp>
      <p:sp>
        <p:nvSpPr>
          <p:cNvPr id="4" name="Text 1"/>
          <p:cNvSpPr/>
          <p:nvPr/>
        </p:nvSpPr>
        <p:spPr>
          <a:xfrm>
            <a:off x="658368" y="347472"/>
            <a:ext cx="3840480" cy="256032"/>
          </a:xfrm>
          <a:prstGeom prst="rect">
            <a:avLst/>
          </a:prstGeom>
          <a:noFill/>
          <a:ln/>
        </p:spPr>
        <p:txBody>
          <a:bodyPr wrap="square" lIns="0" tIns="0" rIns="0" bIns="0" rtlCol="0" anchor="ctr">
            <a:normAutofit/>
          </a:bodyPr>
          <a:lstStyle/>
          <a:p>
            <a:pPr indent="0" marL="0">
              <a:buNone/>
            </a:pPr>
            <a:r>
              <a:rPr lang="en-US" sz="1050" b="1" spc="260" kern="0" dirty="0">
                <a:solidFill>
                  <a:srgbClr val="E7D4BC"/>
                </a:solidFill>
                <a:latin typeface="Arial" pitchFamily="34" charset="0"/>
                <a:ea typeface="Arial" pitchFamily="34" charset="-122"/>
                <a:cs typeface="Arial" pitchFamily="34" charset="-120"/>
              </a:rPr>
              <a:t>THE MISSING FIRST STEP</a:t>
            </a:r>
            <a:endParaRPr lang="en-US" sz="1050" dirty="0"/>
          </a:p>
        </p:txBody>
      </p:sp>
      <p:sp>
        <p:nvSpPr>
          <p:cNvPr id="5" name="Text 2"/>
          <p:cNvSpPr/>
          <p:nvPr/>
        </p:nvSpPr>
        <p:spPr>
          <a:xfrm>
            <a:off x="658368" y="1078992"/>
            <a:ext cx="5166360" cy="2103120"/>
          </a:xfrm>
          <a:prstGeom prst="rect">
            <a:avLst/>
          </a:prstGeom>
          <a:noFill/>
          <a:ln/>
        </p:spPr>
        <p:txBody>
          <a:bodyPr wrap="square" lIns="0" tIns="0" rIns="0" bIns="0" rtlCol="0" anchor="ctr">
            <a:normAutofit/>
          </a:bodyPr>
          <a:lstStyle/>
          <a:p>
            <a:pPr indent="0" marL="0">
              <a:lnSpc>
                <a:spcPct val="90000"/>
              </a:lnSpc>
              <a:buNone/>
            </a:pPr>
            <a:r>
              <a:rPr lang="en-US" sz="4200" b="1" dirty="0">
                <a:solidFill>
                  <a:srgbClr val="FFFFFF"/>
                </a:solidFill>
                <a:latin typeface="Arial" pitchFamily="34" charset="0"/>
                <a:ea typeface="Arial" pitchFamily="34" charset="-122"/>
                <a:cs typeface="Arial" pitchFamily="34" charset="-120"/>
              </a:rPr>
              <a:t>The first eye check</a:t>
            </a:r>
            <a:endParaRPr lang="en-US" sz="4200" dirty="0"/>
          </a:p>
          <a:p>
            <a:pPr indent="0" marL="0">
              <a:lnSpc>
                <a:spcPct val="90000"/>
              </a:lnSpc>
              <a:buNone/>
            </a:pPr>
            <a:r>
              <a:rPr lang="en-US" sz="4200" b="1" dirty="0">
                <a:solidFill>
                  <a:srgbClr val="FFFFFF"/>
                </a:solidFill>
                <a:latin typeface="Arial" pitchFamily="34" charset="0"/>
                <a:ea typeface="Arial" pitchFamily="34" charset="-122"/>
                <a:cs typeface="Arial" pitchFamily="34" charset="-120"/>
              </a:rPr>
              <a:t>should not depend</a:t>
            </a:r>
            <a:endParaRPr lang="en-US" sz="4200" dirty="0"/>
          </a:p>
          <a:p>
            <a:pPr indent="0" marL="0">
              <a:lnSpc>
                <a:spcPct val="90000"/>
              </a:lnSpc>
              <a:buNone/>
            </a:pPr>
            <a:r>
              <a:rPr lang="en-US" sz="4200" b="1" dirty="0">
                <a:solidFill>
                  <a:srgbClr val="FFFFFF"/>
                </a:solidFill>
                <a:latin typeface="Arial" pitchFamily="34" charset="0"/>
                <a:ea typeface="Arial" pitchFamily="34" charset="-122"/>
                <a:cs typeface="Arial" pitchFamily="34" charset="-120"/>
              </a:rPr>
              <a:t>on distance.</a:t>
            </a:r>
            <a:endParaRPr lang="en-US" sz="4200" dirty="0"/>
          </a:p>
        </p:txBody>
      </p:sp>
      <p:sp>
        <p:nvSpPr>
          <p:cNvPr id="6" name="Text 3"/>
          <p:cNvSpPr/>
          <p:nvPr/>
        </p:nvSpPr>
        <p:spPr>
          <a:xfrm>
            <a:off x="685800" y="3520440"/>
            <a:ext cx="4480560" cy="603504"/>
          </a:xfrm>
          <a:prstGeom prst="rect">
            <a:avLst/>
          </a:prstGeom>
          <a:noFill/>
          <a:ln/>
        </p:spPr>
        <p:txBody>
          <a:bodyPr wrap="square" lIns="0" tIns="0" rIns="0" bIns="0" rtlCol="0" anchor="ctr">
            <a:normAutofit/>
          </a:bodyPr>
          <a:lstStyle/>
          <a:p>
            <a:pPr indent="0" marL="0">
              <a:buNone/>
            </a:pPr>
            <a:r>
              <a:rPr lang="en-US" sz="1800" dirty="0">
                <a:solidFill>
                  <a:srgbClr val="ECECEC"/>
                </a:solidFill>
                <a:latin typeface="Arial" pitchFamily="34" charset="0"/>
                <a:ea typeface="Arial" pitchFamily="34" charset="-122"/>
                <a:cs typeface="Arial" pitchFamily="34" charset="-120"/>
              </a:rPr>
              <a:t>Age, access and complexity can turn a simple check into a barrier.</a:t>
            </a:r>
            <a:endParaRPr lang="en-US" sz="1800" dirty="0"/>
          </a:p>
        </p:txBody>
      </p:sp>
      <p:sp>
        <p:nvSpPr>
          <p:cNvPr id="7" name="Shape 4"/>
          <p:cNvSpPr/>
          <p:nvPr/>
        </p:nvSpPr>
        <p:spPr>
          <a:xfrm>
            <a:off x="685800" y="4773168"/>
            <a:ext cx="1005840" cy="0"/>
          </a:xfrm>
          <a:prstGeom prst="line">
            <a:avLst/>
          </a:prstGeom>
          <a:noFill/>
          <a:ln w="50800">
            <a:solidFill>
              <a:srgbClr val="D6A66D"/>
            </a:solidFill>
            <a:prstDash val="solid"/>
          </a:ln>
        </p:spPr>
      </p:sp>
      <p:sp>
        <p:nvSpPr>
          <p:cNvPr id="8" name="Text 5"/>
          <p:cNvSpPr/>
          <p:nvPr/>
        </p:nvSpPr>
        <p:spPr>
          <a:xfrm>
            <a:off x="11082528" y="6364224"/>
            <a:ext cx="438912" cy="182880"/>
          </a:xfrm>
          <a:prstGeom prst="rect">
            <a:avLst/>
          </a:prstGeom>
          <a:noFill/>
          <a:ln/>
        </p:spPr>
        <p:txBody>
          <a:bodyPr wrap="square" lIns="0" tIns="0" rIns="0" bIns="0" rtlCol="0" anchor="ctr">
            <a:normAutofit/>
          </a:bodyPr>
          <a:lstStyle/>
          <a:p>
            <a:pPr algn="r" indent="0" marL="0">
              <a:buNone/>
            </a:pPr>
            <a:r>
              <a:rPr lang="en-US" sz="1000" b="1" dirty="0">
                <a:solidFill>
                  <a:srgbClr val="D8C4AB"/>
                </a:solidFill>
                <a:latin typeface="Arial" pitchFamily="34" charset="0"/>
                <a:ea typeface="Arial" pitchFamily="34" charset="-122"/>
                <a:cs typeface="Arial" pitchFamily="34" charset="-120"/>
              </a:rPr>
              <a:t>02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7F4"/>
        </a:solidFill>
      </p:bgPr>
    </p:bg>
    <p:spTree>
      <p:nvGrpSpPr>
        <p:cNvPr id="1" name=""/>
        <p:cNvGrpSpPr/>
        <p:nvPr/>
      </p:nvGrpSpPr>
      <p:grpSpPr>
        <a:xfrm>
          <a:off x="0" y="0"/>
          <a:ext cx="0" cy="0"/>
          <a:chOff x="0" y="0"/>
          <a:chExt cx="0" cy="0"/>
        </a:xfrm>
      </p:grpSpPr>
      <p:sp>
        <p:nvSpPr>
          <p:cNvPr id="2" name="Text 0"/>
          <p:cNvSpPr/>
          <p:nvPr/>
        </p:nvSpPr>
        <p:spPr>
          <a:xfrm>
            <a:off x="658368" y="347472"/>
            <a:ext cx="3840480" cy="256032"/>
          </a:xfrm>
          <a:prstGeom prst="rect">
            <a:avLst/>
          </a:prstGeom>
          <a:noFill/>
          <a:ln/>
        </p:spPr>
        <p:txBody>
          <a:bodyPr wrap="square" lIns="0" tIns="0" rIns="0" bIns="0" rtlCol="0" anchor="ctr">
            <a:normAutofit/>
          </a:bodyPr>
          <a:lstStyle/>
          <a:p>
            <a:pPr indent="0" marL="0">
              <a:buNone/>
            </a:pPr>
            <a:r>
              <a:rPr lang="en-US" sz="1050" b="1" spc="260" kern="0" dirty="0">
                <a:solidFill>
                  <a:srgbClr val="757575"/>
                </a:solidFill>
                <a:latin typeface="Arial" pitchFamily="34" charset="0"/>
                <a:ea typeface="Arial" pitchFamily="34" charset="-122"/>
                <a:cs typeface="Arial" pitchFamily="34" charset="-120"/>
              </a:rPr>
              <a:t>THE PRODUCT</a:t>
            </a:r>
            <a:endParaRPr lang="en-US" sz="1050" dirty="0"/>
          </a:p>
        </p:txBody>
      </p:sp>
      <p:sp>
        <p:nvSpPr>
          <p:cNvPr id="3" name="Text 1"/>
          <p:cNvSpPr/>
          <p:nvPr/>
        </p:nvSpPr>
        <p:spPr>
          <a:xfrm>
            <a:off x="658368" y="960120"/>
            <a:ext cx="4617720" cy="1261872"/>
          </a:xfrm>
          <a:prstGeom prst="rect">
            <a:avLst/>
          </a:prstGeom>
          <a:noFill/>
          <a:ln/>
        </p:spPr>
        <p:txBody>
          <a:bodyPr wrap="square" lIns="0" tIns="0" rIns="0" bIns="0" rtlCol="0" anchor="ctr">
            <a:normAutofit/>
          </a:bodyPr>
          <a:lstStyle/>
          <a:p>
            <a:pPr indent="0" marL="0">
              <a:lnSpc>
                <a:spcPct val="92000"/>
              </a:lnSpc>
              <a:buNone/>
            </a:pPr>
            <a:r>
              <a:rPr lang="en-US" sz="4200" b="1" dirty="0">
                <a:solidFill>
                  <a:srgbClr val="111111"/>
                </a:solidFill>
                <a:latin typeface="Arial" pitchFamily="34" charset="0"/>
                <a:ea typeface="Arial" pitchFamily="34" charset="-122"/>
                <a:cs typeface="Arial" pitchFamily="34" charset="-120"/>
              </a:rPr>
              <a:t>Press Start.</a:t>
            </a:r>
            <a:endParaRPr lang="en-US" sz="4200" dirty="0"/>
          </a:p>
          <a:p>
            <a:pPr indent="0" marL="0">
              <a:lnSpc>
                <a:spcPct val="92000"/>
              </a:lnSpc>
              <a:buNone/>
            </a:pPr>
            <a:r>
              <a:rPr lang="en-US" sz="4200" b="1" dirty="0">
                <a:solidFill>
                  <a:srgbClr val="111111"/>
                </a:solidFill>
                <a:latin typeface="Arial" pitchFamily="34" charset="0"/>
                <a:ea typeface="Arial" pitchFamily="34" charset="-122"/>
                <a:cs typeface="Arial" pitchFamily="34" charset="-120"/>
              </a:rPr>
              <a:t>SeeNA guides the rest.</a:t>
            </a:r>
            <a:endParaRPr lang="en-US" sz="4200" dirty="0"/>
          </a:p>
        </p:txBody>
      </p:sp>
      <p:sp>
        <p:nvSpPr>
          <p:cNvPr id="4" name="Text 2"/>
          <p:cNvSpPr/>
          <p:nvPr/>
        </p:nvSpPr>
        <p:spPr>
          <a:xfrm>
            <a:off x="685800" y="2487168"/>
            <a:ext cx="4480560" cy="320040"/>
          </a:xfrm>
          <a:prstGeom prst="rect">
            <a:avLst/>
          </a:prstGeom>
          <a:noFill/>
          <a:ln/>
        </p:spPr>
        <p:txBody>
          <a:bodyPr wrap="square" lIns="0" tIns="0" rIns="0" bIns="0" rtlCol="0" anchor="ctr">
            <a:normAutofit/>
          </a:bodyPr>
          <a:lstStyle/>
          <a:p>
            <a:pPr indent="0" marL="0">
              <a:buNone/>
            </a:pPr>
            <a:r>
              <a:rPr lang="en-US" sz="1800" dirty="0">
                <a:solidFill>
                  <a:srgbClr val="757575"/>
                </a:solidFill>
                <a:latin typeface="Arial" pitchFamily="34" charset="0"/>
                <a:ea typeface="Arial" pitchFamily="34" charset="-122"/>
                <a:cs typeface="Arial" pitchFamily="34" charset="-120"/>
              </a:rPr>
              <a:t>No charts. No typing. No technical setup.</a:t>
            </a:r>
            <a:endParaRPr lang="en-US" sz="1800" dirty="0"/>
          </a:p>
        </p:txBody>
      </p:sp>
      <p:sp>
        <p:nvSpPr>
          <p:cNvPr id="5" name="Shape 3"/>
          <p:cNvSpPr/>
          <p:nvPr/>
        </p:nvSpPr>
        <p:spPr>
          <a:xfrm>
            <a:off x="694944" y="3227832"/>
            <a:ext cx="420624" cy="420624"/>
          </a:xfrm>
          <a:prstGeom prst="ellipse">
            <a:avLst/>
          </a:prstGeom>
          <a:solidFill>
            <a:srgbClr val="D6A66D"/>
          </a:solidFill>
          <a:ln w="12700">
            <a:solidFill>
              <a:srgbClr val="D6A66D"/>
            </a:solidFill>
            <a:prstDash val="solid"/>
          </a:ln>
        </p:spPr>
      </p:sp>
      <p:sp>
        <p:nvSpPr>
          <p:cNvPr id="6" name="Text 4"/>
          <p:cNvSpPr/>
          <p:nvPr/>
        </p:nvSpPr>
        <p:spPr>
          <a:xfrm>
            <a:off x="694944" y="3300984"/>
            <a:ext cx="420624" cy="182880"/>
          </a:xfrm>
          <a:prstGeom prst="rect">
            <a:avLst/>
          </a:prstGeom>
          <a:noFill/>
          <a:ln/>
        </p:spPr>
        <p:txBody>
          <a:bodyPr wrap="square" lIns="0" tIns="0" rIns="0" bIns="0" rtlCol="0" anchor="ctr">
            <a:normAutofit/>
          </a:bodyPr>
          <a:lstStyle/>
          <a:p>
            <a:pPr algn="ctr" indent="0" marL="0">
              <a:buNone/>
            </a:pPr>
            <a:r>
              <a:rPr lang="en-US" sz="900" b="1" dirty="0">
                <a:solidFill>
                  <a:srgbClr val="050505"/>
                </a:solidFill>
                <a:latin typeface="Arial" pitchFamily="34" charset="0"/>
                <a:ea typeface="Arial" pitchFamily="34" charset="-122"/>
                <a:cs typeface="Arial" pitchFamily="34" charset="-120"/>
              </a:rPr>
              <a:t>01</a:t>
            </a:r>
            <a:endParaRPr lang="en-US" sz="900" dirty="0"/>
          </a:p>
        </p:txBody>
      </p:sp>
      <p:sp>
        <p:nvSpPr>
          <p:cNvPr id="7" name="Text 5"/>
          <p:cNvSpPr/>
          <p:nvPr/>
        </p:nvSpPr>
        <p:spPr>
          <a:xfrm>
            <a:off x="1353312" y="3264408"/>
            <a:ext cx="2286000" cy="292608"/>
          </a:xfrm>
          <a:prstGeom prst="rect">
            <a:avLst/>
          </a:prstGeom>
          <a:noFill/>
          <a:ln/>
        </p:spPr>
        <p:txBody>
          <a:bodyPr wrap="square" lIns="0" tIns="0" rIns="0" bIns="0" rtlCol="0" anchor="ctr">
            <a:normAutofit/>
          </a:bodyPr>
          <a:lstStyle/>
          <a:p>
            <a:pPr indent="0" marL="0">
              <a:buNone/>
            </a:pPr>
            <a:r>
              <a:rPr lang="en-US" sz="2100" b="1" dirty="0">
                <a:solidFill>
                  <a:srgbClr val="111111"/>
                </a:solidFill>
                <a:latin typeface="Arial" pitchFamily="34" charset="0"/>
                <a:ea typeface="Arial" pitchFamily="34" charset="-122"/>
                <a:cs typeface="Arial" pitchFamily="34" charset="-120"/>
              </a:rPr>
              <a:t>Listen</a:t>
            </a:r>
            <a:endParaRPr lang="en-US" sz="2100" dirty="0"/>
          </a:p>
        </p:txBody>
      </p:sp>
      <p:sp>
        <p:nvSpPr>
          <p:cNvPr id="8" name="Shape 6"/>
          <p:cNvSpPr/>
          <p:nvPr/>
        </p:nvSpPr>
        <p:spPr>
          <a:xfrm>
            <a:off x="905256" y="3685032"/>
            <a:ext cx="0" cy="347472"/>
          </a:xfrm>
          <a:prstGeom prst="line">
            <a:avLst/>
          </a:prstGeom>
          <a:noFill/>
          <a:ln w="25400">
            <a:solidFill>
              <a:srgbClr val="D8D8D5"/>
            </a:solidFill>
            <a:prstDash val="solid"/>
          </a:ln>
        </p:spPr>
      </p:sp>
      <p:sp>
        <p:nvSpPr>
          <p:cNvPr id="9" name="Shape 7"/>
          <p:cNvSpPr/>
          <p:nvPr/>
        </p:nvSpPr>
        <p:spPr>
          <a:xfrm>
            <a:off x="694944" y="4014216"/>
            <a:ext cx="420624" cy="420624"/>
          </a:xfrm>
          <a:prstGeom prst="ellipse">
            <a:avLst/>
          </a:prstGeom>
          <a:solidFill>
            <a:srgbClr val="050505"/>
          </a:solidFill>
          <a:ln w="12700">
            <a:solidFill>
              <a:srgbClr val="050505"/>
            </a:solidFill>
            <a:prstDash val="solid"/>
          </a:ln>
        </p:spPr>
      </p:sp>
      <p:sp>
        <p:nvSpPr>
          <p:cNvPr id="10" name="Text 8"/>
          <p:cNvSpPr/>
          <p:nvPr/>
        </p:nvSpPr>
        <p:spPr>
          <a:xfrm>
            <a:off x="694944" y="4087368"/>
            <a:ext cx="420624" cy="182880"/>
          </a:xfrm>
          <a:prstGeom prst="rect">
            <a:avLst/>
          </a:prstGeom>
          <a:noFill/>
          <a:ln/>
        </p:spPr>
        <p:txBody>
          <a:bodyPr wrap="square" lIns="0" tIns="0" rIns="0" bIns="0" rtlCol="0" anchor="ctr">
            <a:normAutofit/>
          </a:bodyPr>
          <a:lstStyle/>
          <a:p>
            <a:pPr algn="ctr" indent="0" marL="0">
              <a:buNone/>
            </a:pPr>
            <a:r>
              <a:rPr lang="en-US" sz="900" b="1" dirty="0">
                <a:solidFill>
                  <a:srgbClr val="FFFFFF"/>
                </a:solidFill>
                <a:latin typeface="Arial" pitchFamily="34" charset="0"/>
                <a:ea typeface="Arial" pitchFamily="34" charset="-122"/>
                <a:cs typeface="Arial" pitchFamily="34" charset="-120"/>
              </a:rPr>
              <a:t>02</a:t>
            </a:r>
            <a:endParaRPr lang="en-US" sz="900" dirty="0"/>
          </a:p>
        </p:txBody>
      </p:sp>
      <p:sp>
        <p:nvSpPr>
          <p:cNvPr id="11" name="Text 9"/>
          <p:cNvSpPr/>
          <p:nvPr/>
        </p:nvSpPr>
        <p:spPr>
          <a:xfrm>
            <a:off x="1353312" y="4050792"/>
            <a:ext cx="2286000" cy="292608"/>
          </a:xfrm>
          <a:prstGeom prst="rect">
            <a:avLst/>
          </a:prstGeom>
          <a:noFill/>
          <a:ln/>
        </p:spPr>
        <p:txBody>
          <a:bodyPr wrap="square" lIns="0" tIns="0" rIns="0" bIns="0" rtlCol="0" anchor="ctr">
            <a:normAutofit/>
          </a:bodyPr>
          <a:lstStyle/>
          <a:p>
            <a:pPr indent="0" marL="0">
              <a:buNone/>
            </a:pPr>
            <a:r>
              <a:rPr lang="en-US" sz="2100" b="1" dirty="0">
                <a:solidFill>
                  <a:srgbClr val="111111"/>
                </a:solidFill>
                <a:latin typeface="Arial" pitchFamily="34" charset="0"/>
                <a:ea typeface="Arial" pitchFamily="34" charset="-122"/>
                <a:cs typeface="Arial" pitchFamily="34" charset="-120"/>
              </a:rPr>
              <a:t>Look</a:t>
            </a:r>
            <a:endParaRPr lang="en-US" sz="2100" dirty="0"/>
          </a:p>
        </p:txBody>
      </p:sp>
      <p:sp>
        <p:nvSpPr>
          <p:cNvPr id="12" name="Shape 10"/>
          <p:cNvSpPr/>
          <p:nvPr/>
        </p:nvSpPr>
        <p:spPr>
          <a:xfrm>
            <a:off x="905256" y="4471416"/>
            <a:ext cx="0" cy="347472"/>
          </a:xfrm>
          <a:prstGeom prst="line">
            <a:avLst/>
          </a:prstGeom>
          <a:noFill/>
          <a:ln w="25400">
            <a:solidFill>
              <a:srgbClr val="D8D8D5"/>
            </a:solidFill>
            <a:prstDash val="solid"/>
          </a:ln>
        </p:spPr>
      </p:sp>
      <p:sp>
        <p:nvSpPr>
          <p:cNvPr id="13" name="Shape 11"/>
          <p:cNvSpPr/>
          <p:nvPr/>
        </p:nvSpPr>
        <p:spPr>
          <a:xfrm>
            <a:off x="694944" y="4800600"/>
            <a:ext cx="420624" cy="420624"/>
          </a:xfrm>
          <a:prstGeom prst="ellipse">
            <a:avLst/>
          </a:prstGeom>
          <a:solidFill>
            <a:srgbClr val="050505"/>
          </a:solidFill>
          <a:ln w="12700">
            <a:solidFill>
              <a:srgbClr val="050505"/>
            </a:solidFill>
            <a:prstDash val="solid"/>
          </a:ln>
        </p:spPr>
      </p:sp>
      <p:sp>
        <p:nvSpPr>
          <p:cNvPr id="14" name="Text 12"/>
          <p:cNvSpPr/>
          <p:nvPr/>
        </p:nvSpPr>
        <p:spPr>
          <a:xfrm>
            <a:off x="694944" y="4873752"/>
            <a:ext cx="420624" cy="182880"/>
          </a:xfrm>
          <a:prstGeom prst="rect">
            <a:avLst/>
          </a:prstGeom>
          <a:noFill/>
          <a:ln/>
        </p:spPr>
        <p:txBody>
          <a:bodyPr wrap="square" lIns="0" tIns="0" rIns="0" bIns="0" rtlCol="0" anchor="ctr">
            <a:normAutofit/>
          </a:bodyPr>
          <a:lstStyle/>
          <a:p>
            <a:pPr algn="ctr" indent="0" marL="0">
              <a:buNone/>
            </a:pPr>
            <a:r>
              <a:rPr lang="en-US" sz="900" b="1" dirty="0">
                <a:solidFill>
                  <a:srgbClr val="FFFFFF"/>
                </a:solidFill>
                <a:latin typeface="Arial" pitchFamily="34" charset="0"/>
                <a:ea typeface="Arial" pitchFamily="34" charset="-122"/>
                <a:cs typeface="Arial" pitchFamily="34" charset="-120"/>
              </a:rPr>
              <a:t>03</a:t>
            </a:r>
            <a:endParaRPr lang="en-US" sz="900" dirty="0"/>
          </a:p>
        </p:txBody>
      </p:sp>
      <p:sp>
        <p:nvSpPr>
          <p:cNvPr id="15" name="Text 13"/>
          <p:cNvSpPr/>
          <p:nvPr/>
        </p:nvSpPr>
        <p:spPr>
          <a:xfrm>
            <a:off x="1353312" y="4837176"/>
            <a:ext cx="2286000" cy="292608"/>
          </a:xfrm>
          <a:prstGeom prst="rect">
            <a:avLst/>
          </a:prstGeom>
          <a:noFill/>
          <a:ln/>
        </p:spPr>
        <p:txBody>
          <a:bodyPr wrap="square" lIns="0" tIns="0" rIns="0" bIns="0" rtlCol="0" anchor="ctr">
            <a:normAutofit/>
          </a:bodyPr>
          <a:lstStyle/>
          <a:p>
            <a:pPr indent="0" marL="0">
              <a:buNone/>
            </a:pPr>
            <a:r>
              <a:rPr lang="en-US" sz="2100" b="1" dirty="0">
                <a:solidFill>
                  <a:srgbClr val="111111"/>
                </a:solidFill>
                <a:latin typeface="Arial" pitchFamily="34" charset="0"/>
                <a:ea typeface="Arial" pitchFamily="34" charset="-122"/>
                <a:cs typeface="Arial" pitchFamily="34" charset="-120"/>
              </a:rPr>
              <a:t>Answer</a:t>
            </a:r>
            <a:endParaRPr lang="en-US" sz="2100" dirty="0"/>
          </a:p>
        </p:txBody>
      </p:sp>
      <p:sp>
        <p:nvSpPr>
          <p:cNvPr id="16" name="Shape 14"/>
          <p:cNvSpPr/>
          <p:nvPr/>
        </p:nvSpPr>
        <p:spPr>
          <a:xfrm>
            <a:off x="5596128" y="484632"/>
            <a:ext cx="5897880" cy="5806440"/>
          </a:xfrm>
          <a:prstGeom prst="roundRect">
            <a:avLst>
              <a:gd name="adj" fmla="val 1890"/>
            </a:avLst>
          </a:prstGeom>
          <a:solidFill>
            <a:srgbClr val="FFFFFF"/>
          </a:solidFill>
          <a:ln w="12700">
            <a:solidFill>
              <a:srgbClr val="D8D8D5"/>
            </a:solidFill>
            <a:prstDash val="solid"/>
          </a:ln>
        </p:spPr>
      </p:sp>
      <p:sp>
        <p:nvSpPr>
          <p:cNvPr id="17" name="Shape 15"/>
          <p:cNvSpPr/>
          <p:nvPr/>
        </p:nvSpPr>
        <p:spPr>
          <a:xfrm>
            <a:off x="7370064" y="640080"/>
            <a:ext cx="2359152" cy="4965192"/>
          </a:xfrm>
          <a:prstGeom prst="roundRect">
            <a:avLst>
              <a:gd name="adj" fmla="val 3876"/>
            </a:avLst>
          </a:prstGeom>
          <a:solidFill>
            <a:srgbClr val="050505"/>
          </a:solidFill>
          <a:ln w="12700">
            <a:solidFill>
              <a:srgbClr val="111111"/>
            </a:solidFill>
            <a:prstDash val="solid"/>
          </a:ln>
          <a:effectLst>
            <a:outerShdw sx="100000" sy="100000" kx="0" ky="0" algn="bl" rotWithShape="0" blurRad="127000" dist="38100" dir="2700000">
              <a:srgbClr val="000000">
                <a:alpha val="16000"/>
              </a:srgbClr>
            </a:outerShdw>
          </a:effectLst>
        </p:spPr>
      </p:sp>
      <p:pic>
        <p:nvPicPr>
          <p:cNvPr id="18" name="Image 0" descr="SeeNA start screen">    </p:cNvPr>
          <p:cNvPicPr>
            <a:picLocks noChangeAspect="1"/>
          </p:cNvPicPr>
          <p:nvPr/>
        </p:nvPicPr>
        <p:blipFill>
          <a:blip r:embed="rId1"/>
          <a:srcRect l="0" r="0" t="0" b="0"/>
          <a:stretch/>
        </p:blipFill>
        <p:spPr>
          <a:xfrm>
            <a:off x="7443216" y="713232"/>
            <a:ext cx="2212848" cy="4818888"/>
          </a:xfrm>
          <a:prstGeom prst="rect">
            <a:avLst/>
          </a:prstGeom>
        </p:spPr>
      </p:pic>
      <p:sp>
        <p:nvSpPr>
          <p:cNvPr id="19" name="Shape 16"/>
          <p:cNvSpPr/>
          <p:nvPr/>
        </p:nvSpPr>
        <p:spPr>
          <a:xfrm>
            <a:off x="6931152" y="5724144"/>
            <a:ext cx="3246120" cy="384048"/>
          </a:xfrm>
          <a:prstGeom prst="roundRect">
            <a:avLst>
              <a:gd name="adj" fmla="val 19048"/>
            </a:avLst>
          </a:prstGeom>
          <a:solidFill>
            <a:srgbClr val="050505"/>
          </a:solidFill>
          <a:ln w="10160">
            <a:solidFill>
              <a:srgbClr val="050505"/>
            </a:solidFill>
            <a:prstDash val="solid"/>
          </a:ln>
        </p:spPr>
      </p:sp>
      <p:sp>
        <p:nvSpPr>
          <p:cNvPr id="20" name="Text 17"/>
          <p:cNvSpPr/>
          <p:nvPr/>
        </p:nvSpPr>
        <p:spPr>
          <a:xfrm>
            <a:off x="6931152" y="5742432"/>
            <a:ext cx="3246120" cy="301752"/>
          </a:xfrm>
          <a:prstGeom prst="rect">
            <a:avLst/>
          </a:prstGeom>
          <a:noFill/>
          <a:ln/>
        </p:spPr>
        <p:txBody>
          <a:bodyPr wrap="square" lIns="0" tIns="0" rIns="0" bIns="0" rtlCol="0" anchor="ctr">
            <a:normAutofit/>
          </a:bodyPr>
          <a:lstStyle/>
          <a:p>
            <a:pPr algn="ctr" indent="0" marL="0">
              <a:buNone/>
            </a:pPr>
            <a:r>
              <a:rPr lang="en-US" sz="1250" b="1" spc="20" kern="0" dirty="0">
                <a:solidFill>
                  <a:srgbClr val="FFFFFF"/>
                </a:solidFill>
                <a:latin typeface="Arial" pitchFamily="34" charset="0"/>
                <a:ea typeface="Arial" pitchFamily="34" charset="-122"/>
                <a:cs typeface="Arial" pitchFamily="34" charset="-120"/>
              </a:rPr>
              <a:t>VOICE STARTS AFTER TAP</a:t>
            </a:r>
            <a:endParaRPr lang="en-US" sz="1250" dirty="0"/>
          </a:p>
        </p:txBody>
      </p:sp>
      <p:sp>
        <p:nvSpPr>
          <p:cNvPr id="21" name="Text 18"/>
          <p:cNvSpPr/>
          <p:nvPr/>
        </p:nvSpPr>
        <p:spPr>
          <a:xfrm>
            <a:off x="11082528" y="6364224"/>
            <a:ext cx="438912" cy="182880"/>
          </a:xfrm>
          <a:prstGeom prst="rect">
            <a:avLst/>
          </a:prstGeom>
          <a:noFill/>
          <a:ln/>
        </p:spPr>
        <p:txBody>
          <a:bodyPr wrap="square" lIns="0" tIns="0" rIns="0" bIns="0" rtlCol="0" anchor="ctr">
            <a:normAutofit/>
          </a:bodyPr>
          <a:lstStyle/>
          <a:p>
            <a:pPr algn="r" indent="0" marL="0">
              <a:buNone/>
            </a:pPr>
            <a:r>
              <a:rPr lang="en-US" sz="1000" b="1" dirty="0">
                <a:solidFill>
                  <a:srgbClr val="757575"/>
                </a:solidFill>
                <a:latin typeface="Arial" pitchFamily="34" charset="0"/>
                <a:ea typeface="Arial" pitchFamily="34" charset="-122"/>
                <a:cs typeface="Arial" pitchFamily="34" charset="-120"/>
              </a:rPr>
              <a:t>03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50505"/>
        </a:solidFill>
      </p:bgPr>
    </p:bg>
    <p:spTree>
      <p:nvGrpSpPr>
        <p:cNvPr id="1" name=""/>
        <p:cNvGrpSpPr/>
        <p:nvPr/>
      </p:nvGrpSpPr>
      <p:grpSpPr>
        <a:xfrm>
          <a:off x="0" y="0"/>
          <a:ext cx="0" cy="0"/>
          <a:chOff x="0" y="0"/>
          <a:chExt cx="0" cy="0"/>
        </a:xfrm>
      </p:grpSpPr>
      <p:sp>
        <p:nvSpPr>
          <p:cNvPr id="2" name="Text 0"/>
          <p:cNvSpPr/>
          <p:nvPr/>
        </p:nvSpPr>
        <p:spPr>
          <a:xfrm>
            <a:off x="658368" y="347472"/>
            <a:ext cx="3840480" cy="256032"/>
          </a:xfrm>
          <a:prstGeom prst="rect">
            <a:avLst/>
          </a:prstGeom>
          <a:noFill/>
          <a:ln/>
        </p:spPr>
        <p:txBody>
          <a:bodyPr wrap="square" lIns="0" tIns="0" rIns="0" bIns="0" rtlCol="0" anchor="ctr">
            <a:normAutofit/>
          </a:bodyPr>
          <a:lstStyle/>
          <a:p>
            <a:pPr indent="0" marL="0">
              <a:buNone/>
            </a:pPr>
            <a:r>
              <a:rPr lang="en-US" sz="1050" b="1" spc="260" kern="0" dirty="0">
                <a:solidFill>
                  <a:srgbClr val="BDBDBD"/>
                </a:solidFill>
                <a:latin typeface="Arial" pitchFamily="34" charset="0"/>
                <a:ea typeface="Arial" pitchFamily="34" charset="-122"/>
                <a:cs typeface="Arial" pitchFamily="34" charset="-120"/>
              </a:rPr>
              <a:t>SEENA IN ACTION</a:t>
            </a:r>
            <a:endParaRPr lang="en-US" sz="1050" dirty="0"/>
          </a:p>
        </p:txBody>
      </p:sp>
      <p:sp>
        <p:nvSpPr>
          <p:cNvPr id="3" name="Text 1"/>
          <p:cNvSpPr/>
          <p:nvPr/>
        </p:nvSpPr>
        <p:spPr>
          <a:xfrm>
            <a:off x="658368" y="1097280"/>
            <a:ext cx="3383280" cy="1371600"/>
          </a:xfrm>
          <a:prstGeom prst="rect">
            <a:avLst/>
          </a:prstGeom>
          <a:noFill/>
          <a:ln/>
        </p:spPr>
        <p:txBody>
          <a:bodyPr wrap="square" lIns="0" tIns="0" rIns="0" bIns="0" rtlCol="0" anchor="ctr">
            <a:normAutofit/>
          </a:bodyPr>
          <a:lstStyle/>
          <a:p>
            <a:pPr indent="0" marL="0">
              <a:lnSpc>
                <a:spcPct val="92000"/>
              </a:lnSpc>
              <a:buNone/>
            </a:pPr>
            <a:r>
              <a:rPr lang="en-US" sz="3900" b="1" dirty="0">
                <a:solidFill>
                  <a:srgbClr val="FFFFFF"/>
                </a:solidFill>
                <a:latin typeface="Arial" pitchFamily="34" charset="0"/>
                <a:ea typeface="Arial" pitchFamily="34" charset="-122"/>
                <a:cs typeface="Arial" pitchFamily="34" charset="-120"/>
              </a:rPr>
              <a:t>60 seconds.</a:t>
            </a:r>
            <a:endParaRPr lang="en-US" sz="3900" dirty="0"/>
          </a:p>
          <a:p>
            <a:pPr indent="0" marL="0">
              <a:lnSpc>
                <a:spcPct val="92000"/>
              </a:lnSpc>
              <a:buNone/>
            </a:pPr>
            <a:r>
              <a:rPr lang="en-US" sz="3900" b="1" dirty="0">
                <a:solidFill>
                  <a:srgbClr val="FFFFFF"/>
                </a:solidFill>
                <a:latin typeface="Arial" pitchFamily="34" charset="0"/>
                <a:ea typeface="Arial" pitchFamily="34" charset="-122"/>
                <a:cs typeface="Arial" pitchFamily="34" charset="-120"/>
              </a:rPr>
              <a:t>One complete journey.</a:t>
            </a:r>
            <a:endParaRPr lang="en-US" sz="3900" dirty="0"/>
          </a:p>
        </p:txBody>
      </p:sp>
      <p:sp>
        <p:nvSpPr>
          <p:cNvPr id="4" name="Text 2"/>
          <p:cNvSpPr/>
          <p:nvPr/>
        </p:nvSpPr>
        <p:spPr>
          <a:xfrm>
            <a:off x="676656" y="2743200"/>
            <a:ext cx="2926080" cy="292608"/>
          </a:xfrm>
          <a:prstGeom prst="rect">
            <a:avLst/>
          </a:prstGeom>
          <a:noFill/>
          <a:ln/>
        </p:spPr>
        <p:txBody>
          <a:bodyPr wrap="square" lIns="0" tIns="0" rIns="0" bIns="0" rtlCol="0" anchor="ctr">
            <a:normAutofit/>
          </a:bodyPr>
          <a:lstStyle/>
          <a:p>
            <a:pPr indent="0" marL="0">
              <a:buNone/>
            </a:pPr>
            <a:r>
              <a:rPr lang="en-US" sz="1600" dirty="0">
                <a:solidFill>
                  <a:srgbClr val="BDBDBD"/>
                </a:solidFill>
                <a:latin typeface="Arial" pitchFamily="34" charset="0"/>
                <a:ea typeface="Arial" pitchFamily="34" charset="-122"/>
                <a:cs typeface="Arial" pitchFamily="34" charset="-120"/>
              </a:rPr>
              <a:t>Play the one-minute walkthrough.</a:t>
            </a:r>
            <a:endParaRPr lang="en-US" sz="1600" dirty="0"/>
          </a:p>
        </p:txBody>
      </p:sp>
      <p:sp>
        <p:nvSpPr>
          <p:cNvPr id="5" name="Shape 3"/>
          <p:cNvSpPr/>
          <p:nvPr/>
        </p:nvSpPr>
        <p:spPr>
          <a:xfrm>
            <a:off x="694944" y="3721608"/>
            <a:ext cx="201168" cy="201168"/>
          </a:xfrm>
          <a:prstGeom prst="rect">
            <a:avLst/>
          </a:prstGeom>
          <a:solidFill>
            <a:srgbClr val="D6A66D"/>
          </a:solidFill>
          <a:ln w="12700">
            <a:solidFill>
              <a:srgbClr val="D6A66D"/>
            </a:solidFill>
            <a:prstDash val="solid"/>
          </a:ln>
        </p:spPr>
      </p:sp>
      <p:sp>
        <p:nvSpPr>
          <p:cNvPr id="6" name="Text 4"/>
          <p:cNvSpPr/>
          <p:nvPr/>
        </p:nvSpPr>
        <p:spPr>
          <a:xfrm>
            <a:off x="1115568" y="3657600"/>
            <a:ext cx="2011680" cy="265176"/>
          </a:xfrm>
          <a:prstGeom prst="rect">
            <a:avLst/>
          </a:prstGeom>
          <a:noFill/>
          <a:ln/>
        </p:spPr>
        <p:txBody>
          <a:bodyPr wrap="square" lIns="0" tIns="0" rIns="0" bIns="0" rtlCol="0" anchor="ctr">
            <a:normAutofit/>
          </a:bodyPr>
          <a:lstStyle/>
          <a:p>
            <a:pPr indent="0" marL="0">
              <a:buNone/>
            </a:pPr>
            <a:r>
              <a:rPr lang="en-US" sz="1500" b="1" dirty="0">
                <a:solidFill>
                  <a:srgbClr val="FFFFFF"/>
                </a:solidFill>
                <a:latin typeface="Arial" pitchFamily="34" charset="0"/>
                <a:ea typeface="Arial" pitchFamily="34" charset="-122"/>
                <a:cs typeface="Arial" pitchFamily="34" charset="-120"/>
              </a:rPr>
              <a:t>Position</a:t>
            </a:r>
            <a:endParaRPr lang="en-US" sz="1500" dirty="0"/>
          </a:p>
        </p:txBody>
      </p:sp>
      <p:sp>
        <p:nvSpPr>
          <p:cNvPr id="7" name="Shape 5"/>
          <p:cNvSpPr/>
          <p:nvPr/>
        </p:nvSpPr>
        <p:spPr>
          <a:xfrm>
            <a:off x="694944" y="4224528"/>
            <a:ext cx="201168" cy="201168"/>
          </a:xfrm>
          <a:prstGeom prst="rect">
            <a:avLst/>
          </a:prstGeom>
          <a:solidFill>
            <a:srgbClr val="FFFFFF"/>
          </a:solidFill>
          <a:ln w="12700">
            <a:solidFill>
              <a:srgbClr val="FFFFFF"/>
            </a:solidFill>
            <a:prstDash val="solid"/>
          </a:ln>
        </p:spPr>
      </p:sp>
      <p:sp>
        <p:nvSpPr>
          <p:cNvPr id="8" name="Text 6"/>
          <p:cNvSpPr/>
          <p:nvPr/>
        </p:nvSpPr>
        <p:spPr>
          <a:xfrm>
            <a:off x="1115568" y="4160520"/>
            <a:ext cx="2011680" cy="265176"/>
          </a:xfrm>
          <a:prstGeom prst="rect">
            <a:avLst/>
          </a:prstGeom>
          <a:noFill/>
          <a:ln/>
        </p:spPr>
        <p:txBody>
          <a:bodyPr wrap="square" lIns="0" tIns="0" rIns="0" bIns="0" rtlCol="0" anchor="ctr">
            <a:normAutofit/>
          </a:bodyPr>
          <a:lstStyle/>
          <a:p>
            <a:pPr indent="0" marL="0">
              <a:buNone/>
            </a:pPr>
            <a:r>
              <a:rPr lang="en-US" sz="1500" b="1" dirty="0">
                <a:solidFill>
                  <a:srgbClr val="FFFFFF"/>
                </a:solidFill>
                <a:latin typeface="Arial" pitchFamily="34" charset="0"/>
                <a:ea typeface="Arial" pitchFamily="34" charset="-122"/>
                <a:cs typeface="Arial" pitchFamily="34" charset="-120"/>
              </a:rPr>
              <a:t>Screen</a:t>
            </a:r>
            <a:endParaRPr lang="en-US" sz="1500" dirty="0"/>
          </a:p>
        </p:txBody>
      </p:sp>
      <p:sp>
        <p:nvSpPr>
          <p:cNvPr id="9" name="Shape 7"/>
          <p:cNvSpPr/>
          <p:nvPr/>
        </p:nvSpPr>
        <p:spPr>
          <a:xfrm>
            <a:off x="694944" y="4727448"/>
            <a:ext cx="201168" cy="201168"/>
          </a:xfrm>
          <a:prstGeom prst="rect">
            <a:avLst/>
          </a:prstGeom>
          <a:solidFill>
            <a:srgbClr val="FFFFFF"/>
          </a:solidFill>
          <a:ln w="12700">
            <a:solidFill>
              <a:srgbClr val="FFFFFF"/>
            </a:solidFill>
            <a:prstDash val="solid"/>
          </a:ln>
        </p:spPr>
      </p:sp>
      <p:sp>
        <p:nvSpPr>
          <p:cNvPr id="10" name="Text 8"/>
          <p:cNvSpPr/>
          <p:nvPr/>
        </p:nvSpPr>
        <p:spPr>
          <a:xfrm>
            <a:off x="1115568" y="4663440"/>
            <a:ext cx="2011680" cy="265176"/>
          </a:xfrm>
          <a:prstGeom prst="rect">
            <a:avLst/>
          </a:prstGeom>
          <a:noFill/>
          <a:ln/>
        </p:spPr>
        <p:txBody>
          <a:bodyPr wrap="square" lIns="0" tIns="0" rIns="0" bIns="0" rtlCol="0" anchor="ctr">
            <a:normAutofit/>
          </a:bodyPr>
          <a:lstStyle/>
          <a:p>
            <a:pPr indent="0" marL="0">
              <a:buNone/>
            </a:pPr>
            <a:r>
              <a:rPr lang="en-US" sz="1500" b="1" dirty="0">
                <a:solidFill>
                  <a:srgbClr val="FFFFFF"/>
                </a:solidFill>
                <a:latin typeface="Arial" pitchFamily="34" charset="0"/>
                <a:ea typeface="Arial" pitchFamily="34" charset="-122"/>
                <a:cs typeface="Arial" pitchFamily="34" charset="-120"/>
              </a:rPr>
              <a:t>Understand</a:t>
            </a:r>
            <a:endParaRPr lang="en-US" sz="1500" dirty="0"/>
          </a:p>
        </p:txBody>
      </p:sp>
      <p:sp>
        <p:nvSpPr>
          <p:cNvPr id="11" name="Shape 9"/>
          <p:cNvSpPr/>
          <p:nvPr/>
        </p:nvSpPr>
        <p:spPr>
          <a:xfrm>
            <a:off x="694944" y="5230368"/>
            <a:ext cx="201168" cy="201168"/>
          </a:xfrm>
          <a:prstGeom prst="rect">
            <a:avLst/>
          </a:prstGeom>
          <a:solidFill>
            <a:srgbClr val="FFFFFF"/>
          </a:solidFill>
          <a:ln w="12700">
            <a:solidFill>
              <a:srgbClr val="FFFFFF"/>
            </a:solidFill>
            <a:prstDash val="solid"/>
          </a:ln>
        </p:spPr>
      </p:sp>
      <p:sp>
        <p:nvSpPr>
          <p:cNvPr id="12" name="Text 10"/>
          <p:cNvSpPr/>
          <p:nvPr/>
        </p:nvSpPr>
        <p:spPr>
          <a:xfrm>
            <a:off x="1115568" y="5166360"/>
            <a:ext cx="2011680" cy="265176"/>
          </a:xfrm>
          <a:prstGeom prst="rect">
            <a:avLst/>
          </a:prstGeom>
          <a:noFill/>
          <a:ln/>
        </p:spPr>
        <p:txBody>
          <a:bodyPr wrap="square" lIns="0" tIns="0" rIns="0" bIns="0" rtlCol="0" anchor="ctr">
            <a:normAutofit/>
          </a:bodyPr>
          <a:lstStyle/>
          <a:p>
            <a:pPr indent="0" marL="0">
              <a:buNone/>
            </a:pPr>
            <a:r>
              <a:rPr lang="en-US" sz="1500" b="1" dirty="0">
                <a:solidFill>
                  <a:srgbClr val="FFFFFF"/>
                </a:solidFill>
                <a:latin typeface="Arial" pitchFamily="34" charset="0"/>
                <a:ea typeface="Arial" pitchFamily="34" charset="-122"/>
                <a:cs typeface="Arial" pitchFamily="34" charset="-120"/>
              </a:rPr>
              <a:t>Review</a:t>
            </a:r>
            <a:endParaRPr lang="en-US" sz="1500" dirty="0"/>
          </a:p>
        </p:txBody>
      </p:sp>
      <p:sp>
        <p:nvSpPr>
          <p:cNvPr id="13" name="Shape 11"/>
          <p:cNvSpPr/>
          <p:nvPr/>
        </p:nvSpPr>
        <p:spPr>
          <a:xfrm>
            <a:off x="4590288" y="438912"/>
            <a:ext cx="3035808" cy="6089904"/>
          </a:xfrm>
          <a:prstGeom prst="roundRect">
            <a:avLst>
              <a:gd name="adj" fmla="val 3313"/>
            </a:avLst>
          </a:prstGeom>
          <a:solidFill>
            <a:srgbClr val="1B1B1B"/>
          </a:solidFill>
          <a:ln w="15240">
            <a:solidFill>
              <a:srgbClr val="333333"/>
            </a:solidFill>
            <a:prstDash val="solid"/>
          </a:ln>
          <a:effectLst>
            <a:outerShdw sx="100000" sy="100000" kx="0" ky="0" algn="bl" rotWithShape="0" blurRad="190500" dist="38100" dir="2700000">
              <a:srgbClr val="000000">
                <a:alpha val="42000"/>
              </a:srgbClr>
            </a:outerShdw>
          </a:effectLst>
        </p:spPr>
      </p:sp>
      <p:pic>
        <p:nvPicPr>
          <p:cNvPr id="3" name="SeeNA 60-second product demo">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4690872" y="539496"/>
            <a:ext cx="2834640" cy="5888736"/>
          </a:xfrm>
          <a:prstGeom prst="rect">
            <a:avLst/>
          </a:prstGeom>
        </p:spPr>
      </p:pic>
      <p:pic>
        <p:nvPicPr>
          <p:cNvPr id="15" name="Image 0" descr="SeeNA play poster mark">    </p:cNvPr>
          <p:cNvPicPr>
            <a:picLocks noChangeAspect="1"/>
          </p:cNvPicPr>
          <p:nvPr/>
        </p:nvPicPr>
        <p:blipFill>
          <a:blip r:embed="rId4"/>
          <a:srcRect l="0" r="0" t="0" b="0"/>
          <a:stretch/>
        </p:blipFill>
        <p:spPr>
          <a:xfrm>
            <a:off x="5358384" y="2103120"/>
            <a:ext cx="1508760" cy="1508760"/>
          </a:xfrm>
          <a:prstGeom prst="rect">
            <a:avLst/>
          </a:prstGeom>
        </p:spPr>
      </p:pic>
      <p:sp>
        <p:nvSpPr>
          <p:cNvPr id="16" name="Shape 12"/>
          <p:cNvSpPr/>
          <p:nvPr/>
        </p:nvSpPr>
        <p:spPr>
          <a:xfrm>
            <a:off x="5202936" y="3968496"/>
            <a:ext cx="1828800" cy="384048"/>
          </a:xfrm>
          <a:prstGeom prst="roundRect">
            <a:avLst>
              <a:gd name="adj" fmla="val 19048"/>
            </a:avLst>
          </a:prstGeom>
          <a:solidFill>
            <a:srgbClr val="FFFFFF"/>
          </a:solidFill>
          <a:ln w="10160">
            <a:solidFill>
              <a:srgbClr val="FFFFFF"/>
            </a:solidFill>
            <a:prstDash val="solid"/>
          </a:ln>
        </p:spPr>
      </p:sp>
      <p:sp>
        <p:nvSpPr>
          <p:cNvPr id="17" name="Text 13"/>
          <p:cNvSpPr/>
          <p:nvPr/>
        </p:nvSpPr>
        <p:spPr>
          <a:xfrm>
            <a:off x="5202936" y="3986784"/>
            <a:ext cx="1828800" cy="301752"/>
          </a:xfrm>
          <a:prstGeom prst="rect">
            <a:avLst/>
          </a:prstGeom>
          <a:noFill/>
          <a:ln/>
        </p:spPr>
        <p:txBody>
          <a:bodyPr wrap="square" lIns="0" tIns="0" rIns="0" bIns="0" rtlCol="0" anchor="ctr">
            <a:normAutofit/>
          </a:bodyPr>
          <a:lstStyle/>
          <a:p>
            <a:pPr algn="ctr" indent="0" marL="0">
              <a:buNone/>
            </a:pPr>
            <a:r>
              <a:rPr lang="en-US" sz="1250" b="1" spc="20" kern="0" dirty="0">
                <a:solidFill>
                  <a:srgbClr val="050505"/>
                </a:solidFill>
                <a:latin typeface="Arial" pitchFamily="34" charset="0"/>
                <a:ea typeface="Arial" pitchFamily="34" charset="-122"/>
                <a:cs typeface="Arial" pitchFamily="34" charset="-120"/>
              </a:rPr>
              <a:t>PLAY 1:00</a:t>
            </a:r>
            <a:endParaRPr lang="en-US" sz="1250" dirty="0"/>
          </a:p>
        </p:txBody>
      </p:sp>
      <p:sp>
        <p:nvSpPr>
          <p:cNvPr id="18" name="Shape 14"/>
          <p:cNvSpPr/>
          <p:nvPr/>
        </p:nvSpPr>
        <p:spPr>
          <a:xfrm>
            <a:off x="8485632" y="1234440"/>
            <a:ext cx="2816352" cy="4343400"/>
          </a:xfrm>
          <a:prstGeom prst="roundRect">
            <a:avLst>
              <a:gd name="adj" fmla="val 2597"/>
            </a:avLst>
          </a:prstGeom>
          <a:solidFill>
            <a:srgbClr val="111111"/>
          </a:solidFill>
          <a:ln w="12700">
            <a:solidFill>
              <a:srgbClr val="333333"/>
            </a:solidFill>
            <a:prstDash val="solid"/>
          </a:ln>
        </p:spPr>
      </p:sp>
      <p:sp>
        <p:nvSpPr>
          <p:cNvPr id="19" name="Text 15"/>
          <p:cNvSpPr/>
          <p:nvPr/>
        </p:nvSpPr>
        <p:spPr>
          <a:xfrm>
            <a:off x="8833104" y="1627632"/>
            <a:ext cx="2103120" cy="237744"/>
          </a:xfrm>
          <a:prstGeom prst="rect">
            <a:avLst/>
          </a:prstGeom>
          <a:noFill/>
          <a:ln/>
        </p:spPr>
        <p:txBody>
          <a:bodyPr wrap="square" lIns="0" tIns="0" rIns="0" bIns="0" rtlCol="0" anchor="ctr">
            <a:normAutofit/>
          </a:bodyPr>
          <a:lstStyle/>
          <a:p>
            <a:pPr indent="0" marL="0">
              <a:buNone/>
            </a:pPr>
            <a:r>
              <a:rPr lang="en-US" sz="1100" b="1" spc="210" kern="0" dirty="0">
                <a:solidFill>
                  <a:srgbClr val="D6A66D"/>
                </a:solidFill>
                <a:latin typeface="Arial" pitchFamily="34" charset="0"/>
                <a:ea typeface="Arial" pitchFamily="34" charset="-122"/>
                <a:cs typeface="Arial" pitchFamily="34" charset="-120"/>
              </a:rPr>
              <a:t>ONE TARGET</a:t>
            </a:r>
            <a:endParaRPr lang="en-US" sz="1100" dirty="0"/>
          </a:p>
        </p:txBody>
      </p:sp>
      <p:sp>
        <p:nvSpPr>
          <p:cNvPr id="20" name="Text 16"/>
          <p:cNvSpPr/>
          <p:nvPr/>
        </p:nvSpPr>
        <p:spPr>
          <a:xfrm>
            <a:off x="8833104" y="1956816"/>
            <a:ext cx="2011680" cy="365760"/>
          </a:xfrm>
          <a:prstGeom prst="rect">
            <a:avLst/>
          </a:prstGeom>
          <a:noFill/>
          <a:ln/>
        </p:spPr>
        <p:txBody>
          <a:bodyPr wrap="square" lIns="0" tIns="0" rIns="0" bIns="0" rtlCol="0" anchor="ctr">
            <a:normAutofit/>
          </a:bodyPr>
          <a:lstStyle/>
          <a:p>
            <a:pPr indent="0" marL="0">
              <a:buNone/>
            </a:pPr>
            <a:r>
              <a:rPr lang="en-US" sz="2400" b="1" dirty="0">
                <a:solidFill>
                  <a:srgbClr val="FFFFFF"/>
                </a:solidFill>
                <a:latin typeface="Arial" pitchFamily="34" charset="0"/>
                <a:ea typeface="Arial" pitchFamily="34" charset="-122"/>
                <a:cs typeface="Arial" pitchFamily="34" charset="-120"/>
              </a:rPr>
              <a:t>One answer.</a:t>
            </a:r>
            <a:endParaRPr lang="en-US" sz="2400" dirty="0"/>
          </a:p>
        </p:txBody>
      </p:sp>
      <p:sp>
        <p:nvSpPr>
          <p:cNvPr id="21" name="Shape 17"/>
          <p:cNvSpPr/>
          <p:nvPr/>
        </p:nvSpPr>
        <p:spPr>
          <a:xfrm>
            <a:off x="8833104" y="2578608"/>
            <a:ext cx="1828800" cy="0"/>
          </a:xfrm>
          <a:prstGeom prst="line">
            <a:avLst/>
          </a:prstGeom>
          <a:noFill/>
          <a:ln w="12700">
            <a:solidFill>
              <a:srgbClr val="3A3A3A"/>
            </a:solidFill>
            <a:prstDash val="solid"/>
          </a:ln>
        </p:spPr>
      </p:sp>
      <p:sp>
        <p:nvSpPr>
          <p:cNvPr id="22" name="Text 18"/>
          <p:cNvSpPr/>
          <p:nvPr/>
        </p:nvSpPr>
        <p:spPr>
          <a:xfrm>
            <a:off x="8833104" y="2907792"/>
            <a:ext cx="2103120" cy="237744"/>
          </a:xfrm>
          <a:prstGeom prst="rect">
            <a:avLst/>
          </a:prstGeom>
          <a:noFill/>
          <a:ln/>
        </p:spPr>
        <p:txBody>
          <a:bodyPr wrap="square" lIns="0" tIns="0" rIns="0" bIns="0" rtlCol="0" anchor="ctr">
            <a:normAutofit/>
          </a:bodyPr>
          <a:lstStyle/>
          <a:p>
            <a:pPr indent="0" marL="0">
              <a:buNone/>
            </a:pPr>
            <a:r>
              <a:rPr lang="en-US" sz="1100" b="1" spc="210" kern="0" dirty="0">
                <a:solidFill>
                  <a:srgbClr val="D6A66D"/>
                </a:solidFill>
                <a:latin typeface="Arial" pitchFamily="34" charset="0"/>
                <a:ea typeface="Arial" pitchFamily="34" charset="-122"/>
                <a:cs typeface="Arial" pitchFamily="34" charset="-120"/>
              </a:rPr>
              <a:t>VOICE GUIDED</a:t>
            </a:r>
            <a:endParaRPr lang="en-US" sz="1100" dirty="0"/>
          </a:p>
        </p:txBody>
      </p:sp>
      <p:sp>
        <p:nvSpPr>
          <p:cNvPr id="23" name="Text 19"/>
          <p:cNvSpPr/>
          <p:nvPr/>
        </p:nvSpPr>
        <p:spPr>
          <a:xfrm>
            <a:off x="8833104" y="3236976"/>
            <a:ext cx="2011680" cy="365760"/>
          </a:xfrm>
          <a:prstGeom prst="rect">
            <a:avLst/>
          </a:prstGeom>
          <a:noFill/>
          <a:ln/>
        </p:spPr>
        <p:txBody>
          <a:bodyPr wrap="square" lIns="0" tIns="0" rIns="0" bIns="0" rtlCol="0" anchor="ctr">
            <a:normAutofit/>
          </a:bodyPr>
          <a:lstStyle/>
          <a:p>
            <a:pPr indent="0" marL="0">
              <a:buNone/>
            </a:pPr>
            <a:r>
              <a:rPr lang="en-US" sz="2400" b="1" dirty="0">
                <a:solidFill>
                  <a:srgbClr val="FFFFFF"/>
                </a:solidFill>
                <a:latin typeface="Arial" pitchFamily="34" charset="0"/>
                <a:ea typeface="Arial" pitchFamily="34" charset="-122"/>
                <a:cs typeface="Arial" pitchFamily="34" charset="-120"/>
              </a:rPr>
              <a:t>Hands free.</a:t>
            </a:r>
            <a:endParaRPr lang="en-US" sz="2400" dirty="0"/>
          </a:p>
        </p:txBody>
      </p:sp>
      <p:sp>
        <p:nvSpPr>
          <p:cNvPr id="24" name="Shape 20"/>
          <p:cNvSpPr/>
          <p:nvPr/>
        </p:nvSpPr>
        <p:spPr>
          <a:xfrm>
            <a:off x="8833104" y="3858768"/>
            <a:ext cx="1828800" cy="0"/>
          </a:xfrm>
          <a:prstGeom prst="line">
            <a:avLst/>
          </a:prstGeom>
          <a:noFill/>
          <a:ln w="12700">
            <a:solidFill>
              <a:srgbClr val="3A3A3A"/>
            </a:solidFill>
            <a:prstDash val="solid"/>
          </a:ln>
        </p:spPr>
      </p:sp>
      <p:sp>
        <p:nvSpPr>
          <p:cNvPr id="25" name="Text 21"/>
          <p:cNvSpPr/>
          <p:nvPr/>
        </p:nvSpPr>
        <p:spPr>
          <a:xfrm>
            <a:off x="8833104" y="4187952"/>
            <a:ext cx="2103120" cy="237744"/>
          </a:xfrm>
          <a:prstGeom prst="rect">
            <a:avLst/>
          </a:prstGeom>
          <a:noFill/>
          <a:ln/>
        </p:spPr>
        <p:txBody>
          <a:bodyPr wrap="square" lIns="0" tIns="0" rIns="0" bIns="0" rtlCol="0" anchor="ctr">
            <a:normAutofit/>
          </a:bodyPr>
          <a:lstStyle/>
          <a:p>
            <a:pPr indent="0" marL="0">
              <a:buNone/>
            </a:pPr>
            <a:r>
              <a:rPr lang="en-US" sz="1100" b="1" spc="210" kern="0" dirty="0">
                <a:solidFill>
                  <a:srgbClr val="D6A66D"/>
                </a:solidFill>
                <a:latin typeface="Arial" pitchFamily="34" charset="0"/>
                <a:ea typeface="Arial" pitchFamily="34" charset="-122"/>
                <a:cs typeface="Arial" pitchFamily="34" charset="-120"/>
              </a:rPr>
              <a:t>REVIEWABLE</a:t>
            </a:r>
            <a:endParaRPr lang="en-US" sz="1100" dirty="0"/>
          </a:p>
        </p:txBody>
      </p:sp>
      <p:sp>
        <p:nvSpPr>
          <p:cNvPr id="26" name="Text 22"/>
          <p:cNvSpPr/>
          <p:nvPr/>
        </p:nvSpPr>
        <p:spPr>
          <a:xfrm>
            <a:off x="8833104" y="4517136"/>
            <a:ext cx="2103120" cy="365760"/>
          </a:xfrm>
          <a:prstGeom prst="rect">
            <a:avLst/>
          </a:prstGeom>
          <a:noFill/>
          <a:ln/>
        </p:spPr>
        <p:txBody>
          <a:bodyPr wrap="square" lIns="0" tIns="0" rIns="0" bIns="0" rtlCol="0" anchor="ctr">
            <a:normAutofit/>
          </a:bodyPr>
          <a:lstStyle/>
          <a:p>
            <a:pPr indent="0" marL="0">
              <a:buNone/>
            </a:pPr>
            <a:r>
              <a:rPr lang="en-US" sz="2400" b="1" dirty="0">
                <a:solidFill>
                  <a:srgbClr val="FFFFFF"/>
                </a:solidFill>
                <a:latin typeface="Arial" pitchFamily="34" charset="0"/>
                <a:ea typeface="Arial" pitchFamily="34" charset="-122"/>
                <a:cs typeface="Arial" pitchFamily="34" charset="-120"/>
              </a:rPr>
              <a:t>Every answer.</a:t>
            </a:r>
            <a:endParaRPr lang="en-US" sz="2400" dirty="0"/>
          </a:p>
        </p:txBody>
      </p:sp>
      <p:sp>
        <p:nvSpPr>
          <p:cNvPr id="27" name="Text 23"/>
          <p:cNvSpPr/>
          <p:nvPr/>
        </p:nvSpPr>
        <p:spPr>
          <a:xfrm>
            <a:off x="11082528" y="6364224"/>
            <a:ext cx="438912" cy="182880"/>
          </a:xfrm>
          <a:prstGeom prst="rect">
            <a:avLst/>
          </a:prstGeom>
          <a:noFill/>
          <a:ln/>
        </p:spPr>
        <p:txBody>
          <a:bodyPr wrap="square" lIns="0" tIns="0" rIns="0" bIns="0" rtlCol="0" anchor="ctr">
            <a:normAutofit/>
          </a:bodyPr>
          <a:lstStyle/>
          <a:p>
            <a:pPr algn="r" indent="0" marL="0">
              <a:buNone/>
            </a:pPr>
            <a:r>
              <a:rPr lang="en-US" sz="1000" b="1" dirty="0">
                <a:solidFill>
                  <a:srgbClr val="BDBDBD"/>
                </a:solidFill>
                <a:latin typeface="Arial" pitchFamily="34" charset="0"/>
                <a:ea typeface="Arial" pitchFamily="34" charset="-122"/>
                <a:cs typeface="Arial" pitchFamily="34" charset="-120"/>
              </a:rPr>
              <a:t>04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7F4"/>
        </a:solidFill>
      </p:bgPr>
    </p:bg>
    <p:spTree>
      <p:nvGrpSpPr>
        <p:cNvPr id="1" name=""/>
        <p:cNvGrpSpPr/>
        <p:nvPr/>
      </p:nvGrpSpPr>
      <p:grpSpPr>
        <a:xfrm>
          <a:off x="0" y="0"/>
          <a:ext cx="0" cy="0"/>
          <a:chOff x="0" y="0"/>
          <a:chExt cx="0" cy="0"/>
        </a:xfrm>
      </p:grpSpPr>
      <p:sp>
        <p:nvSpPr>
          <p:cNvPr id="2" name="Text 0"/>
          <p:cNvSpPr/>
          <p:nvPr/>
        </p:nvSpPr>
        <p:spPr>
          <a:xfrm>
            <a:off x="658368" y="347472"/>
            <a:ext cx="3840480" cy="256032"/>
          </a:xfrm>
          <a:prstGeom prst="rect">
            <a:avLst/>
          </a:prstGeom>
          <a:noFill/>
          <a:ln/>
        </p:spPr>
        <p:txBody>
          <a:bodyPr wrap="square" lIns="0" tIns="0" rIns="0" bIns="0" rtlCol="0" anchor="ctr">
            <a:normAutofit/>
          </a:bodyPr>
          <a:lstStyle/>
          <a:p>
            <a:pPr indent="0" marL="0">
              <a:buNone/>
            </a:pPr>
            <a:r>
              <a:rPr lang="en-US" sz="1050" b="1" spc="260" kern="0" dirty="0">
                <a:solidFill>
                  <a:srgbClr val="757575"/>
                </a:solidFill>
                <a:latin typeface="Arial" pitchFamily="34" charset="0"/>
                <a:ea typeface="Arial" pitchFamily="34" charset="-122"/>
                <a:cs typeface="Arial" pitchFamily="34" charset="-120"/>
              </a:rPr>
              <a:t>DESIGNED FOR INDEPENDENCE</a:t>
            </a:r>
            <a:endParaRPr lang="en-US" sz="1050" dirty="0"/>
          </a:p>
        </p:txBody>
      </p:sp>
      <p:sp>
        <p:nvSpPr>
          <p:cNvPr id="3" name="Text 1"/>
          <p:cNvSpPr/>
          <p:nvPr/>
        </p:nvSpPr>
        <p:spPr>
          <a:xfrm>
            <a:off x="658368" y="749808"/>
            <a:ext cx="8869680" cy="493776"/>
          </a:xfrm>
          <a:prstGeom prst="rect">
            <a:avLst/>
          </a:prstGeom>
          <a:noFill/>
          <a:ln/>
        </p:spPr>
        <p:txBody>
          <a:bodyPr wrap="square" lIns="0" tIns="0" rIns="0" bIns="0" rtlCol="0" anchor="ctr">
            <a:normAutofit/>
          </a:bodyPr>
          <a:lstStyle/>
          <a:p>
            <a:pPr indent="0" marL="0">
              <a:buNone/>
            </a:pPr>
            <a:r>
              <a:rPr lang="en-US" sz="3400" b="1" dirty="0">
                <a:solidFill>
                  <a:srgbClr val="111111"/>
                </a:solidFill>
                <a:latin typeface="Arial" pitchFamily="34" charset="0"/>
                <a:ea typeface="Arial" pitchFamily="34" charset="-122"/>
                <a:cs typeface="Arial" pitchFamily="34" charset="-120"/>
              </a:rPr>
              <a:t>One target. One answer. Full transparency.</a:t>
            </a:r>
            <a:endParaRPr lang="en-US" sz="3400" dirty="0"/>
          </a:p>
        </p:txBody>
      </p:sp>
      <p:sp>
        <p:nvSpPr>
          <p:cNvPr id="4" name="Shape 2"/>
          <p:cNvSpPr/>
          <p:nvPr/>
        </p:nvSpPr>
        <p:spPr>
          <a:xfrm>
            <a:off x="1587856" y="1435608"/>
            <a:ext cx="2048256" cy="4279392"/>
          </a:xfrm>
          <a:prstGeom prst="roundRect">
            <a:avLst>
              <a:gd name="adj" fmla="val 4464"/>
            </a:avLst>
          </a:prstGeom>
          <a:solidFill>
            <a:srgbClr val="050505"/>
          </a:solidFill>
          <a:ln w="12700">
            <a:solidFill>
              <a:srgbClr val="111111"/>
            </a:solidFill>
            <a:prstDash val="solid"/>
          </a:ln>
          <a:effectLst>
            <a:outerShdw sx="100000" sy="100000" kx="0" ky="0" algn="bl" rotWithShape="0" blurRad="127000" dist="38100" dir="2700000">
              <a:srgbClr val="000000">
                <a:alpha val="16000"/>
              </a:srgbClr>
            </a:outerShdw>
          </a:effectLst>
        </p:spPr>
      </p:sp>
      <p:pic>
        <p:nvPicPr>
          <p:cNvPr id="5" name="Image 0" descr="Circle screen">    </p:cNvPr>
          <p:cNvPicPr>
            <a:picLocks noChangeAspect="1"/>
          </p:cNvPicPr>
          <p:nvPr/>
        </p:nvPicPr>
        <p:blipFill>
          <a:blip r:embed="rId1"/>
          <a:srcRect l="0" r="0" t="0" b="0"/>
          <a:stretch/>
        </p:blipFill>
        <p:spPr>
          <a:xfrm>
            <a:off x="1661008" y="1508760"/>
            <a:ext cx="1901952" cy="4133088"/>
          </a:xfrm>
          <a:prstGeom prst="rect">
            <a:avLst/>
          </a:prstGeom>
        </p:spPr>
      </p:pic>
      <p:sp>
        <p:nvSpPr>
          <p:cNvPr id="6" name="Text 3"/>
          <p:cNvSpPr/>
          <p:nvPr/>
        </p:nvSpPr>
        <p:spPr>
          <a:xfrm>
            <a:off x="1661008" y="5897880"/>
            <a:ext cx="320040" cy="201168"/>
          </a:xfrm>
          <a:prstGeom prst="rect">
            <a:avLst/>
          </a:prstGeom>
          <a:noFill/>
          <a:ln/>
        </p:spPr>
        <p:txBody>
          <a:bodyPr wrap="square" lIns="0" tIns="0" rIns="0" bIns="0" rtlCol="0" anchor="ctr">
            <a:normAutofit/>
          </a:bodyPr>
          <a:lstStyle/>
          <a:p>
            <a:pPr indent="0" marL="0">
              <a:buNone/>
            </a:pPr>
            <a:r>
              <a:rPr lang="en-US" sz="1050" b="1" dirty="0">
                <a:solidFill>
                  <a:srgbClr val="D6A66D"/>
                </a:solidFill>
                <a:latin typeface="Arial" pitchFamily="34" charset="0"/>
                <a:ea typeface="Arial" pitchFamily="34" charset="-122"/>
                <a:cs typeface="Arial" pitchFamily="34" charset="-120"/>
              </a:rPr>
              <a:t>01</a:t>
            </a:r>
            <a:endParaRPr lang="en-US" sz="1050" dirty="0"/>
          </a:p>
        </p:txBody>
      </p:sp>
      <p:sp>
        <p:nvSpPr>
          <p:cNvPr id="7" name="Text 4"/>
          <p:cNvSpPr/>
          <p:nvPr/>
        </p:nvSpPr>
        <p:spPr>
          <a:xfrm>
            <a:off x="2045056" y="5852160"/>
            <a:ext cx="1353312" cy="265176"/>
          </a:xfrm>
          <a:prstGeom prst="rect">
            <a:avLst/>
          </a:prstGeom>
          <a:noFill/>
          <a:ln/>
        </p:spPr>
        <p:txBody>
          <a:bodyPr wrap="square" lIns="0" tIns="0" rIns="0" bIns="0" rtlCol="0" anchor="ctr">
            <a:normAutofit/>
          </a:bodyPr>
          <a:lstStyle/>
          <a:p>
            <a:pPr indent="0" marL="0">
              <a:buNone/>
            </a:pPr>
            <a:r>
              <a:rPr lang="en-US" sz="1550" b="1" dirty="0">
                <a:solidFill>
                  <a:srgbClr val="111111"/>
                </a:solidFill>
                <a:latin typeface="Arial" pitchFamily="34" charset="0"/>
                <a:ea typeface="Arial" pitchFamily="34" charset="-122"/>
                <a:cs typeface="Arial" pitchFamily="34" charset="-120"/>
              </a:rPr>
              <a:t>Circle</a:t>
            </a:r>
            <a:endParaRPr lang="en-US" sz="1550" dirty="0"/>
          </a:p>
        </p:txBody>
      </p:sp>
      <p:sp>
        <p:nvSpPr>
          <p:cNvPr id="8" name="Shape 5"/>
          <p:cNvSpPr/>
          <p:nvPr/>
        </p:nvSpPr>
        <p:spPr>
          <a:xfrm>
            <a:off x="3910432" y="1435608"/>
            <a:ext cx="2048256" cy="4279392"/>
          </a:xfrm>
          <a:prstGeom prst="roundRect">
            <a:avLst>
              <a:gd name="adj" fmla="val 4464"/>
            </a:avLst>
          </a:prstGeom>
          <a:solidFill>
            <a:srgbClr val="050505"/>
          </a:solidFill>
          <a:ln w="12700">
            <a:solidFill>
              <a:srgbClr val="111111"/>
            </a:solidFill>
            <a:prstDash val="solid"/>
          </a:ln>
          <a:effectLst>
            <a:outerShdw sx="100000" sy="100000" kx="0" ky="0" algn="bl" rotWithShape="0" blurRad="127000" dist="38100" dir="2700000">
              <a:srgbClr val="000000">
                <a:alpha val="16000"/>
              </a:srgbClr>
            </a:outerShdw>
          </a:effectLst>
        </p:spPr>
      </p:sp>
      <p:pic>
        <p:nvPicPr>
          <p:cNvPr id="9" name="Image 1" descr="Pattern screen">    </p:cNvPr>
          <p:cNvPicPr>
            <a:picLocks noChangeAspect="1"/>
          </p:cNvPicPr>
          <p:nvPr/>
        </p:nvPicPr>
        <p:blipFill>
          <a:blip r:embed="rId2"/>
          <a:srcRect l="0" r="0" t="0" b="0"/>
          <a:stretch/>
        </p:blipFill>
        <p:spPr>
          <a:xfrm>
            <a:off x="3983584" y="1508760"/>
            <a:ext cx="1901952" cy="4133088"/>
          </a:xfrm>
          <a:prstGeom prst="rect">
            <a:avLst/>
          </a:prstGeom>
        </p:spPr>
      </p:pic>
      <p:sp>
        <p:nvSpPr>
          <p:cNvPr id="10" name="Text 6"/>
          <p:cNvSpPr/>
          <p:nvPr/>
        </p:nvSpPr>
        <p:spPr>
          <a:xfrm>
            <a:off x="3983584" y="5897880"/>
            <a:ext cx="320040" cy="201168"/>
          </a:xfrm>
          <a:prstGeom prst="rect">
            <a:avLst/>
          </a:prstGeom>
          <a:noFill/>
          <a:ln/>
        </p:spPr>
        <p:txBody>
          <a:bodyPr wrap="square" lIns="0" tIns="0" rIns="0" bIns="0" rtlCol="0" anchor="ctr">
            <a:normAutofit/>
          </a:bodyPr>
          <a:lstStyle/>
          <a:p>
            <a:pPr indent="0" marL="0">
              <a:buNone/>
            </a:pPr>
            <a:r>
              <a:rPr lang="en-US" sz="1050" b="1" dirty="0">
                <a:solidFill>
                  <a:srgbClr val="D6A66D"/>
                </a:solidFill>
                <a:latin typeface="Arial" pitchFamily="34" charset="0"/>
                <a:ea typeface="Arial" pitchFamily="34" charset="-122"/>
                <a:cs typeface="Arial" pitchFamily="34" charset="-120"/>
              </a:rPr>
              <a:t>02</a:t>
            </a:r>
            <a:endParaRPr lang="en-US" sz="1050" dirty="0"/>
          </a:p>
        </p:txBody>
      </p:sp>
      <p:sp>
        <p:nvSpPr>
          <p:cNvPr id="11" name="Text 7"/>
          <p:cNvSpPr/>
          <p:nvPr/>
        </p:nvSpPr>
        <p:spPr>
          <a:xfrm>
            <a:off x="4367632" y="5852160"/>
            <a:ext cx="1353312" cy="265176"/>
          </a:xfrm>
          <a:prstGeom prst="rect">
            <a:avLst/>
          </a:prstGeom>
          <a:noFill/>
          <a:ln/>
        </p:spPr>
        <p:txBody>
          <a:bodyPr wrap="square" lIns="0" tIns="0" rIns="0" bIns="0" rtlCol="0" anchor="ctr">
            <a:normAutofit/>
          </a:bodyPr>
          <a:lstStyle/>
          <a:p>
            <a:pPr indent="0" marL="0">
              <a:buNone/>
            </a:pPr>
            <a:r>
              <a:rPr lang="en-US" sz="1550" b="1" dirty="0">
                <a:solidFill>
                  <a:srgbClr val="111111"/>
                </a:solidFill>
                <a:latin typeface="Arial" pitchFamily="34" charset="0"/>
                <a:ea typeface="Arial" pitchFamily="34" charset="-122"/>
                <a:cs typeface="Arial" pitchFamily="34" charset="-120"/>
              </a:rPr>
              <a:t>Pattern</a:t>
            </a:r>
            <a:endParaRPr lang="en-US" sz="1550" dirty="0"/>
          </a:p>
        </p:txBody>
      </p:sp>
      <p:sp>
        <p:nvSpPr>
          <p:cNvPr id="12" name="Shape 8"/>
          <p:cNvSpPr/>
          <p:nvPr/>
        </p:nvSpPr>
        <p:spPr>
          <a:xfrm>
            <a:off x="6233008" y="1435608"/>
            <a:ext cx="2048256" cy="4279392"/>
          </a:xfrm>
          <a:prstGeom prst="roundRect">
            <a:avLst>
              <a:gd name="adj" fmla="val 4464"/>
            </a:avLst>
          </a:prstGeom>
          <a:solidFill>
            <a:srgbClr val="050505"/>
          </a:solidFill>
          <a:ln w="12700">
            <a:solidFill>
              <a:srgbClr val="111111"/>
            </a:solidFill>
            <a:prstDash val="solid"/>
          </a:ln>
          <a:effectLst>
            <a:outerShdw sx="100000" sy="100000" kx="0" ky="0" algn="bl" rotWithShape="0" blurRad="127000" dist="38100" dir="2700000">
              <a:srgbClr val="000000">
                <a:alpha val="16000"/>
              </a:srgbClr>
            </a:outerShdw>
          </a:effectLst>
        </p:spPr>
      </p:sp>
      <p:pic>
        <p:nvPicPr>
          <p:cNvPr id="13" name="Image 2" descr="Result screen">    </p:cNvPr>
          <p:cNvPicPr>
            <a:picLocks noChangeAspect="1"/>
          </p:cNvPicPr>
          <p:nvPr/>
        </p:nvPicPr>
        <p:blipFill>
          <a:blip r:embed="rId3"/>
          <a:srcRect l="0" r="0" t="0" b="0"/>
          <a:stretch/>
        </p:blipFill>
        <p:spPr>
          <a:xfrm>
            <a:off x="6306160" y="1508760"/>
            <a:ext cx="1901952" cy="4133088"/>
          </a:xfrm>
          <a:prstGeom prst="rect">
            <a:avLst/>
          </a:prstGeom>
        </p:spPr>
      </p:pic>
      <p:sp>
        <p:nvSpPr>
          <p:cNvPr id="14" name="Text 9"/>
          <p:cNvSpPr/>
          <p:nvPr/>
        </p:nvSpPr>
        <p:spPr>
          <a:xfrm>
            <a:off x="6306160" y="5897880"/>
            <a:ext cx="320040" cy="201168"/>
          </a:xfrm>
          <a:prstGeom prst="rect">
            <a:avLst/>
          </a:prstGeom>
          <a:noFill/>
          <a:ln/>
        </p:spPr>
        <p:txBody>
          <a:bodyPr wrap="square" lIns="0" tIns="0" rIns="0" bIns="0" rtlCol="0" anchor="ctr">
            <a:normAutofit/>
          </a:bodyPr>
          <a:lstStyle/>
          <a:p>
            <a:pPr indent="0" marL="0">
              <a:buNone/>
            </a:pPr>
            <a:r>
              <a:rPr lang="en-US" sz="1050" b="1" dirty="0">
                <a:solidFill>
                  <a:srgbClr val="D6A66D"/>
                </a:solidFill>
                <a:latin typeface="Arial" pitchFamily="34" charset="0"/>
                <a:ea typeface="Arial" pitchFamily="34" charset="-122"/>
                <a:cs typeface="Arial" pitchFamily="34" charset="-120"/>
              </a:rPr>
              <a:t>03</a:t>
            </a:r>
            <a:endParaRPr lang="en-US" sz="1050" dirty="0"/>
          </a:p>
        </p:txBody>
      </p:sp>
      <p:sp>
        <p:nvSpPr>
          <p:cNvPr id="15" name="Text 10"/>
          <p:cNvSpPr/>
          <p:nvPr/>
        </p:nvSpPr>
        <p:spPr>
          <a:xfrm>
            <a:off x="6690208" y="5852160"/>
            <a:ext cx="1353312" cy="265176"/>
          </a:xfrm>
          <a:prstGeom prst="rect">
            <a:avLst/>
          </a:prstGeom>
          <a:noFill/>
          <a:ln/>
        </p:spPr>
        <p:txBody>
          <a:bodyPr wrap="square" lIns="0" tIns="0" rIns="0" bIns="0" rtlCol="0" anchor="ctr">
            <a:normAutofit/>
          </a:bodyPr>
          <a:lstStyle/>
          <a:p>
            <a:pPr indent="0" marL="0">
              <a:buNone/>
            </a:pPr>
            <a:r>
              <a:rPr lang="en-US" sz="1550" b="1" dirty="0">
                <a:solidFill>
                  <a:srgbClr val="111111"/>
                </a:solidFill>
                <a:latin typeface="Arial" pitchFamily="34" charset="0"/>
                <a:ea typeface="Arial" pitchFamily="34" charset="-122"/>
                <a:cs typeface="Arial" pitchFamily="34" charset="-120"/>
              </a:rPr>
              <a:t>Result</a:t>
            </a:r>
            <a:endParaRPr lang="en-US" sz="1550" dirty="0"/>
          </a:p>
        </p:txBody>
      </p:sp>
      <p:sp>
        <p:nvSpPr>
          <p:cNvPr id="16" name="Shape 11"/>
          <p:cNvSpPr/>
          <p:nvPr/>
        </p:nvSpPr>
        <p:spPr>
          <a:xfrm>
            <a:off x="8555584" y="1435608"/>
            <a:ext cx="2048256" cy="4279392"/>
          </a:xfrm>
          <a:prstGeom prst="roundRect">
            <a:avLst>
              <a:gd name="adj" fmla="val 4464"/>
            </a:avLst>
          </a:prstGeom>
          <a:solidFill>
            <a:srgbClr val="050505"/>
          </a:solidFill>
          <a:ln w="12700">
            <a:solidFill>
              <a:srgbClr val="111111"/>
            </a:solidFill>
            <a:prstDash val="solid"/>
          </a:ln>
          <a:effectLst>
            <a:outerShdw sx="100000" sy="100000" kx="0" ky="0" algn="bl" rotWithShape="0" blurRad="127000" dist="38100" dir="2700000">
              <a:srgbClr val="000000">
                <a:alpha val="16000"/>
              </a:srgbClr>
            </a:outerShdw>
          </a:effectLst>
        </p:spPr>
      </p:sp>
      <p:pic>
        <p:nvPicPr>
          <p:cNvPr id="17" name="Image 3" descr="Review screen">    </p:cNvPr>
          <p:cNvPicPr>
            <a:picLocks noChangeAspect="1"/>
          </p:cNvPicPr>
          <p:nvPr/>
        </p:nvPicPr>
        <p:blipFill>
          <a:blip r:embed="rId4"/>
          <a:srcRect l="0" r="0" t="0" b="0"/>
          <a:stretch/>
        </p:blipFill>
        <p:spPr>
          <a:xfrm>
            <a:off x="8628736" y="1508760"/>
            <a:ext cx="1901952" cy="4133088"/>
          </a:xfrm>
          <a:prstGeom prst="rect">
            <a:avLst/>
          </a:prstGeom>
        </p:spPr>
      </p:pic>
      <p:sp>
        <p:nvSpPr>
          <p:cNvPr id="18" name="Text 12"/>
          <p:cNvSpPr/>
          <p:nvPr/>
        </p:nvSpPr>
        <p:spPr>
          <a:xfrm>
            <a:off x="8628736" y="5897880"/>
            <a:ext cx="320040" cy="201168"/>
          </a:xfrm>
          <a:prstGeom prst="rect">
            <a:avLst/>
          </a:prstGeom>
          <a:noFill/>
          <a:ln/>
        </p:spPr>
        <p:txBody>
          <a:bodyPr wrap="square" lIns="0" tIns="0" rIns="0" bIns="0" rtlCol="0" anchor="ctr">
            <a:normAutofit/>
          </a:bodyPr>
          <a:lstStyle/>
          <a:p>
            <a:pPr indent="0" marL="0">
              <a:buNone/>
            </a:pPr>
            <a:r>
              <a:rPr lang="en-US" sz="1050" b="1" dirty="0">
                <a:solidFill>
                  <a:srgbClr val="D6A66D"/>
                </a:solidFill>
                <a:latin typeface="Arial" pitchFamily="34" charset="0"/>
                <a:ea typeface="Arial" pitchFamily="34" charset="-122"/>
                <a:cs typeface="Arial" pitchFamily="34" charset="-120"/>
              </a:rPr>
              <a:t>04</a:t>
            </a:r>
            <a:endParaRPr lang="en-US" sz="1050" dirty="0"/>
          </a:p>
        </p:txBody>
      </p:sp>
      <p:sp>
        <p:nvSpPr>
          <p:cNvPr id="19" name="Text 13"/>
          <p:cNvSpPr/>
          <p:nvPr/>
        </p:nvSpPr>
        <p:spPr>
          <a:xfrm>
            <a:off x="9012784" y="5852160"/>
            <a:ext cx="1353312" cy="265176"/>
          </a:xfrm>
          <a:prstGeom prst="rect">
            <a:avLst/>
          </a:prstGeom>
          <a:noFill/>
          <a:ln/>
        </p:spPr>
        <p:txBody>
          <a:bodyPr wrap="square" lIns="0" tIns="0" rIns="0" bIns="0" rtlCol="0" anchor="ctr">
            <a:normAutofit/>
          </a:bodyPr>
          <a:lstStyle/>
          <a:p>
            <a:pPr indent="0" marL="0">
              <a:buNone/>
            </a:pPr>
            <a:r>
              <a:rPr lang="en-US" sz="1550" b="1" dirty="0">
                <a:solidFill>
                  <a:srgbClr val="111111"/>
                </a:solidFill>
                <a:latin typeface="Arial" pitchFamily="34" charset="0"/>
                <a:ea typeface="Arial" pitchFamily="34" charset="-122"/>
                <a:cs typeface="Arial" pitchFamily="34" charset="-120"/>
              </a:rPr>
              <a:t>Review</a:t>
            </a:r>
            <a:endParaRPr lang="en-US" sz="1550" dirty="0"/>
          </a:p>
        </p:txBody>
      </p:sp>
      <p:sp>
        <p:nvSpPr>
          <p:cNvPr id="20" name="Text 14"/>
          <p:cNvSpPr/>
          <p:nvPr/>
        </p:nvSpPr>
        <p:spPr>
          <a:xfrm>
            <a:off x="11082528" y="6364224"/>
            <a:ext cx="438912" cy="182880"/>
          </a:xfrm>
          <a:prstGeom prst="rect">
            <a:avLst/>
          </a:prstGeom>
          <a:noFill/>
          <a:ln/>
        </p:spPr>
        <p:txBody>
          <a:bodyPr wrap="square" lIns="0" tIns="0" rIns="0" bIns="0" rtlCol="0" anchor="ctr">
            <a:normAutofit/>
          </a:bodyPr>
          <a:lstStyle/>
          <a:p>
            <a:pPr algn="r" indent="0" marL="0">
              <a:buNone/>
            </a:pPr>
            <a:r>
              <a:rPr lang="en-US" sz="1000" b="1" dirty="0">
                <a:solidFill>
                  <a:srgbClr val="757575"/>
                </a:solidFill>
                <a:latin typeface="Arial" pitchFamily="34" charset="0"/>
                <a:ea typeface="Arial" pitchFamily="34" charset="-122"/>
                <a:cs typeface="Arial" pitchFamily="34" charset="-120"/>
              </a:rPr>
              <a:t>05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50505"/>
        </a:solidFill>
      </p:bgPr>
    </p:bg>
    <p:spTree>
      <p:nvGrpSpPr>
        <p:cNvPr id="1" name=""/>
        <p:cNvGrpSpPr/>
        <p:nvPr/>
      </p:nvGrpSpPr>
      <p:grpSpPr>
        <a:xfrm>
          <a:off x="0" y="0"/>
          <a:ext cx="0" cy="0"/>
          <a:chOff x="0" y="0"/>
          <a:chExt cx="0" cy="0"/>
        </a:xfrm>
      </p:grpSpPr>
      <p:sp>
        <p:nvSpPr>
          <p:cNvPr id="2" name="Text 0"/>
          <p:cNvSpPr/>
          <p:nvPr/>
        </p:nvSpPr>
        <p:spPr>
          <a:xfrm>
            <a:off x="658368" y="347472"/>
            <a:ext cx="3840480" cy="256032"/>
          </a:xfrm>
          <a:prstGeom prst="rect">
            <a:avLst/>
          </a:prstGeom>
          <a:noFill/>
          <a:ln/>
        </p:spPr>
        <p:txBody>
          <a:bodyPr wrap="square" lIns="0" tIns="0" rIns="0" bIns="0" rtlCol="0" anchor="ctr">
            <a:normAutofit/>
          </a:bodyPr>
          <a:lstStyle/>
          <a:p>
            <a:pPr indent="0" marL="0">
              <a:buNone/>
            </a:pPr>
            <a:r>
              <a:rPr lang="en-US" sz="1050" b="1" spc="260" kern="0" dirty="0">
                <a:solidFill>
                  <a:srgbClr val="BDBDBD"/>
                </a:solidFill>
                <a:latin typeface="Arial" pitchFamily="34" charset="0"/>
                <a:ea typeface="Arial" pitchFamily="34" charset="-122"/>
                <a:cs typeface="Arial" pitchFamily="34" charset="-120"/>
              </a:rPr>
              <a:t>BUILT FOR TRUST</a:t>
            </a:r>
            <a:endParaRPr lang="en-US" sz="1050" dirty="0"/>
          </a:p>
        </p:txBody>
      </p:sp>
      <p:sp>
        <p:nvSpPr>
          <p:cNvPr id="3" name="Text 1"/>
          <p:cNvSpPr/>
          <p:nvPr/>
        </p:nvSpPr>
        <p:spPr>
          <a:xfrm>
            <a:off x="658368" y="786384"/>
            <a:ext cx="7315200" cy="566928"/>
          </a:xfrm>
          <a:prstGeom prst="rect">
            <a:avLst/>
          </a:prstGeom>
          <a:noFill/>
          <a:ln/>
        </p:spPr>
        <p:txBody>
          <a:bodyPr wrap="square" lIns="0" tIns="0" rIns="0" bIns="0" rtlCol="0" anchor="ctr">
            <a:normAutofit/>
          </a:bodyPr>
          <a:lstStyle/>
          <a:p>
            <a:pPr indent="0" marL="0">
              <a:buNone/>
            </a:pPr>
            <a:r>
              <a:rPr lang="en-US" sz="3800" b="1" dirty="0">
                <a:solidFill>
                  <a:srgbClr val="FFFFFF"/>
                </a:solidFill>
                <a:latin typeface="Arial" pitchFamily="34" charset="0"/>
                <a:ea typeface="Arial" pitchFamily="34" charset="-122"/>
                <a:cs typeface="Arial" pitchFamily="34" charset="-120"/>
              </a:rPr>
              <a:t>The phone screens. AI explains.</a:t>
            </a:r>
            <a:endParaRPr lang="en-US" sz="3800" dirty="0"/>
          </a:p>
        </p:txBody>
      </p:sp>
      <p:sp>
        <p:nvSpPr>
          <p:cNvPr id="4" name="Text 2"/>
          <p:cNvSpPr/>
          <p:nvPr/>
        </p:nvSpPr>
        <p:spPr>
          <a:xfrm>
            <a:off x="8001000" y="923544"/>
            <a:ext cx="3493008" cy="320040"/>
          </a:xfrm>
          <a:prstGeom prst="rect">
            <a:avLst/>
          </a:prstGeom>
          <a:noFill/>
          <a:ln/>
        </p:spPr>
        <p:txBody>
          <a:bodyPr wrap="square" lIns="0" tIns="0" rIns="0" bIns="0" rtlCol="0" anchor="ctr">
            <a:normAutofit/>
          </a:bodyPr>
          <a:lstStyle/>
          <a:p>
            <a:pPr algn="r" indent="0" marL="0">
              <a:buNone/>
            </a:pPr>
            <a:r>
              <a:rPr lang="en-US" sz="1700" b="1" dirty="0">
                <a:solidFill>
                  <a:srgbClr val="D6A66D"/>
                </a:solidFill>
                <a:latin typeface="Arial" pitchFamily="34" charset="0"/>
                <a:ea typeface="Arial" pitchFamily="34" charset="-122"/>
                <a:cs typeface="Arial" pitchFamily="34" charset="-120"/>
              </a:rPr>
              <a:t>The number never comes from a model.</a:t>
            </a:r>
            <a:endParaRPr lang="en-US" sz="1700" dirty="0"/>
          </a:p>
        </p:txBody>
      </p:sp>
      <p:sp>
        <p:nvSpPr>
          <p:cNvPr id="5" name="Text 3"/>
          <p:cNvSpPr/>
          <p:nvPr/>
        </p:nvSpPr>
        <p:spPr>
          <a:xfrm>
            <a:off x="713232" y="1828800"/>
            <a:ext cx="1828800" cy="228600"/>
          </a:xfrm>
          <a:prstGeom prst="rect">
            <a:avLst/>
          </a:prstGeom>
          <a:noFill/>
          <a:ln/>
        </p:spPr>
        <p:txBody>
          <a:bodyPr wrap="square" lIns="0" tIns="0" rIns="0" bIns="0" rtlCol="0" anchor="ctr">
            <a:normAutofit/>
          </a:bodyPr>
          <a:lstStyle/>
          <a:p>
            <a:pPr indent="0" marL="0">
              <a:buNone/>
            </a:pPr>
            <a:r>
              <a:rPr lang="en-US" sz="1050" b="1" spc="220" kern="0" dirty="0">
                <a:solidFill>
                  <a:srgbClr val="D6A66D"/>
                </a:solidFill>
                <a:latin typeface="Arial" pitchFamily="34" charset="0"/>
                <a:ea typeface="Arial" pitchFamily="34" charset="-122"/>
                <a:cs typeface="Arial" pitchFamily="34" charset="-120"/>
              </a:rPr>
              <a:t>ON IPHONE</a:t>
            </a:r>
            <a:endParaRPr lang="en-US" sz="1050" dirty="0"/>
          </a:p>
        </p:txBody>
      </p:sp>
      <p:sp>
        <p:nvSpPr>
          <p:cNvPr id="6" name="Shape 4"/>
          <p:cNvSpPr/>
          <p:nvPr/>
        </p:nvSpPr>
        <p:spPr>
          <a:xfrm>
            <a:off x="713232" y="2212848"/>
            <a:ext cx="1719072" cy="1298448"/>
          </a:xfrm>
          <a:prstGeom prst="roundRect">
            <a:avLst>
              <a:gd name="adj" fmla="val 4225"/>
            </a:avLst>
          </a:prstGeom>
          <a:solidFill>
            <a:srgbClr val="FFFFFF"/>
          </a:solidFill>
          <a:ln w="12700">
            <a:solidFill>
              <a:srgbClr val="D8D8D5"/>
            </a:solidFill>
            <a:prstDash val="solid"/>
          </a:ln>
          <a:effectLst>
            <a:outerShdw sx="100000" sy="100000" kx="0" ky="0" algn="bl" rotWithShape="0" blurRad="63500" dist="19050" dir="2700000">
              <a:srgbClr val="000000">
                <a:alpha val="8000"/>
              </a:srgbClr>
            </a:outerShdw>
          </a:effectLst>
        </p:spPr>
      </p:sp>
      <p:sp>
        <p:nvSpPr>
          <p:cNvPr id="7" name="Text 5"/>
          <p:cNvSpPr/>
          <p:nvPr/>
        </p:nvSpPr>
        <p:spPr>
          <a:xfrm>
            <a:off x="877824" y="2377440"/>
            <a:ext cx="1389888" cy="310896"/>
          </a:xfrm>
          <a:prstGeom prst="rect">
            <a:avLst/>
          </a:prstGeom>
          <a:noFill/>
          <a:ln/>
        </p:spPr>
        <p:txBody>
          <a:bodyPr wrap="square" lIns="0" tIns="0" rIns="0" bIns="0" rtlCol="0" anchor="ctr">
            <a:normAutofit/>
          </a:bodyPr>
          <a:lstStyle/>
          <a:p>
            <a:pPr indent="0" marL="0">
              <a:buNone/>
            </a:pPr>
            <a:r>
              <a:rPr lang="en-US" sz="1600" b="1" dirty="0">
                <a:solidFill>
                  <a:srgbClr val="111111"/>
                </a:solidFill>
                <a:latin typeface="Arial" pitchFamily="34" charset="0"/>
                <a:ea typeface="Arial" pitchFamily="34" charset="-122"/>
                <a:cs typeface="Arial" pitchFamily="34" charset="-120"/>
              </a:rPr>
              <a:t>TrueDepth</a:t>
            </a:r>
            <a:endParaRPr lang="en-US" sz="1600" dirty="0"/>
          </a:p>
          <a:p>
            <a:pPr indent="0" marL="0">
              <a:buNone/>
            </a:pPr>
            <a:r>
              <a:rPr lang="en-US" sz="1600" b="1" dirty="0">
                <a:solidFill>
                  <a:srgbClr val="111111"/>
                </a:solidFill>
                <a:latin typeface="Arial" pitchFamily="34" charset="0"/>
                <a:ea typeface="Arial" pitchFamily="34" charset="-122"/>
                <a:cs typeface="Arial" pitchFamily="34" charset="-120"/>
              </a:rPr>
              <a:t>+ Motion</a:t>
            </a:r>
            <a:endParaRPr lang="en-US" sz="1600" dirty="0"/>
          </a:p>
        </p:txBody>
      </p:sp>
      <p:sp>
        <p:nvSpPr>
          <p:cNvPr id="8" name="Shape 6"/>
          <p:cNvSpPr/>
          <p:nvPr/>
        </p:nvSpPr>
        <p:spPr>
          <a:xfrm>
            <a:off x="2487168" y="2862072"/>
            <a:ext cx="310896" cy="0"/>
          </a:xfrm>
          <a:prstGeom prst="line">
            <a:avLst/>
          </a:prstGeom>
          <a:noFill/>
          <a:ln w="30480">
            <a:solidFill>
              <a:srgbClr val="D6A66D"/>
            </a:solidFill>
            <a:prstDash val="solid"/>
            <a:tailEnd type="triangle"/>
          </a:ln>
        </p:spPr>
      </p:sp>
      <p:sp>
        <p:nvSpPr>
          <p:cNvPr id="9" name="Shape 7"/>
          <p:cNvSpPr/>
          <p:nvPr/>
        </p:nvSpPr>
        <p:spPr>
          <a:xfrm>
            <a:off x="2926080" y="2212848"/>
            <a:ext cx="1719072" cy="1298448"/>
          </a:xfrm>
          <a:prstGeom prst="roundRect">
            <a:avLst>
              <a:gd name="adj" fmla="val 4225"/>
            </a:avLst>
          </a:prstGeom>
          <a:solidFill>
            <a:srgbClr val="FFFFFF"/>
          </a:solidFill>
          <a:ln w="12700">
            <a:solidFill>
              <a:srgbClr val="D8D8D5"/>
            </a:solidFill>
            <a:prstDash val="solid"/>
          </a:ln>
          <a:effectLst>
            <a:outerShdw sx="100000" sy="100000" kx="0" ky="0" algn="bl" rotWithShape="0" blurRad="63500" dist="19050" dir="2700000">
              <a:srgbClr val="000000">
                <a:alpha val="8000"/>
              </a:srgbClr>
            </a:outerShdw>
          </a:effectLst>
        </p:spPr>
      </p:sp>
      <p:sp>
        <p:nvSpPr>
          <p:cNvPr id="10" name="Text 8"/>
          <p:cNvSpPr/>
          <p:nvPr/>
        </p:nvSpPr>
        <p:spPr>
          <a:xfrm>
            <a:off x="3090672" y="2377440"/>
            <a:ext cx="1389888" cy="310896"/>
          </a:xfrm>
          <a:prstGeom prst="rect">
            <a:avLst/>
          </a:prstGeom>
          <a:noFill/>
          <a:ln/>
        </p:spPr>
        <p:txBody>
          <a:bodyPr wrap="square" lIns="0" tIns="0" rIns="0" bIns="0" rtlCol="0" anchor="ctr">
            <a:normAutofit/>
          </a:bodyPr>
          <a:lstStyle/>
          <a:p>
            <a:pPr indent="0" marL="0">
              <a:buNone/>
            </a:pPr>
            <a:r>
              <a:rPr lang="en-US" sz="1600" b="1" dirty="0">
                <a:solidFill>
                  <a:srgbClr val="111111"/>
                </a:solidFill>
                <a:latin typeface="Arial" pitchFamily="34" charset="0"/>
                <a:ea typeface="Arial" pitchFamily="34" charset="-122"/>
                <a:cs typeface="Arial" pitchFamily="34" charset="-120"/>
              </a:rPr>
              <a:t>Quality</a:t>
            </a:r>
            <a:endParaRPr lang="en-US" sz="1600" dirty="0"/>
          </a:p>
          <a:p>
            <a:pPr indent="0" marL="0">
              <a:buNone/>
            </a:pPr>
            <a:r>
              <a:rPr lang="en-US" sz="1600" b="1" dirty="0">
                <a:solidFill>
                  <a:srgbClr val="111111"/>
                </a:solidFill>
                <a:latin typeface="Arial" pitchFamily="34" charset="0"/>
                <a:ea typeface="Arial" pitchFamily="34" charset="-122"/>
                <a:cs typeface="Arial" pitchFamily="34" charset="-120"/>
              </a:rPr>
              <a:t>gates</a:t>
            </a:r>
            <a:endParaRPr lang="en-US" sz="1600" dirty="0"/>
          </a:p>
        </p:txBody>
      </p:sp>
      <p:sp>
        <p:nvSpPr>
          <p:cNvPr id="11" name="Shape 9"/>
          <p:cNvSpPr/>
          <p:nvPr/>
        </p:nvSpPr>
        <p:spPr>
          <a:xfrm>
            <a:off x="4700016" y="2862072"/>
            <a:ext cx="310896" cy="0"/>
          </a:xfrm>
          <a:prstGeom prst="line">
            <a:avLst/>
          </a:prstGeom>
          <a:noFill/>
          <a:ln w="30480">
            <a:solidFill>
              <a:srgbClr val="D6A66D"/>
            </a:solidFill>
            <a:prstDash val="solid"/>
            <a:tailEnd type="triangle"/>
          </a:ln>
        </p:spPr>
      </p:sp>
      <p:sp>
        <p:nvSpPr>
          <p:cNvPr id="12" name="Shape 10"/>
          <p:cNvSpPr/>
          <p:nvPr/>
        </p:nvSpPr>
        <p:spPr>
          <a:xfrm>
            <a:off x="5138928" y="2212848"/>
            <a:ext cx="1719072" cy="1298448"/>
          </a:xfrm>
          <a:prstGeom prst="roundRect">
            <a:avLst>
              <a:gd name="adj" fmla="val 4225"/>
            </a:avLst>
          </a:prstGeom>
          <a:solidFill>
            <a:srgbClr val="FFFFFF"/>
          </a:solidFill>
          <a:ln w="12700">
            <a:solidFill>
              <a:srgbClr val="D8D8D5"/>
            </a:solidFill>
            <a:prstDash val="solid"/>
          </a:ln>
          <a:effectLst>
            <a:outerShdw sx="100000" sy="100000" kx="0" ky="0" algn="bl" rotWithShape="0" blurRad="63500" dist="19050" dir="2700000">
              <a:srgbClr val="000000">
                <a:alpha val="8000"/>
              </a:srgbClr>
            </a:outerShdw>
          </a:effectLst>
        </p:spPr>
      </p:sp>
      <p:sp>
        <p:nvSpPr>
          <p:cNvPr id="13" name="Text 11"/>
          <p:cNvSpPr/>
          <p:nvPr/>
        </p:nvSpPr>
        <p:spPr>
          <a:xfrm>
            <a:off x="5303520" y="2377440"/>
            <a:ext cx="1389888" cy="310896"/>
          </a:xfrm>
          <a:prstGeom prst="rect">
            <a:avLst/>
          </a:prstGeom>
          <a:noFill/>
          <a:ln/>
        </p:spPr>
        <p:txBody>
          <a:bodyPr wrap="square" lIns="0" tIns="0" rIns="0" bIns="0" rtlCol="0" anchor="ctr">
            <a:normAutofit/>
          </a:bodyPr>
          <a:lstStyle/>
          <a:p>
            <a:pPr indent="0" marL="0">
              <a:buNone/>
            </a:pPr>
            <a:r>
              <a:rPr lang="en-US" sz="1600" b="1" dirty="0">
                <a:solidFill>
                  <a:srgbClr val="111111"/>
                </a:solidFill>
                <a:latin typeface="Arial" pitchFamily="34" charset="0"/>
                <a:ea typeface="Arial" pitchFamily="34" charset="-122"/>
                <a:cs typeface="Arial" pitchFamily="34" charset="-120"/>
              </a:rPr>
              <a:t>Landolt C</a:t>
            </a:r>
            <a:endParaRPr lang="en-US" sz="1600" dirty="0"/>
          </a:p>
          <a:p>
            <a:pPr indent="0" marL="0">
              <a:buNone/>
            </a:pPr>
            <a:r>
              <a:rPr lang="en-US" sz="1600" b="1" dirty="0">
                <a:solidFill>
                  <a:srgbClr val="111111"/>
                </a:solidFill>
                <a:latin typeface="Arial" pitchFamily="34" charset="0"/>
                <a:ea typeface="Arial" pitchFamily="34" charset="-122"/>
                <a:cs typeface="Arial" pitchFamily="34" charset="-120"/>
              </a:rPr>
              <a:t>+ Gabor</a:t>
            </a:r>
            <a:endParaRPr lang="en-US" sz="1600" dirty="0"/>
          </a:p>
        </p:txBody>
      </p:sp>
      <p:sp>
        <p:nvSpPr>
          <p:cNvPr id="14" name="Shape 12"/>
          <p:cNvSpPr/>
          <p:nvPr/>
        </p:nvSpPr>
        <p:spPr>
          <a:xfrm>
            <a:off x="6912864" y="2862072"/>
            <a:ext cx="310896" cy="0"/>
          </a:xfrm>
          <a:prstGeom prst="line">
            <a:avLst/>
          </a:prstGeom>
          <a:noFill/>
          <a:ln w="30480">
            <a:solidFill>
              <a:srgbClr val="D6A66D"/>
            </a:solidFill>
            <a:prstDash val="solid"/>
            <a:tailEnd type="triangle"/>
          </a:ln>
        </p:spPr>
      </p:sp>
      <p:sp>
        <p:nvSpPr>
          <p:cNvPr id="15" name="Shape 13"/>
          <p:cNvSpPr/>
          <p:nvPr/>
        </p:nvSpPr>
        <p:spPr>
          <a:xfrm>
            <a:off x="7351776" y="2212848"/>
            <a:ext cx="1719072" cy="1298448"/>
          </a:xfrm>
          <a:prstGeom prst="roundRect">
            <a:avLst>
              <a:gd name="adj" fmla="val 4225"/>
            </a:avLst>
          </a:prstGeom>
          <a:solidFill>
            <a:srgbClr val="FFFFFF"/>
          </a:solidFill>
          <a:ln w="12700">
            <a:solidFill>
              <a:srgbClr val="D8D8D5"/>
            </a:solidFill>
            <a:prstDash val="solid"/>
          </a:ln>
          <a:effectLst>
            <a:outerShdw sx="100000" sy="100000" kx="0" ky="0" algn="bl" rotWithShape="0" blurRad="63500" dist="19050" dir="2700000">
              <a:srgbClr val="000000">
                <a:alpha val="8000"/>
              </a:srgbClr>
            </a:outerShdw>
          </a:effectLst>
        </p:spPr>
      </p:sp>
      <p:sp>
        <p:nvSpPr>
          <p:cNvPr id="16" name="Text 14"/>
          <p:cNvSpPr/>
          <p:nvPr/>
        </p:nvSpPr>
        <p:spPr>
          <a:xfrm>
            <a:off x="7516368" y="2377440"/>
            <a:ext cx="1389888" cy="310896"/>
          </a:xfrm>
          <a:prstGeom prst="rect">
            <a:avLst/>
          </a:prstGeom>
          <a:noFill/>
          <a:ln/>
        </p:spPr>
        <p:txBody>
          <a:bodyPr wrap="square" lIns="0" tIns="0" rIns="0" bIns="0" rtlCol="0" anchor="ctr">
            <a:normAutofit/>
          </a:bodyPr>
          <a:lstStyle/>
          <a:p>
            <a:pPr indent="0" marL="0">
              <a:buNone/>
            </a:pPr>
            <a:r>
              <a:rPr lang="en-US" sz="1600" b="1" dirty="0">
                <a:solidFill>
                  <a:srgbClr val="111111"/>
                </a:solidFill>
                <a:latin typeface="Arial" pitchFamily="34" charset="0"/>
                <a:ea typeface="Arial" pitchFamily="34" charset="-122"/>
                <a:cs typeface="Arial" pitchFamily="34" charset="-120"/>
              </a:rPr>
              <a:t>Local</a:t>
            </a:r>
            <a:endParaRPr lang="en-US" sz="1600" dirty="0"/>
          </a:p>
          <a:p>
            <a:pPr indent="0" marL="0">
              <a:buNone/>
            </a:pPr>
            <a:r>
              <a:rPr lang="en-US" sz="1600" b="1" dirty="0">
                <a:solidFill>
                  <a:srgbClr val="111111"/>
                </a:solidFill>
                <a:latin typeface="Arial" pitchFamily="34" charset="0"/>
                <a:ea typeface="Arial" pitchFamily="34" charset="-122"/>
                <a:cs typeface="Arial" pitchFamily="34" charset="-120"/>
              </a:rPr>
              <a:t>estimate</a:t>
            </a:r>
            <a:endParaRPr lang="en-US" sz="1600" dirty="0"/>
          </a:p>
        </p:txBody>
      </p:sp>
      <p:sp>
        <p:nvSpPr>
          <p:cNvPr id="17" name="Text 15"/>
          <p:cNvSpPr/>
          <p:nvPr/>
        </p:nvSpPr>
        <p:spPr>
          <a:xfrm>
            <a:off x="713232" y="4041648"/>
            <a:ext cx="2560320" cy="228600"/>
          </a:xfrm>
          <a:prstGeom prst="rect">
            <a:avLst/>
          </a:prstGeom>
          <a:noFill/>
          <a:ln/>
        </p:spPr>
        <p:txBody>
          <a:bodyPr wrap="square" lIns="0" tIns="0" rIns="0" bIns="0" rtlCol="0" anchor="ctr">
            <a:normAutofit/>
          </a:bodyPr>
          <a:lstStyle/>
          <a:p>
            <a:pPr indent="0" marL="0">
              <a:buNone/>
            </a:pPr>
            <a:r>
              <a:rPr lang="en-US" sz="1050" b="1" spc="220" kern="0" dirty="0">
                <a:solidFill>
                  <a:srgbClr val="D6A66D"/>
                </a:solidFill>
                <a:latin typeface="Arial" pitchFamily="34" charset="0"/>
                <a:ea typeface="Arial" pitchFamily="34" charset="-122"/>
                <a:cs typeface="Arial" pitchFamily="34" charset="-120"/>
              </a:rPr>
              <a:t>VOICE + EXPLANATION</a:t>
            </a:r>
            <a:endParaRPr lang="en-US" sz="1050" dirty="0"/>
          </a:p>
        </p:txBody>
      </p:sp>
      <p:sp>
        <p:nvSpPr>
          <p:cNvPr id="18" name="Shape 16"/>
          <p:cNvSpPr/>
          <p:nvPr/>
        </p:nvSpPr>
        <p:spPr>
          <a:xfrm>
            <a:off x="713232" y="4425696"/>
            <a:ext cx="2148840" cy="1143000"/>
          </a:xfrm>
          <a:prstGeom prst="roundRect">
            <a:avLst>
              <a:gd name="adj" fmla="val 4800"/>
            </a:avLst>
          </a:prstGeom>
          <a:solidFill>
            <a:srgbClr val="050505"/>
          </a:solidFill>
          <a:ln w="12700">
            <a:solidFill>
              <a:srgbClr val="2E2E2E"/>
            </a:solidFill>
            <a:prstDash val="solid"/>
          </a:ln>
        </p:spPr>
      </p:sp>
      <p:sp>
        <p:nvSpPr>
          <p:cNvPr id="19" name="Text 17"/>
          <p:cNvSpPr/>
          <p:nvPr/>
        </p:nvSpPr>
        <p:spPr>
          <a:xfrm>
            <a:off x="877824" y="4590288"/>
            <a:ext cx="1819656" cy="310896"/>
          </a:xfrm>
          <a:prstGeom prst="rect">
            <a:avLst/>
          </a:prstGeom>
          <a:noFill/>
          <a:ln/>
        </p:spPr>
        <p:txBody>
          <a:bodyPr wrap="square" lIns="0" tIns="0" rIns="0" bIns="0" rtlCol="0" anchor="ctr">
            <a:normAutofit/>
          </a:bodyPr>
          <a:lstStyle/>
          <a:p>
            <a:pPr indent="0" marL="0">
              <a:buNone/>
            </a:pPr>
            <a:r>
              <a:rPr lang="en-US" sz="1600" b="1" dirty="0">
                <a:solidFill>
                  <a:srgbClr val="FFFFFF"/>
                </a:solidFill>
                <a:latin typeface="Arial" pitchFamily="34" charset="0"/>
                <a:ea typeface="Arial" pitchFamily="34" charset="-122"/>
                <a:cs typeface="Arial" pitchFamily="34" charset="-120"/>
              </a:rPr>
              <a:t>Voice answer</a:t>
            </a:r>
            <a:endParaRPr lang="en-US" sz="1600" dirty="0"/>
          </a:p>
        </p:txBody>
      </p:sp>
      <p:sp>
        <p:nvSpPr>
          <p:cNvPr id="20" name="Text 18"/>
          <p:cNvSpPr/>
          <p:nvPr/>
        </p:nvSpPr>
        <p:spPr>
          <a:xfrm>
            <a:off x="877824" y="4946904"/>
            <a:ext cx="1819656" cy="521208"/>
          </a:xfrm>
          <a:prstGeom prst="rect">
            <a:avLst/>
          </a:prstGeom>
          <a:noFill/>
          <a:ln/>
        </p:spPr>
        <p:txBody>
          <a:bodyPr wrap="square" lIns="0" tIns="0" rIns="0" bIns="0" rtlCol="0" anchor="t">
            <a:normAutofit/>
          </a:bodyPr>
          <a:lstStyle/>
          <a:p>
            <a:pPr indent="0" marL="0">
              <a:buNone/>
            </a:pPr>
            <a:r>
              <a:rPr lang="en-US" sz="1150" dirty="0">
                <a:solidFill>
                  <a:srgbClr val="BDBDBD"/>
                </a:solidFill>
                <a:latin typeface="Arial" pitchFamily="34" charset="0"/>
                <a:ea typeface="Arial" pitchFamily="34" charset="-122"/>
                <a:cs typeface="Arial" pitchFamily="34" charset="-120"/>
              </a:rPr>
              <a:t>Natural speech</a:t>
            </a:r>
            <a:endParaRPr lang="en-US" sz="1150" dirty="0"/>
          </a:p>
        </p:txBody>
      </p:sp>
      <p:sp>
        <p:nvSpPr>
          <p:cNvPr id="21" name="Shape 19"/>
          <p:cNvSpPr/>
          <p:nvPr/>
        </p:nvSpPr>
        <p:spPr>
          <a:xfrm>
            <a:off x="2953512" y="4992624"/>
            <a:ext cx="438912" cy="0"/>
          </a:xfrm>
          <a:prstGeom prst="line">
            <a:avLst/>
          </a:prstGeom>
          <a:noFill/>
          <a:ln w="30480">
            <a:solidFill>
              <a:srgbClr val="FFFFFF"/>
            </a:solidFill>
            <a:prstDash val="solid"/>
            <a:tailEnd type="triangle"/>
          </a:ln>
        </p:spPr>
      </p:sp>
      <p:sp>
        <p:nvSpPr>
          <p:cNvPr id="22" name="Shape 20"/>
          <p:cNvSpPr/>
          <p:nvPr/>
        </p:nvSpPr>
        <p:spPr>
          <a:xfrm>
            <a:off x="3502152" y="4425696"/>
            <a:ext cx="2304288" cy="1143000"/>
          </a:xfrm>
          <a:prstGeom prst="roundRect">
            <a:avLst>
              <a:gd name="adj" fmla="val 4800"/>
            </a:avLst>
          </a:prstGeom>
          <a:solidFill>
            <a:srgbClr val="050505"/>
          </a:solidFill>
          <a:ln w="12700">
            <a:solidFill>
              <a:srgbClr val="2E2E2E"/>
            </a:solidFill>
            <a:prstDash val="solid"/>
          </a:ln>
        </p:spPr>
      </p:sp>
      <p:sp>
        <p:nvSpPr>
          <p:cNvPr id="23" name="Text 21"/>
          <p:cNvSpPr/>
          <p:nvPr/>
        </p:nvSpPr>
        <p:spPr>
          <a:xfrm>
            <a:off x="3666744" y="4590288"/>
            <a:ext cx="1975104" cy="310896"/>
          </a:xfrm>
          <a:prstGeom prst="rect">
            <a:avLst/>
          </a:prstGeom>
          <a:noFill/>
          <a:ln/>
        </p:spPr>
        <p:txBody>
          <a:bodyPr wrap="square" lIns="0" tIns="0" rIns="0" bIns="0" rtlCol="0" anchor="ctr">
            <a:normAutofit/>
          </a:bodyPr>
          <a:lstStyle/>
          <a:p>
            <a:pPr indent="0" marL="0">
              <a:buNone/>
            </a:pPr>
            <a:r>
              <a:rPr lang="en-US" sz="1600" b="1" dirty="0">
                <a:solidFill>
                  <a:srgbClr val="FFFFFF"/>
                </a:solidFill>
                <a:latin typeface="Arial" pitchFamily="34" charset="0"/>
                <a:ea typeface="Arial" pitchFamily="34" charset="-122"/>
                <a:cs typeface="Arial" pitchFamily="34" charset="-120"/>
              </a:rPr>
              <a:t>Transcription</a:t>
            </a:r>
            <a:endParaRPr lang="en-US" sz="1600" dirty="0"/>
          </a:p>
        </p:txBody>
      </p:sp>
      <p:sp>
        <p:nvSpPr>
          <p:cNvPr id="24" name="Text 22"/>
          <p:cNvSpPr/>
          <p:nvPr/>
        </p:nvSpPr>
        <p:spPr>
          <a:xfrm>
            <a:off x="3666744" y="4946904"/>
            <a:ext cx="1975104" cy="521208"/>
          </a:xfrm>
          <a:prstGeom prst="rect">
            <a:avLst/>
          </a:prstGeom>
          <a:noFill/>
          <a:ln/>
        </p:spPr>
        <p:txBody>
          <a:bodyPr wrap="square" lIns="0" tIns="0" rIns="0" bIns="0" rtlCol="0" anchor="t">
            <a:normAutofit/>
          </a:bodyPr>
          <a:lstStyle/>
          <a:p>
            <a:pPr indent="0" marL="0">
              <a:buNone/>
            </a:pPr>
            <a:r>
              <a:rPr lang="en-US" sz="1150" dirty="0">
                <a:solidFill>
                  <a:srgbClr val="BDBDBD"/>
                </a:solidFill>
                <a:latin typeface="Arial" pitchFamily="34" charset="0"/>
                <a:ea typeface="Arial" pitchFamily="34" charset="-122"/>
                <a:cs typeface="Arial" pitchFamily="34" charset="-120"/>
              </a:rPr>
              <a:t>Text only</a:t>
            </a:r>
            <a:endParaRPr lang="en-US" sz="1150" dirty="0"/>
          </a:p>
        </p:txBody>
      </p:sp>
      <p:sp>
        <p:nvSpPr>
          <p:cNvPr id="25" name="Shape 23"/>
          <p:cNvSpPr/>
          <p:nvPr/>
        </p:nvSpPr>
        <p:spPr>
          <a:xfrm>
            <a:off x="5897880" y="4992624"/>
            <a:ext cx="438912" cy="0"/>
          </a:xfrm>
          <a:prstGeom prst="line">
            <a:avLst/>
          </a:prstGeom>
          <a:noFill/>
          <a:ln w="30480">
            <a:solidFill>
              <a:srgbClr val="FFFFFF"/>
            </a:solidFill>
            <a:prstDash val="solid"/>
            <a:tailEnd type="triangle"/>
          </a:ln>
        </p:spPr>
      </p:sp>
      <p:sp>
        <p:nvSpPr>
          <p:cNvPr id="26" name="Shape 24"/>
          <p:cNvSpPr/>
          <p:nvPr/>
        </p:nvSpPr>
        <p:spPr>
          <a:xfrm>
            <a:off x="6446520" y="4425696"/>
            <a:ext cx="2487168" cy="1143000"/>
          </a:xfrm>
          <a:prstGeom prst="roundRect">
            <a:avLst>
              <a:gd name="adj" fmla="val 4800"/>
            </a:avLst>
          </a:prstGeom>
          <a:solidFill>
            <a:srgbClr val="050505"/>
          </a:solidFill>
          <a:ln w="12700">
            <a:solidFill>
              <a:srgbClr val="2E2E2E"/>
            </a:solidFill>
            <a:prstDash val="solid"/>
          </a:ln>
        </p:spPr>
      </p:sp>
      <p:sp>
        <p:nvSpPr>
          <p:cNvPr id="27" name="Text 25"/>
          <p:cNvSpPr/>
          <p:nvPr/>
        </p:nvSpPr>
        <p:spPr>
          <a:xfrm>
            <a:off x="6611112" y="4590288"/>
            <a:ext cx="2157984" cy="310896"/>
          </a:xfrm>
          <a:prstGeom prst="rect">
            <a:avLst/>
          </a:prstGeom>
          <a:noFill/>
          <a:ln/>
        </p:spPr>
        <p:txBody>
          <a:bodyPr wrap="square" lIns="0" tIns="0" rIns="0" bIns="0" rtlCol="0" anchor="ctr">
            <a:normAutofit/>
          </a:bodyPr>
          <a:lstStyle/>
          <a:p>
            <a:pPr indent="0" marL="0">
              <a:buNone/>
            </a:pPr>
            <a:r>
              <a:rPr lang="en-US" sz="1600" b="1" dirty="0">
                <a:solidFill>
                  <a:srgbClr val="FFFFFF"/>
                </a:solidFill>
                <a:latin typeface="Arial" pitchFamily="34" charset="0"/>
                <a:ea typeface="Arial" pitchFamily="34" charset="-122"/>
                <a:cs typeface="Arial" pitchFamily="34" charset="-120"/>
              </a:rPr>
              <a:t>Explanation</a:t>
            </a:r>
            <a:endParaRPr lang="en-US" sz="1600" dirty="0"/>
          </a:p>
        </p:txBody>
      </p:sp>
      <p:sp>
        <p:nvSpPr>
          <p:cNvPr id="28" name="Text 26"/>
          <p:cNvSpPr/>
          <p:nvPr/>
        </p:nvSpPr>
        <p:spPr>
          <a:xfrm>
            <a:off x="6611112" y="4946904"/>
            <a:ext cx="2157984" cy="521208"/>
          </a:xfrm>
          <a:prstGeom prst="rect">
            <a:avLst/>
          </a:prstGeom>
          <a:noFill/>
          <a:ln/>
        </p:spPr>
        <p:txBody>
          <a:bodyPr wrap="square" lIns="0" tIns="0" rIns="0" bIns="0" rtlCol="0" anchor="t">
            <a:normAutofit/>
          </a:bodyPr>
          <a:lstStyle/>
          <a:p>
            <a:pPr indent="0" marL="0">
              <a:buNone/>
            </a:pPr>
            <a:r>
              <a:rPr lang="en-US" sz="1150" dirty="0">
                <a:solidFill>
                  <a:srgbClr val="BDBDBD"/>
                </a:solidFill>
                <a:latin typeface="Arial" pitchFamily="34" charset="0"/>
                <a:ea typeface="Arial" pitchFamily="34" charset="-122"/>
                <a:cs typeface="Arial" pitchFamily="34" charset="-120"/>
              </a:rPr>
              <a:t>Plain language</a:t>
            </a:r>
            <a:endParaRPr lang="en-US" sz="1150" dirty="0"/>
          </a:p>
        </p:txBody>
      </p:sp>
      <p:sp>
        <p:nvSpPr>
          <p:cNvPr id="29" name="Shape 27"/>
          <p:cNvSpPr/>
          <p:nvPr/>
        </p:nvSpPr>
        <p:spPr>
          <a:xfrm>
            <a:off x="9509760" y="2212848"/>
            <a:ext cx="1965960" cy="3355848"/>
          </a:xfrm>
          <a:prstGeom prst="roundRect">
            <a:avLst>
              <a:gd name="adj" fmla="val 3721"/>
            </a:avLst>
          </a:prstGeom>
          <a:solidFill>
            <a:srgbClr val="D6A66D"/>
          </a:solidFill>
          <a:ln w="12700">
            <a:solidFill>
              <a:srgbClr val="D6A66D"/>
            </a:solidFill>
            <a:prstDash val="solid"/>
          </a:ln>
        </p:spPr>
      </p:sp>
      <p:sp>
        <p:nvSpPr>
          <p:cNvPr id="30" name="Text 28"/>
          <p:cNvSpPr/>
          <p:nvPr/>
        </p:nvSpPr>
        <p:spPr>
          <a:xfrm>
            <a:off x="9811512" y="2651760"/>
            <a:ext cx="1371600" cy="1051560"/>
          </a:xfrm>
          <a:prstGeom prst="rect">
            <a:avLst/>
          </a:prstGeom>
          <a:noFill/>
          <a:ln/>
        </p:spPr>
        <p:txBody>
          <a:bodyPr wrap="square" lIns="0" tIns="0" rIns="0" bIns="0" rtlCol="0" anchor="ctr">
            <a:normAutofit/>
          </a:bodyPr>
          <a:lstStyle/>
          <a:p>
            <a:pPr algn="ctr" indent="0" marL="0">
              <a:buNone/>
            </a:pPr>
            <a:r>
              <a:rPr lang="en-US" sz="2200" b="1" dirty="0">
                <a:solidFill>
                  <a:srgbClr val="050505"/>
                </a:solidFill>
                <a:latin typeface="Arial" pitchFamily="34" charset="0"/>
                <a:ea typeface="Arial" pitchFamily="34" charset="-122"/>
                <a:cs typeface="Arial" pitchFamily="34" charset="-120"/>
              </a:rPr>
              <a:t>NO RAW</a:t>
            </a:r>
            <a:endParaRPr lang="en-US" sz="2200" dirty="0"/>
          </a:p>
          <a:p>
            <a:pPr algn="ctr" indent="0" marL="0">
              <a:buNone/>
            </a:pPr>
            <a:r>
              <a:rPr lang="en-US" sz="2200" b="1" dirty="0">
                <a:solidFill>
                  <a:srgbClr val="050505"/>
                </a:solidFill>
                <a:latin typeface="Arial" pitchFamily="34" charset="0"/>
                <a:ea typeface="Arial" pitchFamily="34" charset="-122"/>
                <a:cs typeface="Arial" pitchFamily="34" charset="-120"/>
              </a:rPr>
              <a:t>CAMERA</a:t>
            </a:r>
            <a:endParaRPr lang="en-US" sz="2200" dirty="0"/>
          </a:p>
          <a:p>
            <a:pPr algn="ctr" indent="0" marL="0">
              <a:buNone/>
            </a:pPr>
            <a:r>
              <a:rPr lang="en-US" sz="2200" b="1" dirty="0">
                <a:solidFill>
                  <a:srgbClr val="050505"/>
                </a:solidFill>
                <a:latin typeface="Arial" pitchFamily="34" charset="0"/>
                <a:ea typeface="Arial" pitchFamily="34" charset="-122"/>
                <a:cs typeface="Arial" pitchFamily="34" charset="-120"/>
              </a:rPr>
              <a:t>FRAMES</a:t>
            </a:r>
            <a:endParaRPr lang="en-US" sz="2200" dirty="0"/>
          </a:p>
        </p:txBody>
      </p:sp>
      <p:sp>
        <p:nvSpPr>
          <p:cNvPr id="31" name="Text 29"/>
          <p:cNvSpPr/>
          <p:nvPr/>
        </p:nvSpPr>
        <p:spPr>
          <a:xfrm>
            <a:off x="9811512" y="4224528"/>
            <a:ext cx="1371600" cy="548640"/>
          </a:xfrm>
          <a:prstGeom prst="rect">
            <a:avLst/>
          </a:prstGeom>
          <a:noFill/>
          <a:ln/>
        </p:spPr>
        <p:txBody>
          <a:bodyPr wrap="square" lIns="0" tIns="0" rIns="0" bIns="0" rtlCol="0" anchor="ctr">
            <a:normAutofit/>
          </a:bodyPr>
          <a:lstStyle/>
          <a:p>
            <a:pPr algn="ctr" indent="0" marL="0">
              <a:buNone/>
            </a:pPr>
            <a:r>
              <a:rPr lang="en-US" sz="1300" b="1" dirty="0">
                <a:solidFill>
                  <a:srgbClr val="050505"/>
                </a:solidFill>
                <a:latin typeface="Arial" pitchFamily="34" charset="0"/>
                <a:ea typeface="Arial" pitchFamily="34" charset="-122"/>
                <a:cs typeface="Arial" pitchFamily="34" charset="-120"/>
              </a:rPr>
              <a:t>No face mesh</a:t>
            </a:r>
            <a:endParaRPr lang="en-US" sz="1300" dirty="0"/>
          </a:p>
          <a:p>
            <a:pPr algn="ctr" indent="0" marL="0">
              <a:buNone/>
            </a:pPr>
            <a:r>
              <a:rPr lang="en-US" sz="1300" b="1" dirty="0">
                <a:solidFill>
                  <a:srgbClr val="050505"/>
                </a:solidFill>
                <a:latin typeface="Arial" pitchFamily="34" charset="0"/>
                <a:ea typeface="Arial" pitchFamily="34" charset="-122"/>
                <a:cs typeface="Arial" pitchFamily="34" charset="-120"/>
              </a:rPr>
              <a:t>sent to AI</a:t>
            </a:r>
            <a:endParaRPr lang="en-US" sz="1300" dirty="0"/>
          </a:p>
        </p:txBody>
      </p:sp>
      <p:sp>
        <p:nvSpPr>
          <p:cNvPr id="32" name="Text 30"/>
          <p:cNvSpPr/>
          <p:nvPr/>
        </p:nvSpPr>
        <p:spPr>
          <a:xfrm>
            <a:off x="11082528" y="6364224"/>
            <a:ext cx="438912" cy="182880"/>
          </a:xfrm>
          <a:prstGeom prst="rect">
            <a:avLst/>
          </a:prstGeom>
          <a:noFill/>
          <a:ln/>
        </p:spPr>
        <p:txBody>
          <a:bodyPr wrap="square" lIns="0" tIns="0" rIns="0" bIns="0" rtlCol="0" anchor="ctr">
            <a:normAutofit/>
          </a:bodyPr>
          <a:lstStyle/>
          <a:p>
            <a:pPr algn="r" indent="0" marL="0">
              <a:buNone/>
            </a:pPr>
            <a:r>
              <a:rPr lang="en-US" sz="1000" b="1" dirty="0">
                <a:solidFill>
                  <a:srgbClr val="BDBDBD"/>
                </a:solidFill>
                <a:latin typeface="Arial" pitchFamily="34" charset="0"/>
                <a:ea typeface="Arial" pitchFamily="34" charset="-122"/>
                <a:cs typeface="Arial" pitchFamily="34" charset="-120"/>
              </a:rPr>
              <a:t>06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7F4"/>
        </a:solidFill>
      </p:bgPr>
    </p:bg>
    <p:spTree>
      <p:nvGrpSpPr>
        <p:cNvPr id="1" name=""/>
        <p:cNvGrpSpPr/>
        <p:nvPr/>
      </p:nvGrpSpPr>
      <p:grpSpPr>
        <a:xfrm>
          <a:off x="0" y="0"/>
          <a:ext cx="0" cy="0"/>
          <a:chOff x="0" y="0"/>
          <a:chExt cx="0" cy="0"/>
        </a:xfrm>
      </p:grpSpPr>
      <p:sp>
        <p:nvSpPr>
          <p:cNvPr id="2" name="Text 0"/>
          <p:cNvSpPr/>
          <p:nvPr/>
        </p:nvSpPr>
        <p:spPr>
          <a:xfrm>
            <a:off x="658368" y="347472"/>
            <a:ext cx="3840480" cy="256032"/>
          </a:xfrm>
          <a:prstGeom prst="rect">
            <a:avLst/>
          </a:prstGeom>
          <a:noFill/>
          <a:ln/>
        </p:spPr>
        <p:txBody>
          <a:bodyPr wrap="square" lIns="0" tIns="0" rIns="0" bIns="0" rtlCol="0" anchor="ctr">
            <a:normAutofit/>
          </a:bodyPr>
          <a:lstStyle/>
          <a:p>
            <a:pPr indent="0" marL="0">
              <a:buNone/>
            </a:pPr>
            <a:r>
              <a:rPr lang="en-US" sz="1050" b="1" spc="260" kern="0" dirty="0">
                <a:solidFill>
                  <a:srgbClr val="757575"/>
                </a:solidFill>
                <a:latin typeface="Arial" pitchFamily="34" charset="0"/>
                <a:ea typeface="Arial" pitchFamily="34" charset="-122"/>
                <a:cs typeface="Arial" pitchFamily="34" charset="-120"/>
              </a:rPr>
              <a:t>WHY IT MATTERS</a:t>
            </a:r>
            <a:endParaRPr lang="en-US" sz="1050" dirty="0"/>
          </a:p>
        </p:txBody>
      </p:sp>
      <p:pic>
        <p:nvPicPr>
          <p:cNvPr id="3" name="Image 0" descr="Older woman holding a phone with a vision target in a remote community">    </p:cNvPr>
          <p:cNvPicPr>
            <a:picLocks noChangeAspect="1"/>
          </p:cNvPicPr>
          <p:nvPr/>
        </p:nvPicPr>
        <p:blipFill>
          <a:blip r:embed="rId1"/>
          <a:srcRect l="0" r="0" t="0" b="0"/>
          <a:stretch/>
        </p:blipFill>
        <p:spPr>
          <a:xfrm>
            <a:off x="6537960" y="0"/>
            <a:ext cx="5653735" cy="6858000"/>
          </a:xfrm>
          <a:prstGeom prst="rect">
            <a:avLst/>
          </a:prstGeom>
        </p:spPr>
      </p:pic>
      <p:sp>
        <p:nvSpPr>
          <p:cNvPr id="4" name="Shape 1"/>
          <p:cNvSpPr/>
          <p:nvPr/>
        </p:nvSpPr>
        <p:spPr>
          <a:xfrm>
            <a:off x="6263640" y="0"/>
            <a:ext cx="530352" cy="6858000"/>
          </a:xfrm>
          <a:prstGeom prst="rect">
            <a:avLst/>
          </a:prstGeom>
          <a:solidFill>
            <a:srgbClr val="F7F7F4"/>
          </a:solidFill>
          <a:ln w="12700">
            <a:solidFill>
              <a:srgbClr val="F7F7F4">
                <a:alpha val="0"/>
              </a:srgbClr>
            </a:solidFill>
            <a:prstDash val="solid"/>
          </a:ln>
        </p:spPr>
      </p:sp>
      <p:sp>
        <p:nvSpPr>
          <p:cNvPr id="5" name="Text 2"/>
          <p:cNvSpPr/>
          <p:nvPr/>
        </p:nvSpPr>
        <p:spPr>
          <a:xfrm>
            <a:off x="658368" y="1078992"/>
            <a:ext cx="5303520" cy="1207008"/>
          </a:xfrm>
          <a:prstGeom prst="rect">
            <a:avLst/>
          </a:prstGeom>
          <a:noFill/>
          <a:ln/>
        </p:spPr>
        <p:txBody>
          <a:bodyPr wrap="square" lIns="0" tIns="0" rIns="0" bIns="0" rtlCol="0" anchor="ctr">
            <a:normAutofit/>
          </a:bodyPr>
          <a:lstStyle/>
          <a:p>
            <a:pPr indent="0" marL="0">
              <a:lnSpc>
                <a:spcPct val="92000"/>
              </a:lnSpc>
              <a:buNone/>
            </a:pPr>
            <a:r>
              <a:rPr lang="en-US" sz="4000" b="1" dirty="0">
                <a:solidFill>
                  <a:srgbClr val="111111"/>
                </a:solidFill>
                <a:latin typeface="Arial" pitchFamily="34" charset="0"/>
                <a:ea typeface="Arial" pitchFamily="34" charset="-122"/>
                <a:cs typeface="Arial" pitchFamily="34" charset="-120"/>
              </a:rPr>
              <a:t>Access begins with what</a:t>
            </a:r>
            <a:endParaRPr lang="en-US" sz="4000" dirty="0"/>
          </a:p>
          <a:p>
            <a:pPr indent="0" marL="0">
              <a:lnSpc>
                <a:spcPct val="92000"/>
              </a:lnSpc>
              <a:buNone/>
            </a:pPr>
            <a:r>
              <a:rPr lang="en-US" sz="4000" b="1" dirty="0">
                <a:solidFill>
                  <a:srgbClr val="111111"/>
                </a:solidFill>
                <a:latin typeface="Arial" pitchFamily="34" charset="0"/>
                <a:ea typeface="Arial" pitchFamily="34" charset="-122"/>
                <a:cs typeface="Arial" pitchFamily="34" charset="-120"/>
              </a:rPr>
              <a:t>people already have.</a:t>
            </a:r>
            <a:endParaRPr lang="en-US" sz="4000" dirty="0"/>
          </a:p>
        </p:txBody>
      </p:sp>
      <p:sp>
        <p:nvSpPr>
          <p:cNvPr id="6" name="Text 3"/>
          <p:cNvSpPr/>
          <p:nvPr/>
        </p:nvSpPr>
        <p:spPr>
          <a:xfrm>
            <a:off x="685800" y="2587752"/>
            <a:ext cx="4937760" cy="329184"/>
          </a:xfrm>
          <a:prstGeom prst="rect">
            <a:avLst/>
          </a:prstGeom>
          <a:noFill/>
          <a:ln/>
        </p:spPr>
        <p:txBody>
          <a:bodyPr wrap="square" lIns="0" tIns="0" rIns="0" bIns="0" rtlCol="0" anchor="ctr">
            <a:normAutofit/>
          </a:bodyPr>
          <a:lstStyle/>
          <a:p>
            <a:pPr indent="0" marL="0">
              <a:buNone/>
            </a:pPr>
            <a:r>
              <a:rPr lang="en-US" sz="1800" dirty="0">
                <a:solidFill>
                  <a:srgbClr val="757575"/>
                </a:solidFill>
                <a:latin typeface="Arial" pitchFamily="34" charset="0"/>
                <a:ea typeface="Arial" pitchFamily="34" charset="-122"/>
                <a:cs typeface="Arial" pitchFamily="34" charset="-120"/>
              </a:rPr>
              <a:t>A phone. A voice. A clear next step.</a:t>
            </a:r>
            <a:endParaRPr lang="en-US" sz="1800" dirty="0"/>
          </a:p>
        </p:txBody>
      </p:sp>
      <p:sp>
        <p:nvSpPr>
          <p:cNvPr id="7" name="Shape 4"/>
          <p:cNvSpPr/>
          <p:nvPr/>
        </p:nvSpPr>
        <p:spPr>
          <a:xfrm>
            <a:off x="685800" y="3968496"/>
            <a:ext cx="1527048" cy="1115568"/>
          </a:xfrm>
          <a:prstGeom prst="roundRect">
            <a:avLst>
              <a:gd name="adj" fmla="val 4918"/>
            </a:avLst>
          </a:prstGeom>
          <a:solidFill>
            <a:srgbClr val="FFFFFF"/>
          </a:solidFill>
          <a:ln w="12700">
            <a:solidFill>
              <a:srgbClr val="D8D8D5"/>
            </a:solidFill>
            <a:prstDash val="solid"/>
          </a:ln>
        </p:spPr>
      </p:sp>
      <p:sp>
        <p:nvSpPr>
          <p:cNvPr id="8" name="Text 5"/>
          <p:cNvSpPr/>
          <p:nvPr/>
        </p:nvSpPr>
        <p:spPr>
          <a:xfrm>
            <a:off x="850392" y="4133088"/>
            <a:ext cx="365760" cy="182880"/>
          </a:xfrm>
          <a:prstGeom prst="rect">
            <a:avLst/>
          </a:prstGeom>
          <a:noFill/>
          <a:ln/>
        </p:spPr>
        <p:txBody>
          <a:bodyPr wrap="square" lIns="0" tIns="0" rIns="0" bIns="0" rtlCol="0" anchor="ctr">
            <a:normAutofit/>
          </a:bodyPr>
          <a:lstStyle/>
          <a:p>
            <a:pPr indent="0" marL="0">
              <a:buNone/>
            </a:pPr>
            <a:r>
              <a:rPr lang="en-US" sz="950" b="1" dirty="0">
                <a:solidFill>
                  <a:srgbClr val="D6A66D"/>
                </a:solidFill>
                <a:latin typeface="Arial" pitchFamily="34" charset="0"/>
                <a:ea typeface="Arial" pitchFamily="34" charset="-122"/>
                <a:cs typeface="Arial" pitchFamily="34" charset="-120"/>
              </a:rPr>
              <a:t>01</a:t>
            </a:r>
            <a:endParaRPr lang="en-US" sz="950" dirty="0"/>
          </a:p>
        </p:txBody>
      </p:sp>
      <p:sp>
        <p:nvSpPr>
          <p:cNvPr id="9" name="Text 6"/>
          <p:cNvSpPr/>
          <p:nvPr/>
        </p:nvSpPr>
        <p:spPr>
          <a:xfrm>
            <a:off x="850392" y="4489704"/>
            <a:ext cx="1234440" cy="274320"/>
          </a:xfrm>
          <a:prstGeom prst="rect">
            <a:avLst/>
          </a:prstGeom>
          <a:noFill/>
          <a:ln/>
        </p:spPr>
        <p:txBody>
          <a:bodyPr wrap="square" lIns="0" tIns="0" rIns="0" bIns="0" rtlCol="0" anchor="ctr">
            <a:normAutofit/>
          </a:bodyPr>
          <a:lstStyle/>
          <a:p>
            <a:pPr indent="0" marL="0">
              <a:buNone/>
            </a:pPr>
            <a:r>
              <a:rPr lang="en-US" sz="1550" b="1" dirty="0">
                <a:solidFill>
                  <a:srgbClr val="111111"/>
                </a:solidFill>
                <a:latin typeface="Arial" pitchFamily="34" charset="0"/>
                <a:ea typeface="Arial" pitchFamily="34" charset="-122"/>
                <a:cs typeface="Arial" pitchFamily="34" charset="-120"/>
              </a:rPr>
              <a:t>Independent</a:t>
            </a:r>
            <a:endParaRPr lang="en-US" sz="1550" dirty="0"/>
          </a:p>
        </p:txBody>
      </p:sp>
      <p:sp>
        <p:nvSpPr>
          <p:cNvPr id="10" name="Shape 7"/>
          <p:cNvSpPr/>
          <p:nvPr/>
        </p:nvSpPr>
        <p:spPr>
          <a:xfrm>
            <a:off x="2450592" y="3968496"/>
            <a:ext cx="1527048" cy="1115568"/>
          </a:xfrm>
          <a:prstGeom prst="roundRect">
            <a:avLst>
              <a:gd name="adj" fmla="val 4918"/>
            </a:avLst>
          </a:prstGeom>
          <a:solidFill>
            <a:srgbClr val="050505"/>
          </a:solidFill>
          <a:ln w="12700">
            <a:solidFill>
              <a:srgbClr val="050505"/>
            </a:solidFill>
            <a:prstDash val="solid"/>
          </a:ln>
          <a:effectLst>
            <a:outerShdw sx="100000" sy="100000" kx="0" ky="0" algn="bl" rotWithShape="0" blurRad="114300" dist="25400" dir="2700000">
              <a:srgbClr val="000000">
                <a:alpha val="18000"/>
              </a:srgbClr>
            </a:outerShdw>
          </a:effectLst>
        </p:spPr>
      </p:sp>
      <p:sp>
        <p:nvSpPr>
          <p:cNvPr id="11" name="Text 8"/>
          <p:cNvSpPr/>
          <p:nvPr/>
        </p:nvSpPr>
        <p:spPr>
          <a:xfrm>
            <a:off x="2615184" y="4133088"/>
            <a:ext cx="365760" cy="182880"/>
          </a:xfrm>
          <a:prstGeom prst="rect">
            <a:avLst/>
          </a:prstGeom>
          <a:noFill/>
          <a:ln/>
        </p:spPr>
        <p:txBody>
          <a:bodyPr wrap="square" lIns="0" tIns="0" rIns="0" bIns="0" rtlCol="0" anchor="ctr">
            <a:normAutofit/>
          </a:bodyPr>
          <a:lstStyle/>
          <a:p>
            <a:pPr indent="0" marL="0">
              <a:buNone/>
            </a:pPr>
            <a:r>
              <a:rPr lang="en-US" sz="950" b="1" dirty="0">
                <a:solidFill>
                  <a:srgbClr val="D6A66D"/>
                </a:solidFill>
                <a:latin typeface="Arial" pitchFamily="34" charset="0"/>
                <a:ea typeface="Arial" pitchFamily="34" charset="-122"/>
                <a:cs typeface="Arial" pitchFamily="34" charset="-120"/>
              </a:rPr>
              <a:t>02</a:t>
            </a:r>
            <a:endParaRPr lang="en-US" sz="950" dirty="0"/>
          </a:p>
        </p:txBody>
      </p:sp>
      <p:sp>
        <p:nvSpPr>
          <p:cNvPr id="12" name="Text 9"/>
          <p:cNvSpPr/>
          <p:nvPr/>
        </p:nvSpPr>
        <p:spPr>
          <a:xfrm>
            <a:off x="2615184" y="4489704"/>
            <a:ext cx="1234440" cy="274320"/>
          </a:xfrm>
          <a:prstGeom prst="rect">
            <a:avLst/>
          </a:prstGeom>
          <a:noFill/>
          <a:ln/>
        </p:spPr>
        <p:txBody>
          <a:bodyPr wrap="square" lIns="0" tIns="0" rIns="0" bIns="0" rtlCol="0" anchor="ctr">
            <a:normAutofit/>
          </a:bodyPr>
          <a:lstStyle/>
          <a:p>
            <a:pPr indent="0" marL="0">
              <a:buNone/>
            </a:pPr>
            <a:r>
              <a:rPr lang="en-US" sz="1550" b="1" dirty="0">
                <a:solidFill>
                  <a:srgbClr val="FFFFFF"/>
                </a:solidFill>
                <a:latin typeface="Arial" pitchFamily="34" charset="0"/>
                <a:ea typeface="Arial" pitchFamily="34" charset="-122"/>
                <a:cs typeface="Arial" pitchFamily="34" charset="-120"/>
              </a:rPr>
              <a:t>Approachable</a:t>
            </a:r>
            <a:endParaRPr lang="en-US" sz="1550" dirty="0"/>
          </a:p>
        </p:txBody>
      </p:sp>
      <p:sp>
        <p:nvSpPr>
          <p:cNvPr id="13" name="Shape 10"/>
          <p:cNvSpPr/>
          <p:nvPr/>
        </p:nvSpPr>
        <p:spPr>
          <a:xfrm>
            <a:off x="4215384" y="3968496"/>
            <a:ext cx="1527048" cy="1115568"/>
          </a:xfrm>
          <a:prstGeom prst="roundRect">
            <a:avLst>
              <a:gd name="adj" fmla="val 4918"/>
            </a:avLst>
          </a:prstGeom>
          <a:solidFill>
            <a:srgbClr val="FFFFFF"/>
          </a:solidFill>
          <a:ln w="12700">
            <a:solidFill>
              <a:srgbClr val="D8D8D5"/>
            </a:solidFill>
            <a:prstDash val="solid"/>
          </a:ln>
        </p:spPr>
      </p:sp>
      <p:sp>
        <p:nvSpPr>
          <p:cNvPr id="14" name="Text 11"/>
          <p:cNvSpPr/>
          <p:nvPr/>
        </p:nvSpPr>
        <p:spPr>
          <a:xfrm>
            <a:off x="4379976" y="4133088"/>
            <a:ext cx="365760" cy="182880"/>
          </a:xfrm>
          <a:prstGeom prst="rect">
            <a:avLst/>
          </a:prstGeom>
          <a:noFill/>
          <a:ln/>
        </p:spPr>
        <p:txBody>
          <a:bodyPr wrap="square" lIns="0" tIns="0" rIns="0" bIns="0" rtlCol="0" anchor="ctr">
            <a:normAutofit/>
          </a:bodyPr>
          <a:lstStyle/>
          <a:p>
            <a:pPr indent="0" marL="0">
              <a:buNone/>
            </a:pPr>
            <a:r>
              <a:rPr lang="en-US" sz="950" b="1" dirty="0">
                <a:solidFill>
                  <a:srgbClr val="D6A66D"/>
                </a:solidFill>
                <a:latin typeface="Arial" pitchFamily="34" charset="0"/>
                <a:ea typeface="Arial" pitchFamily="34" charset="-122"/>
                <a:cs typeface="Arial" pitchFamily="34" charset="-120"/>
              </a:rPr>
              <a:t>03</a:t>
            </a:r>
            <a:endParaRPr lang="en-US" sz="950" dirty="0"/>
          </a:p>
        </p:txBody>
      </p:sp>
      <p:sp>
        <p:nvSpPr>
          <p:cNvPr id="15" name="Text 12"/>
          <p:cNvSpPr/>
          <p:nvPr/>
        </p:nvSpPr>
        <p:spPr>
          <a:xfrm>
            <a:off x="4379976" y="4489704"/>
            <a:ext cx="1234440" cy="274320"/>
          </a:xfrm>
          <a:prstGeom prst="rect">
            <a:avLst/>
          </a:prstGeom>
          <a:noFill/>
          <a:ln/>
        </p:spPr>
        <p:txBody>
          <a:bodyPr wrap="square" lIns="0" tIns="0" rIns="0" bIns="0" rtlCol="0" anchor="ctr">
            <a:normAutofit/>
          </a:bodyPr>
          <a:lstStyle/>
          <a:p>
            <a:pPr indent="0" marL="0">
              <a:buNone/>
            </a:pPr>
            <a:r>
              <a:rPr lang="en-US" sz="1550" b="1" dirty="0">
                <a:solidFill>
                  <a:srgbClr val="111111"/>
                </a:solidFill>
                <a:latin typeface="Arial" pitchFamily="34" charset="0"/>
                <a:ea typeface="Arial" pitchFamily="34" charset="-122"/>
                <a:cs typeface="Arial" pitchFamily="34" charset="-120"/>
              </a:rPr>
              <a:t>Actionable</a:t>
            </a:r>
            <a:endParaRPr lang="en-US" sz="1550" dirty="0"/>
          </a:p>
        </p:txBody>
      </p:sp>
      <p:sp>
        <p:nvSpPr>
          <p:cNvPr id="16" name="Text 13"/>
          <p:cNvSpPr/>
          <p:nvPr/>
        </p:nvSpPr>
        <p:spPr>
          <a:xfrm>
            <a:off x="11082528" y="6364224"/>
            <a:ext cx="438912" cy="182880"/>
          </a:xfrm>
          <a:prstGeom prst="rect">
            <a:avLst/>
          </a:prstGeom>
          <a:noFill/>
          <a:ln/>
        </p:spPr>
        <p:txBody>
          <a:bodyPr wrap="square" lIns="0" tIns="0" rIns="0" bIns="0" rtlCol="0" anchor="ctr">
            <a:normAutofit/>
          </a:bodyPr>
          <a:lstStyle/>
          <a:p>
            <a:pPr algn="r" indent="0" marL="0">
              <a:buNone/>
            </a:pPr>
            <a:r>
              <a:rPr lang="en-US" sz="1000" b="1" dirty="0">
                <a:solidFill>
                  <a:srgbClr val="757575"/>
                </a:solidFill>
                <a:latin typeface="Arial" pitchFamily="34" charset="0"/>
                <a:ea typeface="Arial" pitchFamily="34" charset="-122"/>
                <a:cs typeface="Arial" pitchFamily="34" charset="-120"/>
              </a:rPr>
              <a:t>07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00000"/>
        </a:solidFill>
      </p:bgPr>
    </p:bg>
    <p:spTree>
      <p:nvGrpSpPr>
        <p:cNvPr id="1" name=""/>
        <p:cNvGrpSpPr/>
        <p:nvPr/>
      </p:nvGrpSpPr>
      <p:grpSpPr>
        <a:xfrm>
          <a:off x="0" y="0"/>
          <a:ext cx="0" cy="0"/>
          <a:chOff x="0" y="0"/>
          <a:chExt cx="0" cy="0"/>
        </a:xfrm>
      </p:grpSpPr>
      <p:pic>
        <p:nvPicPr>
          <p:cNvPr id="2" name="Image 0" descr="SeeNA app icon">    </p:cNvPr>
          <p:cNvPicPr>
            <a:picLocks noChangeAspect="1"/>
          </p:cNvPicPr>
          <p:nvPr/>
        </p:nvPicPr>
        <p:blipFill>
          <a:blip r:embed="rId1"/>
          <a:srcRect l="0" r="0" t="0" b="0"/>
          <a:stretch/>
        </p:blipFill>
        <p:spPr>
          <a:xfrm>
            <a:off x="713232" y="566928"/>
            <a:ext cx="987552" cy="987552"/>
          </a:xfrm>
          <a:prstGeom prst="rect">
            <a:avLst/>
          </a:prstGeom>
        </p:spPr>
      </p:pic>
      <p:sp>
        <p:nvSpPr>
          <p:cNvPr id="3" name="Shape 0"/>
          <p:cNvSpPr/>
          <p:nvPr/>
        </p:nvSpPr>
        <p:spPr>
          <a:xfrm>
            <a:off x="9189720" y="640080"/>
            <a:ext cx="2286000" cy="384048"/>
          </a:xfrm>
          <a:prstGeom prst="roundRect">
            <a:avLst>
              <a:gd name="adj" fmla="val 19048"/>
            </a:avLst>
          </a:prstGeom>
          <a:solidFill>
            <a:srgbClr val="FFFFFF"/>
          </a:solidFill>
          <a:ln w="10160">
            <a:solidFill>
              <a:srgbClr val="FFFFFF"/>
            </a:solidFill>
            <a:prstDash val="solid"/>
          </a:ln>
        </p:spPr>
      </p:sp>
      <p:sp>
        <p:nvSpPr>
          <p:cNvPr id="4" name="Text 1"/>
          <p:cNvSpPr/>
          <p:nvPr/>
        </p:nvSpPr>
        <p:spPr>
          <a:xfrm>
            <a:off x="9189720" y="658368"/>
            <a:ext cx="2286000" cy="301752"/>
          </a:xfrm>
          <a:prstGeom prst="rect">
            <a:avLst/>
          </a:prstGeom>
          <a:noFill/>
          <a:ln/>
        </p:spPr>
        <p:txBody>
          <a:bodyPr wrap="square" lIns="0" tIns="0" rIns="0" bIns="0" rtlCol="0" anchor="ctr">
            <a:normAutofit/>
          </a:bodyPr>
          <a:lstStyle/>
          <a:p>
            <a:pPr algn="ctr" indent="0" marL="0">
              <a:buNone/>
            </a:pPr>
            <a:r>
              <a:rPr lang="en-US" sz="1250" b="1" spc="20" kern="0" dirty="0">
                <a:solidFill>
                  <a:srgbClr val="050505"/>
                </a:solidFill>
                <a:latin typeface="Arial" pitchFamily="34" charset="0"/>
                <a:ea typeface="Arial" pitchFamily="34" charset="-122"/>
                <a:cs typeface="Arial" pitchFamily="34" charset="-120"/>
              </a:rPr>
              <a:t>SYNCS HACKATHON 2026</a:t>
            </a:r>
            <a:endParaRPr lang="en-US" sz="1250" dirty="0"/>
          </a:p>
        </p:txBody>
      </p:sp>
      <p:sp>
        <p:nvSpPr>
          <p:cNvPr id="5" name="Text 2"/>
          <p:cNvSpPr/>
          <p:nvPr/>
        </p:nvSpPr>
        <p:spPr>
          <a:xfrm>
            <a:off x="713232" y="1828800"/>
            <a:ext cx="8138160" cy="1508760"/>
          </a:xfrm>
          <a:prstGeom prst="rect">
            <a:avLst/>
          </a:prstGeom>
          <a:noFill/>
          <a:ln/>
        </p:spPr>
        <p:txBody>
          <a:bodyPr wrap="square" lIns="0" tIns="0" rIns="0" bIns="0" rtlCol="0" anchor="ctr">
            <a:normAutofit/>
          </a:bodyPr>
          <a:lstStyle/>
          <a:p>
            <a:pPr indent="0" marL="0">
              <a:lnSpc>
                <a:spcPct val="90000"/>
              </a:lnSpc>
              <a:buNone/>
            </a:pPr>
            <a:r>
              <a:rPr lang="en-US" sz="4400" b="1" dirty="0">
                <a:solidFill>
                  <a:srgbClr val="FFFFFF"/>
                </a:solidFill>
                <a:latin typeface="Arial" pitchFamily="34" charset="0"/>
                <a:ea typeface="Arial" pitchFamily="34" charset="-122"/>
                <a:cs typeface="Arial" pitchFamily="34" charset="-120"/>
              </a:rPr>
              <a:t>A first step toward clarity.</a:t>
            </a:r>
            <a:endParaRPr lang="en-US" sz="4400" dirty="0"/>
          </a:p>
          <a:p>
            <a:pPr indent="0" marL="0">
              <a:lnSpc>
                <a:spcPct val="90000"/>
              </a:lnSpc>
              <a:buNone/>
            </a:pPr>
            <a:r>
              <a:rPr lang="en-US" sz="4400" b="1" dirty="0">
                <a:solidFill>
                  <a:srgbClr val="FFFFFF"/>
                </a:solidFill>
                <a:latin typeface="Arial" pitchFamily="34" charset="0"/>
                <a:ea typeface="Arial" pitchFamily="34" charset="-122"/>
                <a:cs typeface="Arial" pitchFamily="34" charset="-120"/>
              </a:rPr>
              <a:t>For anyone, anywhere.</a:t>
            </a:r>
            <a:endParaRPr lang="en-US" sz="4400" dirty="0"/>
          </a:p>
        </p:txBody>
      </p:sp>
      <p:sp>
        <p:nvSpPr>
          <p:cNvPr id="6" name="Text 3"/>
          <p:cNvSpPr/>
          <p:nvPr/>
        </p:nvSpPr>
        <p:spPr>
          <a:xfrm>
            <a:off x="731520" y="3749040"/>
            <a:ext cx="2011680" cy="530352"/>
          </a:xfrm>
          <a:prstGeom prst="rect">
            <a:avLst/>
          </a:prstGeom>
          <a:noFill/>
          <a:ln/>
        </p:spPr>
        <p:txBody>
          <a:bodyPr wrap="square" lIns="0" tIns="0" rIns="0" bIns="0" rtlCol="0" anchor="ctr">
            <a:normAutofit/>
          </a:bodyPr>
          <a:lstStyle/>
          <a:p>
            <a:pPr indent="0" marL="0">
              <a:buNone/>
            </a:pPr>
            <a:r>
              <a:rPr lang="en-US" sz="3300" b="1" dirty="0">
                <a:solidFill>
                  <a:srgbClr val="D6A66D"/>
                </a:solidFill>
                <a:latin typeface="Arial" pitchFamily="34" charset="0"/>
                <a:ea typeface="Arial" pitchFamily="34" charset="-122"/>
                <a:cs typeface="Arial" pitchFamily="34" charset="-120"/>
              </a:rPr>
              <a:t>SeeNA</a:t>
            </a:r>
            <a:endParaRPr lang="en-US" sz="3300" dirty="0"/>
          </a:p>
        </p:txBody>
      </p:sp>
      <p:sp>
        <p:nvSpPr>
          <p:cNvPr id="7" name="Text 4"/>
          <p:cNvSpPr/>
          <p:nvPr/>
        </p:nvSpPr>
        <p:spPr>
          <a:xfrm>
            <a:off x="749808" y="4315968"/>
            <a:ext cx="3017520" cy="292608"/>
          </a:xfrm>
          <a:prstGeom prst="rect">
            <a:avLst/>
          </a:prstGeom>
          <a:noFill/>
          <a:ln/>
        </p:spPr>
        <p:txBody>
          <a:bodyPr wrap="square" lIns="0" tIns="0" rIns="0" bIns="0" rtlCol="0" anchor="ctr">
            <a:normAutofit/>
          </a:bodyPr>
          <a:lstStyle/>
          <a:p>
            <a:pPr indent="0" marL="0">
              <a:buNone/>
            </a:pPr>
            <a:r>
              <a:rPr lang="en-US" sz="1600" dirty="0">
                <a:solidFill>
                  <a:srgbClr val="BDBDBD"/>
                </a:solidFill>
                <a:latin typeface="Arial" pitchFamily="34" charset="0"/>
                <a:ea typeface="Arial" pitchFamily="34" charset="-122"/>
                <a:cs typeface="Arial" pitchFamily="34" charset="-120"/>
              </a:rPr>
              <a:t>See Now and Always</a:t>
            </a:r>
            <a:endParaRPr lang="en-US" sz="1600" dirty="0"/>
          </a:p>
        </p:txBody>
      </p:sp>
      <p:sp>
        <p:nvSpPr>
          <p:cNvPr id="8" name="Shape 5"/>
          <p:cNvSpPr/>
          <p:nvPr/>
        </p:nvSpPr>
        <p:spPr>
          <a:xfrm>
            <a:off x="731520" y="5138928"/>
            <a:ext cx="10744200" cy="0"/>
          </a:xfrm>
          <a:prstGeom prst="line">
            <a:avLst/>
          </a:prstGeom>
          <a:noFill/>
          <a:ln w="12700">
            <a:solidFill>
              <a:srgbClr val="2B2B2B"/>
            </a:solidFill>
            <a:prstDash val="solid"/>
          </a:ln>
        </p:spPr>
      </p:sp>
      <p:sp>
        <p:nvSpPr>
          <p:cNvPr id="9" name="Text 6"/>
          <p:cNvSpPr/>
          <p:nvPr/>
        </p:nvSpPr>
        <p:spPr>
          <a:xfrm>
            <a:off x="731520" y="5532120"/>
            <a:ext cx="2286000" cy="274320"/>
          </a:xfrm>
          <a:prstGeom prst="rect">
            <a:avLst/>
          </a:prstGeom>
          <a:noFill/>
          <a:ln/>
        </p:spPr>
        <p:txBody>
          <a:bodyPr wrap="square" lIns="0" tIns="0" rIns="0" bIns="0" rtlCol="0" anchor="ctr">
            <a:normAutofit/>
          </a:bodyPr>
          <a:lstStyle/>
          <a:p>
            <a:pPr indent="0" marL="0">
              <a:buNone/>
            </a:pPr>
            <a:r>
              <a:rPr lang="en-US" sz="1400" b="1" dirty="0">
                <a:solidFill>
                  <a:srgbClr val="FFFFFF"/>
                </a:solidFill>
                <a:latin typeface="Arial" pitchFamily="34" charset="0"/>
                <a:ea typeface="Arial" pitchFamily="34" charset="-122"/>
                <a:cs typeface="Arial" pitchFamily="34" charset="-120"/>
              </a:rPr>
              <a:t>Karthik Ramesh</a:t>
            </a:r>
            <a:endParaRPr lang="en-US" sz="1400" dirty="0"/>
          </a:p>
        </p:txBody>
      </p:sp>
      <p:sp>
        <p:nvSpPr>
          <p:cNvPr id="10" name="Text 7"/>
          <p:cNvSpPr/>
          <p:nvPr/>
        </p:nvSpPr>
        <p:spPr>
          <a:xfrm>
            <a:off x="3401568" y="5532120"/>
            <a:ext cx="2468880" cy="274320"/>
          </a:xfrm>
          <a:prstGeom prst="rect">
            <a:avLst/>
          </a:prstGeom>
          <a:noFill/>
          <a:ln/>
        </p:spPr>
        <p:txBody>
          <a:bodyPr wrap="square" lIns="0" tIns="0" rIns="0" bIns="0" rtlCol="0" anchor="ctr">
            <a:normAutofit/>
          </a:bodyPr>
          <a:lstStyle/>
          <a:p>
            <a:pPr indent="0" marL="0">
              <a:buNone/>
            </a:pPr>
            <a:r>
              <a:rPr lang="en-US" sz="1400" b="1" dirty="0">
                <a:solidFill>
                  <a:srgbClr val="FFFFFF"/>
                </a:solidFill>
                <a:latin typeface="Arial" pitchFamily="34" charset="0"/>
                <a:ea typeface="Arial" pitchFamily="34" charset="-122"/>
                <a:cs typeface="Arial" pitchFamily="34" charset="-120"/>
              </a:rPr>
              <a:t>Kishore Srinivasan</a:t>
            </a:r>
            <a:endParaRPr lang="en-US" sz="1400" dirty="0"/>
          </a:p>
        </p:txBody>
      </p:sp>
      <p:sp>
        <p:nvSpPr>
          <p:cNvPr id="11" name="Text 8"/>
          <p:cNvSpPr/>
          <p:nvPr/>
        </p:nvSpPr>
        <p:spPr>
          <a:xfrm>
            <a:off x="6327648" y="5532120"/>
            <a:ext cx="2286000" cy="274320"/>
          </a:xfrm>
          <a:prstGeom prst="rect">
            <a:avLst/>
          </a:prstGeom>
          <a:noFill/>
          <a:ln/>
        </p:spPr>
        <p:txBody>
          <a:bodyPr wrap="square" lIns="0" tIns="0" rIns="0" bIns="0" rtlCol="0" anchor="ctr">
            <a:normAutofit/>
          </a:bodyPr>
          <a:lstStyle/>
          <a:p>
            <a:pPr indent="0" marL="0">
              <a:buNone/>
            </a:pPr>
            <a:r>
              <a:rPr lang="en-US" sz="1400" b="1" dirty="0">
                <a:solidFill>
                  <a:srgbClr val="FFFFFF"/>
                </a:solidFill>
                <a:latin typeface="Arial" pitchFamily="34" charset="0"/>
                <a:ea typeface="Arial" pitchFamily="34" charset="-122"/>
                <a:cs typeface="Arial" pitchFamily="34" charset="-120"/>
              </a:rPr>
              <a:t>Suryateja Challa</a:t>
            </a:r>
            <a:endParaRPr lang="en-US" sz="1400" dirty="0"/>
          </a:p>
        </p:txBody>
      </p:sp>
      <p:sp>
        <p:nvSpPr>
          <p:cNvPr id="12" name="Text 9"/>
          <p:cNvSpPr/>
          <p:nvPr/>
        </p:nvSpPr>
        <p:spPr>
          <a:xfrm>
            <a:off x="9107424" y="5532120"/>
            <a:ext cx="2011680" cy="274320"/>
          </a:xfrm>
          <a:prstGeom prst="rect">
            <a:avLst/>
          </a:prstGeom>
          <a:noFill/>
          <a:ln/>
        </p:spPr>
        <p:txBody>
          <a:bodyPr wrap="square" lIns="0" tIns="0" rIns="0" bIns="0" rtlCol="0" anchor="ctr">
            <a:normAutofit/>
          </a:bodyPr>
          <a:lstStyle/>
          <a:p>
            <a:pPr indent="0" marL="0">
              <a:buNone/>
            </a:pPr>
            <a:r>
              <a:rPr lang="en-US" sz="1400" b="1" dirty="0">
                <a:solidFill>
                  <a:srgbClr val="FFFFFF"/>
                </a:solidFill>
                <a:latin typeface="Arial" pitchFamily="34" charset="0"/>
                <a:ea typeface="Arial" pitchFamily="34" charset="-122"/>
                <a:cs typeface="Arial" pitchFamily="34" charset="-120"/>
              </a:rPr>
              <a:t>Sujan Ramesh</a:t>
            </a:r>
            <a:endParaRPr lang="en-US" sz="1400" dirty="0"/>
          </a:p>
        </p:txBody>
      </p:sp>
      <p:sp>
        <p:nvSpPr>
          <p:cNvPr id="13" name="Text 10"/>
          <p:cNvSpPr/>
          <p:nvPr/>
        </p:nvSpPr>
        <p:spPr>
          <a:xfrm>
            <a:off x="6967728" y="3913632"/>
            <a:ext cx="4480560" cy="585216"/>
          </a:xfrm>
          <a:prstGeom prst="rect">
            <a:avLst/>
          </a:prstGeom>
          <a:noFill/>
          <a:ln/>
        </p:spPr>
        <p:txBody>
          <a:bodyPr wrap="square" lIns="0" tIns="0" rIns="0" bIns="0" rtlCol="0" anchor="ctr">
            <a:normAutofit/>
          </a:bodyPr>
          <a:lstStyle/>
          <a:p>
            <a:pPr algn="r" indent="0" marL="0">
              <a:buNone/>
            </a:pPr>
            <a:r>
              <a:rPr lang="en-US" sz="2000" b="1" dirty="0">
                <a:solidFill>
                  <a:srgbClr val="FFFFFF"/>
                </a:solidFill>
                <a:latin typeface="Arial" pitchFamily="34" charset="0"/>
                <a:ea typeface="Arial" pitchFamily="34" charset="-122"/>
                <a:cs typeface="Arial" pitchFamily="34" charset="-120"/>
              </a:rPr>
              <a:t>Because everyone deserves to see their world, now and always.</a:t>
            </a:r>
            <a:endParaRPr lang="en-US" sz="2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SeeNA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SeeNA: See Now and Always</dc:title>
  <dc:subject>Syncs Hackathon 2026 product pitch</dc:subject>
  <dc:creator>Karthik Ramesh, Kishore Srinivasan, Suryateja Challa, Sujan Ramesh</dc:creator>
  <cp:lastModifiedBy>Karthik Ramesh, Kishore Srinivasan, Suryateja Challa, Sujan Ramesh</cp:lastModifiedBy>
  <cp:revision>1</cp:revision>
  <dcterms:created xsi:type="dcterms:W3CDTF">2026-08-30T03:34:18Z</dcterms:created>
  <dcterms:modified xsi:type="dcterms:W3CDTF">2026-08-30T03:34:18Z</dcterms:modified>
</cp:coreProperties>
</file>