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0:00 to 0:15
Most eye tests begin in a clinic. SeeNA begins with the iPhone already in your hand. It is a voice-guided vision screening companion built to make the first eye check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0:15 to 0:45
For many older adults and people in remote communities, eye care is not a simple appointment. Distance, transport, confusing interfaces and needing someone else to help can become missing blocks. We asked: could the phone connect that first block without pretending to replace a clinician? That became SeeNA.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0:45 to 1:10
The experience is deliberately simple. Press Start. SeeNA speaks every step, uses the front sensors to help the person get into position, then presents one large target at a time. The user answers naturally by voice, including ‘I cannot see it.’ No charts, typing or technical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1:10 to 2:10
Here is the complete flow. After Start, SeeNA checks distance, gaze, lighting and stillness, guiding the user with human instructions. Once positioned, it counts down and begins. The first task is Landolt C: the person says where the circle opens. The second is a Gabor pattern: they say left or right. Each eye is screened separately, and the target waits for the answer. At the end, SeeNA returns an estimated screening result for each eye, explains it in plain language and lets the user inspect every prompt, correct answer and response. The goal is not to make a diagnosis from a phone. It is to provide a clear first signal and a better reason to seek a complete eye examination.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2:10 to 2:45
Every design decision supports independence. Large targets remain visible at a practical distance. Voice begins only after Start. Prompts do not overlap or cut each other off. Positioning allows natural human movement. If the target is not visible, SeeNA accepts that as useful evidence instead of forcing a guess. Results are readable, and every answer remains reviewable.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2:45 to 3:20
Trust comes from separating screening from explanation. TrueDepth and motion signals enforce quality gates. Landolt C and Gabor responses are scored deterministically on the iPhone. OpenAI transcription converts speech to text, and GPT-5.6 Luna explains the result in plain language under a strict schema. AI never creates or changes the numeric estimate. Raw camera frames, face meshes and biometric data are not sent to OpenAI.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3:20 to 3:45
SeeNA is for the moment before access: an older person screening independently, a family checking someone at home, or a remote community needing a first signal. It makes screening more approachable while keeping the next step clear: a complete eye examination when the result indicates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3:45 to 4:00
Technology should connect the blocks that access leaves missing. SeeNA turns the phone already in a person's hand into a first step toward clarity, because everyone deserves to see their world, now and always. We are SeeNA.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eeNA hero image with the app and Landolt C symbol">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5577840" cy="6858000"/>
          </a:xfrm>
          <a:prstGeom prst="rect">
            <a:avLst/>
          </a:prstGeom>
          <a:solidFill>
            <a:srgbClr val="050505">
              <a:alpha val="96000"/>
            </a:srgbClr>
          </a:solidFill>
          <a:ln w="12700">
            <a:solidFill>
              <a:srgbClr val="050505">
                <a:alpha val="0"/>
              </a:srgbClr>
            </a:solidFill>
            <a:prstDash val="solid"/>
          </a:ln>
        </p:spPr>
      </p:sp>
      <p:sp>
        <p:nvSpPr>
          <p:cNvPr id="4" name="Shape 1"/>
          <p:cNvSpPr/>
          <p:nvPr/>
        </p:nvSpPr>
        <p:spPr>
          <a:xfrm>
            <a:off x="713232" y="530352"/>
            <a:ext cx="2304288" cy="384048"/>
          </a:xfrm>
          <a:prstGeom prst="roundRect">
            <a:avLst>
              <a:gd name="adj" fmla="val 19048"/>
            </a:avLst>
          </a:prstGeom>
          <a:solidFill>
            <a:srgbClr val="FFFFFF"/>
          </a:solidFill>
          <a:ln w="10160">
            <a:solidFill>
              <a:srgbClr val="FFFFFF"/>
            </a:solidFill>
            <a:prstDash val="solid"/>
          </a:ln>
        </p:spPr>
      </p:sp>
      <p:sp>
        <p:nvSpPr>
          <p:cNvPr id="5" name="Text 2"/>
          <p:cNvSpPr/>
          <p:nvPr/>
        </p:nvSpPr>
        <p:spPr>
          <a:xfrm>
            <a:off x="713232" y="548640"/>
            <a:ext cx="2304288" cy="301752"/>
          </a:xfrm>
          <a:prstGeom prst="rect">
            <a:avLst/>
          </a:prstGeom>
          <a:noFill/>
          <a:ln/>
        </p:spPr>
        <p:txBody>
          <a:bodyPr wrap="square" lIns="0" tIns="0" rIns="0" bIns="0" rtlCol="0" anchor="ctr">
            <a:normAutofit/>
          </a:bodyPr>
          <a:lstStyle/>
          <a:p>
            <a:pPr algn="ctr" indent="0" marL="0">
              <a:buNone/>
            </a:pPr>
            <a:r>
              <a:rPr lang="en-US" sz="1250" b="1" spc="20" kern="0" dirty="0">
                <a:solidFill>
                  <a:srgbClr val="050505"/>
                </a:solidFill>
                <a:latin typeface="Arial" pitchFamily="34" charset="0"/>
                <a:ea typeface="Arial" pitchFamily="34" charset="-122"/>
                <a:cs typeface="Arial" pitchFamily="34" charset="-120"/>
              </a:rPr>
              <a:t>SYNCS HACKATHON 2026</a:t>
            </a:r>
            <a:endParaRPr lang="en-US" sz="1250" dirty="0"/>
          </a:p>
        </p:txBody>
      </p:sp>
      <p:sp>
        <p:nvSpPr>
          <p:cNvPr id="6" name="Text 3"/>
          <p:cNvSpPr/>
          <p:nvPr/>
        </p:nvSpPr>
        <p:spPr>
          <a:xfrm>
            <a:off x="713232" y="3090672"/>
            <a:ext cx="4480560" cy="1316736"/>
          </a:xfrm>
          <a:prstGeom prst="rect">
            <a:avLst/>
          </a:prstGeom>
          <a:noFill/>
          <a:ln/>
        </p:spPr>
        <p:txBody>
          <a:bodyPr wrap="square" lIns="0" tIns="0" rIns="0" bIns="0" rtlCol="0" anchor="ctr">
            <a:normAutofit/>
          </a:bodyPr>
          <a:lstStyle/>
          <a:p>
            <a:pPr indent="0" marL="0">
              <a:lnSpc>
                <a:spcPct val="90000"/>
              </a:lnSpc>
              <a:buNone/>
            </a:pPr>
            <a:r>
              <a:rPr lang="en-US" sz="4700" b="1" dirty="0">
                <a:solidFill>
                  <a:srgbClr val="FFFFFF"/>
                </a:solidFill>
                <a:latin typeface="Arial" pitchFamily="34" charset="0"/>
                <a:ea typeface="Arial" pitchFamily="34" charset="-122"/>
                <a:cs typeface="Arial" pitchFamily="34" charset="-120"/>
              </a:rPr>
              <a:t>See now.</a:t>
            </a:r>
            <a:endParaRPr lang="en-US" sz="4700" dirty="0"/>
          </a:p>
          <a:p>
            <a:pPr indent="0" marL="0">
              <a:lnSpc>
                <a:spcPct val="90000"/>
              </a:lnSpc>
              <a:buNone/>
            </a:pPr>
            <a:r>
              <a:rPr lang="en-US" sz="4700" b="1" dirty="0">
                <a:solidFill>
                  <a:srgbClr val="FFFFFF"/>
                </a:solidFill>
                <a:latin typeface="Arial" pitchFamily="34" charset="0"/>
                <a:ea typeface="Arial" pitchFamily="34" charset="-122"/>
                <a:cs typeface="Arial" pitchFamily="34" charset="-120"/>
              </a:rPr>
              <a:t>Always.</a:t>
            </a:r>
            <a:endParaRPr lang="en-US" sz="4700" dirty="0"/>
          </a:p>
        </p:txBody>
      </p:sp>
      <p:sp>
        <p:nvSpPr>
          <p:cNvPr id="7" name="Text 4"/>
          <p:cNvSpPr/>
          <p:nvPr/>
        </p:nvSpPr>
        <p:spPr>
          <a:xfrm>
            <a:off x="731520" y="4590288"/>
            <a:ext cx="4297680" cy="347472"/>
          </a:xfrm>
          <a:prstGeom prst="rect">
            <a:avLst/>
          </a:prstGeom>
          <a:noFill/>
          <a:ln/>
        </p:spPr>
        <p:txBody>
          <a:bodyPr wrap="square" lIns="0" tIns="0" rIns="0" bIns="0" rtlCol="0" anchor="ctr">
            <a:normAutofit/>
          </a:bodyPr>
          <a:lstStyle/>
          <a:p>
            <a:pPr indent="0" marL="0">
              <a:buNone/>
            </a:pPr>
            <a:r>
              <a:rPr lang="en-US" sz="1800" dirty="0">
                <a:solidFill>
                  <a:srgbClr val="E8E8E8"/>
                </a:solidFill>
                <a:latin typeface="Arial" pitchFamily="34" charset="0"/>
                <a:ea typeface="Arial" pitchFamily="34" charset="-122"/>
                <a:cs typeface="Arial" pitchFamily="34" charset="-120"/>
              </a:rPr>
              <a:t>A voice-guided vision screening companion.</a:t>
            </a:r>
            <a:endParaRPr lang="en-US" sz="1800" dirty="0"/>
          </a:p>
        </p:txBody>
      </p:sp>
      <p:sp>
        <p:nvSpPr>
          <p:cNvPr id="8" name="Text 5"/>
          <p:cNvSpPr/>
          <p:nvPr/>
        </p:nvSpPr>
        <p:spPr>
          <a:xfrm>
            <a:off x="731520" y="6099048"/>
            <a:ext cx="3108960" cy="201168"/>
          </a:xfrm>
          <a:prstGeom prst="rect">
            <a:avLst/>
          </a:prstGeom>
          <a:noFill/>
          <a:ln/>
        </p:spPr>
        <p:txBody>
          <a:bodyPr wrap="square" lIns="0" tIns="0" rIns="0" bIns="0" rtlCol="0" anchor="ctr">
            <a:normAutofit/>
          </a:bodyPr>
          <a:lstStyle/>
          <a:p>
            <a:pPr indent="0" marL="0">
              <a:buNone/>
            </a:pPr>
            <a:r>
              <a:rPr lang="en-US" sz="1050" b="1" spc="80" kern="0" dirty="0">
                <a:solidFill>
                  <a:srgbClr val="BDBDBD"/>
                </a:solidFill>
                <a:latin typeface="Arial" pitchFamily="34" charset="0"/>
                <a:ea typeface="Arial" pitchFamily="34" charset="-122"/>
                <a:cs typeface="Arial" pitchFamily="34" charset="-120"/>
              </a:rPr>
              <a:t>SeeNA  |  See Now and Always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Older adult overlooking a remote community connected by illuminated blocks">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675120" cy="6858000"/>
          </a:xfrm>
          <a:prstGeom prst="rect">
            <a:avLst/>
          </a:prstGeom>
          <a:solidFill>
            <a:srgbClr val="050505">
              <a:alpha val="82000"/>
            </a:srgbClr>
          </a:solidFill>
          <a:ln w="12700">
            <a:solidFill>
              <a:srgbClr val="050505">
                <a:alpha val="0"/>
              </a:srgbClr>
            </a:solidFill>
            <a:prstDash val="solid"/>
          </a:ln>
        </p:spPr>
      </p:sp>
      <p:sp>
        <p:nvSpPr>
          <p:cNvPr id="4" name="Text 1"/>
          <p:cNvSpPr/>
          <p:nvPr/>
        </p:nvSpPr>
        <p:spPr>
          <a:xfrm>
            <a:off x="658368" y="347472"/>
            <a:ext cx="3840480" cy="256032"/>
          </a:xfrm>
          <a:prstGeom prst="rect">
            <a:avLst/>
          </a:prstGeom>
          <a:noFill/>
          <a:ln/>
        </p:spPr>
        <p:txBody>
          <a:bodyPr wrap="square" lIns="0" tIns="0" rIns="0" bIns="0" rtlCol="0" anchor="ctr">
            <a:normAutofit/>
          </a:bodyPr>
          <a:lstStyle/>
          <a:p>
            <a:pPr indent="0" marL="0">
              <a:buNone/>
            </a:pPr>
            <a:r>
              <a:rPr lang="en-US" sz="1050" b="1" spc="260" kern="0" dirty="0">
                <a:solidFill>
                  <a:srgbClr val="E7D4BC"/>
                </a:solidFill>
                <a:latin typeface="Arial" pitchFamily="34" charset="0"/>
                <a:ea typeface="Arial" pitchFamily="34" charset="-122"/>
                <a:cs typeface="Arial" pitchFamily="34" charset="-120"/>
              </a:rPr>
              <a:t>THE MISSING FIRST STEP</a:t>
            </a:r>
            <a:endParaRPr lang="en-US" sz="1050" dirty="0"/>
          </a:p>
        </p:txBody>
      </p:sp>
      <p:sp>
        <p:nvSpPr>
          <p:cNvPr id="5" name="Text 2"/>
          <p:cNvSpPr/>
          <p:nvPr/>
        </p:nvSpPr>
        <p:spPr>
          <a:xfrm>
            <a:off x="658368" y="1078992"/>
            <a:ext cx="5166360" cy="2103120"/>
          </a:xfrm>
          <a:prstGeom prst="rect">
            <a:avLst/>
          </a:prstGeom>
          <a:noFill/>
          <a:ln/>
        </p:spPr>
        <p:txBody>
          <a:bodyPr wrap="square" lIns="0" tIns="0" rIns="0" bIns="0" rtlCol="0" anchor="ctr">
            <a:normAutofit/>
          </a:bodyPr>
          <a:lstStyle/>
          <a:p>
            <a:pPr indent="0" marL="0">
              <a:lnSpc>
                <a:spcPct val="90000"/>
              </a:lnSpc>
              <a:buNone/>
            </a:pPr>
            <a:r>
              <a:rPr lang="en-US" sz="4200" b="1" dirty="0">
                <a:solidFill>
                  <a:srgbClr val="FFFFFF"/>
                </a:solidFill>
                <a:latin typeface="Arial" pitchFamily="34" charset="0"/>
                <a:ea typeface="Arial" pitchFamily="34" charset="-122"/>
                <a:cs typeface="Arial" pitchFamily="34" charset="-120"/>
              </a:rPr>
              <a:t>The first eye check</a:t>
            </a:r>
            <a:endParaRPr lang="en-US" sz="4200" dirty="0"/>
          </a:p>
          <a:p>
            <a:pPr indent="0" marL="0">
              <a:lnSpc>
                <a:spcPct val="90000"/>
              </a:lnSpc>
              <a:buNone/>
            </a:pPr>
            <a:r>
              <a:rPr lang="en-US" sz="4200" b="1" dirty="0">
                <a:solidFill>
                  <a:srgbClr val="FFFFFF"/>
                </a:solidFill>
                <a:latin typeface="Arial" pitchFamily="34" charset="0"/>
                <a:ea typeface="Arial" pitchFamily="34" charset="-122"/>
                <a:cs typeface="Arial" pitchFamily="34" charset="-120"/>
              </a:rPr>
              <a:t>should not depend</a:t>
            </a:r>
            <a:endParaRPr lang="en-US" sz="4200" dirty="0"/>
          </a:p>
          <a:p>
            <a:pPr indent="0" marL="0">
              <a:lnSpc>
                <a:spcPct val="90000"/>
              </a:lnSpc>
              <a:buNone/>
            </a:pPr>
            <a:r>
              <a:rPr lang="en-US" sz="4200" b="1" dirty="0">
                <a:solidFill>
                  <a:srgbClr val="FFFFFF"/>
                </a:solidFill>
                <a:latin typeface="Arial" pitchFamily="34" charset="0"/>
                <a:ea typeface="Arial" pitchFamily="34" charset="-122"/>
                <a:cs typeface="Arial" pitchFamily="34" charset="-120"/>
              </a:rPr>
              <a:t>on distance.</a:t>
            </a:r>
            <a:endParaRPr lang="en-US" sz="4200" dirty="0"/>
          </a:p>
        </p:txBody>
      </p:sp>
      <p:sp>
        <p:nvSpPr>
          <p:cNvPr id="6" name="Text 3"/>
          <p:cNvSpPr/>
          <p:nvPr/>
        </p:nvSpPr>
        <p:spPr>
          <a:xfrm>
            <a:off x="685800" y="3520440"/>
            <a:ext cx="4480560" cy="603504"/>
          </a:xfrm>
          <a:prstGeom prst="rect">
            <a:avLst/>
          </a:prstGeom>
          <a:noFill/>
          <a:ln/>
        </p:spPr>
        <p:txBody>
          <a:bodyPr wrap="square" lIns="0" tIns="0" rIns="0" bIns="0" rtlCol="0" anchor="ctr">
            <a:normAutofit/>
          </a:bodyPr>
          <a:lstStyle/>
          <a:p>
            <a:pPr indent="0" marL="0">
              <a:buNone/>
            </a:pPr>
            <a:r>
              <a:rPr lang="en-US" sz="1800" dirty="0">
                <a:solidFill>
                  <a:srgbClr val="ECECEC"/>
                </a:solidFill>
                <a:latin typeface="Arial" pitchFamily="34" charset="0"/>
                <a:ea typeface="Arial" pitchFamily="34" charset="-122"/>
                <a:cs typeface="Arial" pitchFamily="34" charset="-120"/>
              </a:rPr>
              <a:t>Age, access and complexity can turn a simple check into a barrier.</a:t>
            </a:r>
            <a:endParaRPr lang="en-US" sz="1800" dirty="0"/>
          </a:p>
        </p:txBody>
      </p:sp>
      <p:sp>
        <p:nvSpPr>
          <p:cNvPr id="7" name="Shape 4"/>
          <p:cNvSpPr/>
          <p:nvPr/>
        </p:nvSpPr>
        <p:spPr>
          <a:xfrm>
            <a:off x="685800" y="4773168"/>
            <a:ext cx="1005840" cy="0"/>
          </a:xfrm>
          <a:prstGeom prst="line">
            <a:avLst/>
          </a:prstGeom>
          <a:noFill/>
          <a:ln w="50800">
            <a:solidFill>
              <a:srgbClr val="D6A66D"/>
            </a:solidFill>
            <a:prstDash val="solid"/>
          </a:ln>
        </p:spPr>
      </p:sp>
      <p:sp>
        <p:nvSpPr>
          <p:cNvPr id="8" name="Text 5"/>
          <p:cNvSpPr/>
          <p:nvPr/>
        </p:nvSpPr>
        <p:spPr>
          <a:xfrm>
            <a:off x="11082528" y="6364224"/>
            <a:ext cx="438912" cy="182880"/>
          </a:xfrm>
          <a:prstGeom prst="rect">
            <a:avLst/>
          </a:prstGeom>
          <a:noFill/>
          <a:ln/>
        </p:spPr>
        <p:txBody>
          <a:bodyPr wrap="square" lIns="0" tIns="0" rIns="0" bIns="0" rtlCol="0" anchor="ctr">
            <a:normAutofit/>
          </a:bodyPr>
          <a:lstStyle/>
          <a:p>
            <a:pPr algn="r" indent="0" marL="0">
              <a:buNone/>
            </a:pPr>
            <a:r>
              <a:rPr lang="en-US" sz="1000" b="1" dirty="0">
                <a:solidFill>
                  <a:srgbClr val="D8C4AB"/>
                </a:solidFill>
                <a:latin typeface="Arial" pitchFamily="34" charset="0"/>
                <a:ea typeface="Arial" pitchFamily="34" charset="-122"/>
                <a:cs typeface="Arial"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Text 0"/>
          <p:cNvSpPr/>
          <p:nvPr/>
        </p:nvSpPr>
        <p:spPr>
          <a:xfrm>
            <a:off x="658368" y="347472"/>
            <a:ext cx="3840480" cy="256032"/>
          </a:xfrm>
          <a:prstGeom prst="rect">
            <a:avLst/>
          </a:prstGeom>
          <a:noFill/>
          <a:ln/>
        </p:spPr>
        <p:txBody>
          <a:bodyPr wrap="square" lIns="0" tIns="0" rIns="0" bIns="0" rtlCol="0" anchor="ctr">
            <a:normAutofit/>
          </a:bodyPr>
          <a:lstStyle/>
          <a:p>
            <a:pPr indent="0" marL="0">
              <a:buNone/>
            </a:pPr>
            <a:r>
              <a:rPr lang="en-US" sz="1050" b="1" spc="260" kern="0" dirty="0">
                <a:solidFill>
                  <a:srgbClr val="757575"/>
                </a:solidFill>
                <a:latin typeface="Arial" pitchFamily="34" charset="0"/>
                <a:ea typeface="Arial" pitchFamily="34" charset="-122"/>
                <a:cs typeface="Arial" pitchFamily="34" charset="-120"/>
              </a:rPr>
              <a:t>THE PRODUCT</a:t>
            </a:r>
            <a:endParaRPr lang="en-US" sz="1050" dirty="0"/>
          </a:p>
        </p:txBody>
      </p:sp>
      <p:sp>
        <p:nvSpPr>
          <p:cNvPr id="3" name="Text 1"/>
          <p:cNvSpPr/>
          <p:nvPr/>
        </p:nvSpPr>
        <p:spPr>
          <a:xfrm>
            <a:off x="658368" y="960120"/>
            <a:ext cx="4617720" cy="1261872"/>
          </a:xfrm>
          <a:prstGeom prst="rect">
            <a:avLst/>
          </a:prstGeom>
          <a:noFill/>
          <a:ln/>
        </p:spPr>
        <p:txBody>
          <a:bodyPr wrap="square" lIns="0" tIns="0" rIns="0" bIns="0" rtlCol="0" anchor="ctr">
            <a:normAutofit/>
          </a:bodyPr>
          <a:lstStyle/>
          <a:p>
            <a:pPr indent="0" marL="0">
              <a:lnSpc>
                <a:spcPct val="92000"/>
              </a:lnSpc>
              <a:buNone/>
            </a:pPr>
            <a:r>
              <a:rPr lang="en-US" sz="4200" b="1" dirty="0">
                <a:solidFill>
                  <a:srgbClr val="111111"/>
                </a:solidFill>
                <a:latin typeface="Arial" pitchFamily="34" charset="0"/>
                <a:ea typeface="Arial" pitchFamily="34" charset="-122"/>
                <a:cs typeface="Arial" pitchFamily="34" charset="-120"/>
              </a:rPr>
              <a:t>Press Start.</a:t>
            </a:r>
            <a:endParaRPr lang="en-US" sz="4200" dirty="0"/>
          </a:p>
          <a:p>
            <a:pPr indent="0" marL="0">
              <a:lnSpc>
                <a:spcPct val="92000"/>
              </a:lnSpc>
              <a:buNone/>
            </a:pPr>
            <a:r>
              <a:rPr lang="en-US" sz="4200" b="1" dirty="0">
                <a:solidFill>
                  <a:srgbClr val="111111"/>
                </a:solidFill>
                <a:latin typeface="Arial" pitchFamily="34" charset="0"/>
                <a:ea typeface="Arial" pitchFamily="34" charset="-122"/>
                <a:cs typeface="Arial" pitchFamily="34" charset="-120"/>
              </a:rPr>
              <a:t>SeeNA guides the rest.</a:t>
            </a:r>
            <a:endParaRPr lang="en-US" sz="4200" dirty="0"/>
          </a:p>
        </p:txBody>
      </p:sp>
      <p:sp>
        <p:nvSpPr>
          <p:cNvPr id="4" name="Text 2"/>
          <p:cNvSpPr/>
          <p:nvPr/>
        </p:nvSpPr>
        <p:spPr>
          <a:xfrm>
            <a:off x="685800" y="2487168"/>
            <a:ext cx="4480560" cy="320040"/>
          </a:xfrm>
          <a:prstGeom prst="rect">
            <a:avLst/>
          </a:prstGeom>
          <a:noFill/>
          <a:ln/>
        </p:spPr>
        <p:txBody>
          <a:bodyPr wrap="square" lIns="0" tIns="0" rIns="0" bIns="0" rtlCol="0" anchor="ctr">
            <a:normAutofit/>
          </a:bodyPr>
          <a:lstStyle/>
          <a:p>
            <a:pPr indent="0" marL="0">
              <a:buNone/>
            </a:pPr>
            <a:r>
              <a:rPr lang="en-US" sz="1800" dirty="0">
                <a:solidFill>
                  <a:srgbClr val="757575"/>
                </a:solidFill>
                <a:latin typeface="Arial" pitchFamily="34" charset="0"/>
                <a:ea typeface="Arial" pitchFamily="34" charset="-122"/>
                <a:cs typeface="Arial" pitchFamily="34" charset="-120"/>
              </a:rPr>
              <a:t>No charts. No typing. No technical setup.</a:t>
            </a:r>
            <a:endParaRPr lang="en-US" sz="1800" dirty="0"/>
          </a:p>
        </p:txBody>
      </p:sp>
      <p:sp>
        <p:nvSpPr>
          <p:cNvPr id="5" name="Shape 3"/>
          <p:cNvSpPr/>
          <p:nvPr/>
        </p:nvSpPr>
        <p:spPr>
          <a:xfrm>
            <a:off x="694944" y="3227832"/>
            <a:ext cx="420624" cy="420624"/>
          </a:xfrm>
          <a:prstGeom prst="ellipse">
            <a:avLst/>
          </a:prstGeom>
          <a:solidFill>
            <a:srgbClr val="D6A66D"/>
          </a:solidFill>
          <a:ln w="12700">
            <a:solidFill>
              <a:srgbClr val="D6A66D"/>
            </a:solidFill>
            <a:prstDash val="solid"/>
          </a:ln>
        </p:spPr>
      </p:sp>
      <p:sp>
        <p:nvSpPr>
          <p:cNvPr id="6" name="Text 4"/>
          <p:cNvSpPr/>
          <p:nvPr/>
        </p:nvSpPr>
        <p:spPr>
          <a:xfrm>
            <a:off x="694944" y="3300984"/>
            <a:ext cx="420624" cy="182880"/>
          </a:xfrm>
          <a:prstGeom prst="rect">
            <a:avLst/>
          </a:prstGeom>
          <a:noFill/>
          <a:ln/>
        </p:spPr>
        <p:txBody>
          <a:bodyPr wrap="square" lIns="0" tIns="0" rIns="0" bIns="0" rtlCol="0" anchor="ctr">
            <a:normAutofit/>
          </a:bodyPr>
          <a:lstStyle/>
          <a:p>
            <a:pPr algn="ctr" indent="0" marL="0">
              <a:buNone/>
            </a:pPr>
            <a:r>
              <a:rPr lang="en-US" sz="900" b="1" dirty="0">
                <a:solidFill>
                  <a:srgbClr val="050505"/>
                </a:solidFill>
                <a:latin typeface="Arial" pitchFamily="34" charset="0"/>
                <a:ea typeface="Arial" pitchFamily="34" charset="-122"/>
                <a:cs typeface="Arial" pitchFamily="34" charset="-120"/>
              </a:rPr>
              <a:t>01</a:t>
            </a:r>
            <a:endParaRPr lang="en-US" sz="900" dirty="0"/>
          </a:p>
        </p:txBody>
      </p:sp>
      <p:sp>
        <p:nvSpPr>
          <p:cNvPr id="7" name="Text 5"/>
          <p:cNvSpPr/>
          <p:nvPr/>
        </p:nvSpPr>
        <p:spPr>
          <a:xfrm>
            <a:off x="1353312" y="3264408"/>
            <a:ext cx="2286000" cy="292608"/>
          </a:xfrm>
          <a:prstGeom prst="rect">
            <a:avLst/>
          </a:prstGeom>
          <a:noFill/>
          <a:ln/>
        </p:spPr>
        <p:txBody>
          <a:bodyPr wrap="square" lIns="0" tIns="0" rIns="0" bIns="0" rtlCol="0" anchor="ctr">
            <a:normAutofit/>
          </a:bodyPr>
          <a:lstStyle/>
          <a:p>
            <a:pPr indent="0" marL="0">
              <a:buNone/>
            </a:pPr>
            <a:r>
              <a:rPr lang="en-US" sz="2100" b="1" dirty="0">
                <a:solidFill>
                  <a:srgbClr val="111111"/>
                </a:solidFill>
                <a:latin typeface="Arial" pitchFamily="34" charset="0"/>
                <a:ea typeface="Arial" pitchFamily="34" charset="-122"/>
                <a:cs typeface="Arial" pitchFamily="34" charset="-120"/>
              </a:rPr>
              <a:t>Listen</a:t>
            </a:r>
            <a:endParaRPr lang="en-US" sz="2100" dirty="0"/>
          </a:p>
        </p:txBody>
      </p:sp>
      <p:sp>
        <p:nvSpPr>
          <p:cNvPr id="8" name="Shape 6"/>
          <p:cNvSpPr/>
          <p:nvPr/>
        </p:nvSpPr>
        <p:spPr>
          <a:xfrm>
            <a:off x="905256" y="3685032"/>
            <a:ext cx="0" cy="347472"/>
          </a:xfrm>
          <a:prstGeom prst="line">
            <a:avLst/>
          </a:prstGeom>
          <a:noFill/>
          <a:ln w="25400">
            <a:solidFill>
              <a:srgbClr val="D8D8D5"/>
            </a:solidFill>
            <a:prstDash val="solid"/>
          </a:ln>
        </p:spPr>
      </p:sp>
      <p:sp>
        <p:nvSpPr>
          <p:cNvPr id="9" name="Shape 7"/>
          <p:cNvSpPr/>
          <p:nvPr/>
        </p:nvSpPr>
        <p:spPr>
          <a:xfrm>
            <a:off x="694944" y="4014216"/>
            <a:ext cx="420624" cy="420624"/>
          </a:xfrm>
          <a:prstGeom prst="ellipse">
            <a:avLst/>
          </a:prstGeom>
          <a:solidFill>
            <a:srgbClr val="050505"/>
          </a:solidFill>
          <a:ln w="12700">
            <a:solidFill>
              <a:srgbClr val="050505"/>
            </a:solidFill>
            <a:prstDash val="solid"/>
          </a:ln>
        </p:spPr>
      </p:sp>
      <p:sp>
        <p:nvSpPr>
          <p:cNvPr id="10" name="Text 8"/>
          <p:cNvSpPr/>
          <p:nvPr/>
        </p:nvSpPr>
        <p:spPr>
          <a:xfrm>
            <a:off x="694944" y="4087368"/>
            <a:ext cx="420624" cy="182880"/>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rial" pitchFamily="34" charset="0"/>
                <a:ea typeface="Arial" pitchFamily="34" charset="-122"/>
                <a:cs typeface="Arial" pitchFamily="34" charset="-120"/>
              </a:rPr>
              <a:t>02</a:t>
            </a:r>
            <a:endParaRPr lang="en-US" sz="900" dirty="0"/>
          </a:p>
        </p:txBody>
      </p:sp>
      <p:sp>
        <p:nvSpPr>
          <p:cNvPr id="11" name="Text 9"/>
          <p:cNvSpPr/>
          <p:nvPr/>
        </p:nvSpPr>
        <p:spPr>
          <a:xfrm>
            <a:off x="1353312" y="4050792"/>
            <a:ext cx="2286000" cy="292608"/>
          </a:xfrm>
          <a:prstGeom prst="rect">
            <a:avLst/>
          </a:prstGeom>
          <a:noFill/>
          <a:ln/>
        </p:spPr>
        <p:txBody>
          <a:bodyPr wrap="square" lIns="0" tIns="0" rIns="0" bIns="0" rtlCol="0" anchor="ctr">
            <a:normAutofit/>
          </a:bodyPr>
          <a:lstStyle/>
          <a:p>
            <a:pPr indent="0" marL="0">
              <a:buNone/>
            </a:pPr>
            <a:r>
              <a:rPr lang="en-US" sz="2100" b="1" dirty="0">
                <a:solidFill>
                  <a:srgbClr val="111111"/>
                </a:solidFill>
                <a:latin typeface="Arial" pitchFamily="34" charset="0"/>
                <a:ea typeface="Arial" pitchFamily="34" charset="-122"/>
                <a:cs typeface="Arial" pitchFamily="34" charset="-120"/>
              </a:rPr>
              <a:t>Look</a:t>
            </a:r>
            <a:endParaRPr lang="en-US" sz="2100" dirty="0"/>
          </a:p>
        </p:txBody>
      </p:sp>
      <p:sp>
        <p:nvSpPr>
          <p:cNvPr id="12" name="Shape 10"/>
          <p:cNvSpPr/>
          <p:nvPr/>
        </p:nvSpPr>
        <p:spPr>
          <a:xfrm>
            <a:off x="905256" y="4471416"/>
            <a:ext cx="0" cy="347472"/>
          </a:xfrm>
          <a:prstGeom prst="line">
            <a:avLst/>
          </a:prstGeom>
          <a:noFill/>
          <a:ln w="25400">
            <a:solidFill>
              <a:srgbClr val="D8D8D5"/>
            </a:solidFill>
            <a:prstDash val="solid"/>
          </a:ln>
        </p:spPr>
      </p:sp>
      <p:sp>
        <p:nvSpPr>
          <p:cNvPr id="13" name="Shape 11"/>
          <p:cNvSpPr/>
          <p:nvPr/>
        </p:nvSpPr>
        <p:spPr>
          <a:xfrm>
            <a:off x="694944" y="4800600"/>
            <a:ext cx="420624" cy="420624"/>
          </a:xfrm>
          <a:prstGeom prst="ellipse">
            <a:avLst/>
          </a:prstGeom>
          <a:solidFill>
            <a:srgbClr val="050505"/>
          </a:solidFill>
          <a:ln w="12700">
            <a:solidFill>
              <a:srgbClr val="050505"/>
            </a:solidFill>
            <a:prstDash val="solid"/>
          </a:ln>
        </p:spPr>
      </p:sp>
      <p:sp>
        <p:nvSpPr>
          <p:cNvPr id="14" name="Text 12"/>
          <p:cNvSpPr/>
          <p:nvPr/>
        </p:nvSpPr>
        <p:spPr>
          <a:xfrm>
            <a:off x="694944" y="4873752"/>
            <a:ext cx="420624" cy="182880"/>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rial" pitchFamily="34" charset="0"/>
                <a:ea typeface="Arial" pitchFamily="34" charset="-122"/>
                <a:cs typeface="Arial" pitchFamily="34" charset="-120"/>
              </a:rPr>
              <a:t>03</a:t>
            </a:r>
            <a:endParaRPr lang="en-US" sz="900" dirty="0"/>
          </a:p>
        </p:txBody>
      </p:sp>
      <p:sp>
        <p:nvSpPr>
          <p:cNvPr id="15" name="Text 13"/>
          <p:cNvSpPr/>
          <p:nvPr/>
        </p:nvSpPr>
        <p:spPr>
          <a:xfrm>
            <a:off x="1353312" y="4837176"/>
            <a:ext cx="2286000" cy="292608"/>
          </a:xfrm>
          <a:prstGeom prst="rect">
            <a:avLst/>
          </a:prstGeom>
          <a:noFill/>
          <a:ln/>
        </p:spPr>
        <p:txBody>
          <a:bodyPr wrap="square" lIns="0" tIns="0" rIns="0" bIns="0" rtlCol="0" anchor="ctr">
            <a:normAutofit/>
          </a:bodyPr>
          <a:lstStyle/>
          <a:p>
            <a:pPr indent="0" marL="0">
              <a:buNone/>
            </a:pPr>
            <a:r>
              <a:rPr lang="en-US" sz="2100" b="1" dirty="0">
                <a:solidFill>
                  <a:srgbClr val="111111"/>
                </a:solidFill>
                <a:latin typeface="Arial" pitchFamily="34" charset="0"/>
                <a:ea typeface="Arial" pitchFamily="34" charset="-122"/>
                <a:cs typeface="Arial" pitchFamily="34" charset="-120"/>
              </a:rPr>
              <a:t>Answer</a:t>
            </a:r>
            <a:endParaRPr lang="en-US" sz="2100" dirty="0"/>
          </a:p>
        </p:txBody>
      </p:sp>
      <p:sp>
        <p:nvSpPr>
          <p:cNvPr id="16" name="Shape 14"/>
          <p:cNvSpPr/>
          <p:nvPr/>
        </p:nvSpPr>
        <p:spPr>
          <a:xfrm>
            <a:off x="5596128" y="484632"/>
            <a:ext cx="5897880" cy="5806440"/>
          </a:xfrm>
          <a:prstGeom prst="roundRect">
            <a:avLst>
              <a:gd name="adj" fmla="val 1890"/>
            </a:avLst>
          </a:prstGeom>
          <a:solidFill>
            <a:srgbClr val="FFFFFF"/>
          </a:solidFill>
          <a:ln w="12700">
            <a:solidFill>
              <a:srgbClr val="D8D8D5"/>
            </a:solidFill>
            <a:prstDash val="solid"/>
          </a:ln>
        </p:spPr>
      </p:sp>
      <p:sp>
        <p:nvSpPr>
          <p:cNvPr id="17" name="Shape 15"/>
          <p:cNvSpPr/>
          <p:nvPr/>
        </p:nvSpPr>
        <p:spPr>
          <a:xfrm>
            <a:off x="7370064" y="640080"/>
            <a:ext cx="2359152" cy="4965192"/>
          </a:xfrm>
          <a:prstGeom prst="roundRect">
            <a:avLst>
              <a:gd name="adj" fmla="val 3876"/>
            </a:avLst>
          </a:prstGeom>
          <a:solidFill>
            <a:srgbClr val="050505"/>
          </a:solidFill>
          <a:ln w="12700">
            <a:solidFill>
              <a:srgbClr val="111111"/>
            </a:solidFill>
            <a:prstDash val="solid"/>
          </a:ln>
          <a:effectLst>
            <a:outerShdw sx="100000" sy="100000" kx="0" ky="0" algn="bl" rotWithShape="0" blurRad="127000" dist="38100" dir="2700000">
              <a:srgbClr val="000000">
                <a:alpha val="16000"/>
              </a:srgbClr>
            </a:outerShdw>
          </a:effectLst>
        </p:spPr>
      </p:sp>
      <p:pic>
        <p:nvPicPr>
          <p:cNvPr id="18" name="Image 0" descr="SeeNA start screen">    </p:cNvPr>
          <p:cNvPicPr>
            <a:picLocks noChangeAspect="1"/>
          </p:cNvPicPr>
          <p:nvPr/>
        </p:nvPicPr>
        <p:blipFill>
          <a:blip r:embed="rId1"/>
          <a:srcRect l="0" r="0" t="0" b="0"/>
          <a:stretch/>
        </p:blipFill>
        <p:spPr>
          <a:xfrm>
            <a:off x="7443216" y="713232"/>
            <a:ext cx="2212848" cy="4818888"/>
          </a:xfrm>
          <a:prstGeom prst="rect">
            <a:avLst/>
          </a:prstGeom>
        </p:spPr>
      </p:pic>
      <p:sp>
        <p:nvSpPr>
          <p:cNvPr id="19" name="Shape 16"/>
          <p:cNvSpPr/>
          <p:nvPr/>
        </p:nvSpPr>
        <p:spPr>
          <a:xfrm>
            <a:off x="6931152" y="5724144"/>
            <a:ext cx="3246120" cy="384048"/>
          </a:xfrm>
          <a:prstGeom prst="roundRect">
            <a:avLst>
              <a:gd name="adj" fmla="val 19048"/>
            </a:avLst>
          </a:prstGeom>
          <a:solidFill>
            <a:srgbClr val="050505"/>
          </a:solidFill>
          <a:ln w="10160">
            <a:solidFill>
              <a:srgbClr val="050505"/>
            </a:solidFill>
            <a:prstDash val="solid"/>
          </a:ln>
        </p:spPr>
      </p:sp>
      <p:sp>
        <p:nvSpPr>
          <p:cNvPr id="20" name="Text 17"/>
          <p:cNvSpPr/>
          <p:nvPr/>
        </p:nvSpPr>
        <p:spPr>
          <a:xfrm>
            <a:off x="6931152" y="5742432"/>
            <a:ext cx="3246120" cy="301752"/>
          </a:xfrm>
          <a:prstGeom prst="rect">
            <a:avLst/>
          </a:prstGeom>
          <a:noFill/>
          <a:ln/>
        </p:spPr>
        <p:txBody>
          <a:bodyPr wrap="square" lIns="0" tIns="0" rIns="0" bIns="0" rtlCol="0" anchor="ctr">
            <a:normAutofit/>
          </a:bodyPr>
          <a:lstStyle/>
          <a:p>
            <a:pPr algn="ctr" indent="0" marL="0">
              <a:buNone/>
            </a:pPr>
            <a:r>
              <a:rPr lang="en-US" sz="1250" b="1" spc="20" kern="0" dirty="0">
                <a:solidFill>
                  <a:srgbClr val="FFFFFF"/>
                </a:solidFill>
                <a:latin typeface="Arial" pitchFamily="34" charset="0"/>
                <a:ea typeface="Arial" pitchFamily="34" charset="-122"/>
                <a:cs typeface="Arial" pitchFamily="34" charset="-120"/>
              </a:rPr>
              <a:t>VOICE STARTS AFTER TAP</a:t>
            </a:r>
            <a:endParaRPr lang="en-US" sz="1250" dirty="0"/>
          </a:p>
        </p:txBody>
      </p:sp>
      <p:sp>
        <p:nvSpPr>
          <p:cNvPr id="21" name="Text 18"/>
          <p:cNvSpPr/>
          <p:nvPr/>
        </p:nvSpPr>
        <p:spPr>
          <a:xfrm>
            <a:off x="11082528" y="6364224"/>
            <a:ext cx="438912" cy="182880"/>
          </a:xfrm>
          <a:prstGeom prst="rect">
            <a:avLst/>
          </a:prstGeom>
          <a:noFill/>
          <a:ln/>
        </p:spPr>
        <p:txBody>
          <a:bodyPr wrap="square" lIns="0" tIns="0" rIns="0" bIns="0" rtlCol="0" anchor="ctr">
            <a:normAutofit/>
          </a:bodyPr>
          <a:lstStyle/>
          <a:p>
            <a:pPr algn="r" indent="0" marL="0">
              <a:buNone/>
            </a:pPr>
            <a:r>
              <a:rPr lang="en-US" sz="1000" b="1" dirty="0">
                <a:solidFill>
                  <a:srgbClr val="757575"/>
                </a:solidFill>
                <a:latin typeface="Arial" pitchFamily="34" charset="0"/>
                <a:ea typeface="Arial" pitchFamily="34" charset="-122"/>
                <a:cs typeface="Arial"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50505"/>
        </a:solidFill>
      </p:bgPr>
    </p:bg>
    <p:spTree>
      <p:nvGrpSpPr>
        <p:cNvPr id="1" name=""/>
        <p:cNvGrpSpPr/>
        <p:nvPr/>
      </p:nvGrpSpPr>
      <p:grpSpPr>
        <a:xfrm>
          <a:off x="0" y="0"/>
          <a:ext cx="0" cy="0"/>
          <a:chOff x="0" y="0"/>
          <a:chExt cx="0" cy="0"/>
        </a:xfrm>
      </p:grpSpPr>
      <p:sp>
        <p:nvSpPr>
          <p:cNvPr id="2" name="Shape 0"/>
          <p:cNvSpPr/>
          <p:nvPr/>
        </p:nvSpPr>
        <p:spPr>
          <a:xfrm>
            <a:off x="658368" y="329184"/>
            <a:ext cx="3154680" cy="6291072"/>
          </a:xfrm>
          <a:prstGeom prst="roundRect">
            <a:avLst>
              <a:gd name="adj" fmla="val 3188"/>
            </a:avLst>
          </a:prstGeom>
          <a:solidFill>
            <a:srgbClr val="141414"/>
          </a:solidFill>
          <a:ln w="15240">
            <a:solidFill>
              <a:srgbClr val="353535"/>
            </a:solidFill>
            <a:prstDash val="solid"/>
          </a:ln>
          <a:effectLst>
            <a:outerShdw sx="100000" sy="100000" kx="0" ky="0" algn="bl" rotWithShape="0" blurRad="177800" dist="38100" dir="2700000">
              <a:srgbClr val="000000">
                <a:alpha val="38000"/>
              </a:srgbClr>
            </a:outerShdw>
          </a:effectLst>
        </p:spPr>
      </p:sp>
      <p:pic>
        <p:nvPicPr>
          <p:cNvPr id="3" name="Image 0" descr="Animated 60-second SeeNA product walkthrough">    </p:cNvPr>
          <p:cNvPicPr>
            <a:picLocks noChangeAspect="1"/>
          </p:cNvPicPr>
          <p:nvPr/>
        </p:nvPicPr>
        <p:blipFill>
          <a:blip r:embed="rId1"/>
          <a:srcRect l="0" r="0" t="0" b="0"/>
          <a:stretch/>
        </p:blipFill>
        <p:spPr>
          <a:xfrm>
            <a:off x="768096" y="438912"/>
            <a:ext cx="2935224" cy="6071616"/>
          </a:xfrm>
          <a:prstGeom prst="rect">
            <a:avLst/>
          </a:prstGeom>
        </p:spPr>
      </p:pic>
      <p:sp>
        <p:nvSpPr>
          <p:cNvPr id="4" name="Shape 1"/>
          <p:cNvSpPr/>
          <p:nvPr/>
        </p:nvSpPr>
        <p:spPr>
          <a:xfrm>
            <a:off x="4443984" y="621792"/>
            <a:ext cx="2788920" cy="384048"/>
          </a:xfrm>
          <a:prstGeom prst="roundRect">
            <a:avLst>
              <a:gd name="adj" fmla="val 19048"/>
            </a:avLst>
          </a:prstGeom>
          <a:solidFill>
            <a:srgbClr val="D6A66D"/>
          </a:solidFill>
          <a:ln w="10160">
            <a:solidFill>
              <a:srgbClr val="D6A66D"/>
            </a:solidFill>
            <a:prstDash val="solid"/>
          </a:ln>
        </p:spPr>
      </p:sp>
      <p:sp>
        <p:nvSpPr>
          <p:cNvPr id="5" name="Text 2"/>
          <p:cNvSpPr/>
          <p:nvPr/>
        </p:nvSpPr>
        <p:spPr>
          <a:xfrm>
            <a:off x="4443984" y="640080"/>
            <a:ext cx="2788920" cy="301752"/>
          </a:xfrm>
          <a:prstGeom prst="rect">
            <a:avLst/>
          </a:prstGeom>
          <a:noFill/>
          <a:ln/>
        </p:spPr>
        <p:txBody>
          <a:bodyPr wrap="square" lIns="0" tIns="0" rIns="0" bIns="0" rtlCol="0" anchor="ctr">
            <a:normAutofit/>
          </a:bodyPr>
          <a:lstStyle/>
          <a:p>
            <a:pPr algn="ctr" indent="0" marL="0">
              <a:buNone/>
            </a:pPr>
            <a:r>
              <a:rPr lang="en-US" sz="1250" b="1" spc="20" kern="0" dirty="0">
                <a:solidFill>
                  <a:srgbClr val="050505"/>
                </a:solidFill>
                <a:latin typeface="Arial" pitchFamily="34" charset="0"/>
                <a:ea typeface="Arial" pitchFamily="34" charset="-122"/>
                <a:cs typeface="Arial" pitchFamily="34" charset="-120"/>
              </a:rPr>
              <a:t>60 SECOND LIVE WALKTHROUGH</a:t>
            </a:r>
            <a:endParaRPr lang="en-US" sz="1250" dirty="0"/>
          </a:p>
        </p:txBody>
      </p:sp>
      <p:sp>
        <p:nvSpPr>
          <p:cNvPr id="6" name="Text 3"/>
          <p:cNvSpPr/>
          <p:nvPr/>
        </p:nvSpPr>
        <p:spPr>
          <a:xfrm>
            <a:off x="4425696" y="1389888"/>
            <a:ext cx="6126480" cy="1353312"/>
          </a:xfrm>
          <a:prstGeom prst="rect">
            <a:avLst/>
          </a:prstGeom>
          <a:noFill/>
          <a:ln/>
        </p:spPr>
        <p:txBody>
          <a:bodyPr wrap="square" lIns="0" tIns="0" rIns="0" bIns="0" rtlCol="0" anchor="ctr">
            <a:normAutofit/>
          </a:bodyPr>
          <a:lstStyle/>
          <a:p>
            <a:pPr indent="0" marL="0">
              <a:lnSpc>
                <a:spcPct val="90000"/>
              </a:lnSpc>
              <a:buNone/>
            </a:pPr>
            <a:r>
              <a:rPr lang="en-US" sz="4500" b="1" dirty="0">
                <a:solidFill>
                  <a:srgbClr val="FFFFFF"/>
                </a:solidFill>
                <a:latin typeface="Arial" pitchFamily="34" charset="0"/>
                <a:ea typeface="Arial" pitchFamily="34" charset="-122"/>
                <a:cs typeface="Arial" pitchFamily="34" charset="-120"/>
              </a:rPr>
              <a:t>The complete</a:t>
            </a:r>
            <a:endParaRPr lang="en-US" sz="4500" dirty="0"/>
          </a:p>
          <a:p>
            <a:pPr indent="0" marL="0">
              <a:lnSpc>
                <a:spcPct val="90000"/>
              </a:lnSpc>
              <a:buNone/>
            </a:pPr>
            <a:r>
              <a:rPr lang="en-US" sz="4500" b="1" dirty="0">
                <a:solidFill>
                  <a:srgbClr val="FFFFFF"/>
                </a:solidFill>
                <a:latin typeface="Arial" pitchFamily="34" charset="0"/>
                <a:ea typeface="Arial" pitchFamily="34" charset="-122"/>
                <a:cs typeface="Arial" pitchFamily="34" charset="-120"/>
              </a:rPr>
              <a:t>SeeNA journey.</a:t>
            </a:r>
            <a:endParaRPr lang="en-US" sz="4500" dirty="0"/>
          </a:p>
        </p:txBody>
      </p:sp>
      <p:sp>
        <p:nvSpPr>
          <p:cNvPr id="7" name="Text 4"/>
          <p:cNvSpPr/>
          <p:nvPr/>
        </p:nvSpPr>
        <p:spPr>
          <a:xfrm>
            <a:off x="4480560" y="3337560"/>
            <a:ext cx="384048" cy="219456"/>
          </a:xfrm>
          <a:prstGeom prst="rect">
            <a:avLst/>
          </a:prstGeom>
          <a:noFill/>
          <a:ln/>
        </p:spPr>
        <p:txBody>
          <a:bodyPr wrap="square" lIns="0" tIns="0" rIns="0" bIns="0" rtlCol="0" anchor="ctr">
            <a:normAutofit/>
          </a:bodyPr>
          <a:lstStyle/>
          <a:p>
            <a:pPr indent="0" marL="0">
              <a:buNone/>
            </a:pPr>
            <a:r>
              <a:rPr lang="en-US" sz="1100" b="1" dirty="0">
                <a:solidFill>
                  <a:srgbClr val="D6A66D"/>
                </a:solidFill>
                <a:latin typeface="Arial" pitchFamily="34" charset="0"/>
                <a:ea typeface="Arial" pitchFamily="34" charset="-122"/>
                <a:cs typeface="Arial" pitchFamily="34" charset="-120"/>
              </a:rPr>
              <a:t>01</a:t>
            </a:r>
            <a:endParaRPr lang="en-US" sz="1100" dirty="0"/>
          </a:p>
        </p:txBody>
      </p:sp>
      <p:sp>
        <p:nvSpPr>
          <p:cNvPr id="8" name="Text 5"/>
          <p:cNvSpPr/>
          <p:nvPr/>
        </p:nvSpPr>
        <p:spPr>
          <a:xfrm>
            <a:off x="5074920" y="3310128"/>
            <a:ext cx="4389120" cy="310896"/>
          </a:xfrm>
          <a:prstGeom prst="rect">
            <a:avLst/>
          </a:prstGeom>
          <a:noFill/>
          <a:ln/>
        </p:spPr>
        <p:txBody>
          <a:bodyPr wrap="square" lIns="0" tIns="0" rIns="0" bIns="0" rtlCol="0" anchor="ctr">
            <a:normAutofit/>
          </a:bodyPr>
          <a:lstStyle/>
          <a:p>
            <a:pPr indent="0" marL="0">
              <a:buNone/>
            </a:pPr>
            <a:r>
              <a:rPr lang="en-US" sz="2000" b="1" dirty="0">
                <a:solidFill>
                  <a:srgbClr val="FFFFFF"/>
                </a:solidFill>
                <a:latin typeface="Arial" pitchFamily="34" charset="0"/>
                <a:ea typeface="Arial" pitchFamily="34" charset="-122"/>
                <a:cs typeface="Arial" pitchFamily="34" charset="-120"/>
              </a:rPr>
              <a:t>Guided positioning</a:t>
            </a:r>
            <a:endParaRPr lang="en-US" sz="2000" dirty="0"/>
          </a:p>
        </p:txBody>
      </p:sp>
      <p:sp>
        <p:nvSpPr>
          <p:cNvPr id="9" name="Shape 6"/>
          <p:cNvSpPr/>
          <p:nvPr/>
        </p:nvSpPr>
        <p:spPr>
          <a:xfrm>
            <a:off x="5074920" y="3813048"/>
            <a:ext cx="4297680" cy="0"/>
          </a:xfrm>
          <a:prstGeom prst="line">
            <a:avLst/>
          </a:prstGeom>
          <a:noFill/>
          <a:ln w="12700">
            <a:solidFill>
              <a:srgbClr val="303030"/>
            </a:solidFill>
            <a:prstDash val="solid"/>
          </a:ln>
        </p:spPr>
      </p:sp>
      <p:sp>
        <p:nvSpPr>
          <p:cNvPr id="10" name="Text 7"/>
          <p:cNvSpPr/>
          <p:nvPr/>
        </p:nvSpPr>
        <p:spPr>
          <a:xfrm>
            <a:off x="4480560" y="4123944"/>
            <a:ext cx="384048" cy="219456"/>
          </a:xfrm>
          <a:prstGeom prst="rect">
            <a:avLst/>
          </a:prstGeom>
          <a:noFill/>
          <a:ln/>
        </p:spPr>
        <p:txBody>
          <a:bodyPr wrap="square" lIns="0" tIns="0" rIns="0" bIns="0" rtlCol="0" anchor="ctr">
            <a:normAutofit/>
          </a:bodyPr>
          <a:lstStyle/>
          <a:p>
            <a:pPr indent="0" marL="0">
              <a:buNone/>
            </a:pPr>
            <a:r>
              <a:rPr lang="en-US" sz="1100" b="1" dirty="0">
                <a:solidFill>
                  <a:srgbClr val="D6A66D"/>
                </a:solidFill>
                <a:latin typeface="Arial" pitchFamily="34" charset="0"/>
                <a:ea typeface="Arial" pitchFamily="34" charset="-122"/>
                <a:cs typeface="Arial" pitchFamily="34" charset="-120"/>
              </a:rPr>
              <a:t>02</a:t>
            </a:r>
            <a:endParaRPr lang="en-US" sz="1100" dirty="0"/>
          </a:p>
        </p:txBody>
      </p:sp>
      <p:sp>
        <p:nvSpPr>
          <p:cNvPr id="11" name="Text 8"/>
          <p:cNvSpPr/>
          <p:nvPr/>
        </p:nvSpPr>
        <p:spPr>
          <a:xfrm>
            <a:off x="5074920" y="4096512"/>
            <a:ext cx="4389120" cy="310896"/>
          </a:xfrm>
          <a:prstGeom prst="rect">
            <a:avLst/>
          </a:prstGeom>
          <a:noFill/>
          <a:ln/>
        </p:spPr>
        <p:txBody>
          <a:bodyPr wrap="square" lIns="0" tIns="0" rIns="0" bIns="0" rtlCol="0" anchor="ctr">
            <a:normAutofit/>
          </a:bodyPr>
          <a:lstStyle/>
          <a:p>
            <a:pPr indent="0" marL="0">
              <a:buNone/>
            </a:pPr>
            <a:r>
              <a:rPr lang="en-US" sz="2000" b="1" dirty="0">
                <a:solidFill>
                  <a:srgbClr val="FFFFFF"/>
                </a:solidFill>
                <a:latin typeface="Arial" pitchFamily="34" charset="0"/>
                <a:ea typeface="Arial" pitchFamily="34" charset="-122"/>
                <a:cs typeface="Arial" pitchFamily="34" charset="-120"/>
              </a:rPr>
              <a:t>Voice-led screening</a:t>
            </a:r>
            <a:endParaRPr lang="en-US" sz="2000" dirty="0"/>
          </a:p>
        </p:txBody>
      </p:sp>
      <p:sp>
        <p:nvSpPr>
          <p:cNvPr id="12" name="Shape 9"/>
          <p:cNvSpPr/>
          <p:nvPr/>
        </p:nvSpPr>
        <p:spPr>
          <a:xfrm>
            <a:off x="5074920" y="4599432"/>
            <a:ext cx="4297680" cy="0"/>
          </a:xfrm>
          <a:prstGeom prst="line">
            <a:avLst/>
          </a:prstGeom>
          <a:noFill/>
          <a:ln w="12700">
            <a:solidFill>
              <a:srgbClr val="303030"/>
            </a:solidFill>
            <a:prstDash val="solid"/>
          </a:ln>
        </p:spPr>
      </p:sp>
      <p:sp>
        <p:nvSpPr>
          <p:cNvPr id="13" name="Text 10"/>
          <p:cNvSpPr/>
          <p:nvPr/>
        </p:nvSpPr>
        <p:spPr>
          <a:xfrm>
            <a:off x="4480560" y="4910328"/>
            <a:ext cx="384048" cy="219456"/>
          </a:xfrm>
          <a:prstGeom prst="rect">
            <a:avLst/>
          </a:prstGeom>
          <a:noFill/>
          <a:ln/>
        </p:spPr>
        <p:txBody>
          <a:bodyPr wrap="square" lIns="0" tIns="0" rIns="0" bIns="0" rtlCol="0" anchor="ctr">
            <a:normAutofit/>
          </a:bodyPr>
          <a:lstStyle/>
          <a:p>
            <a:pPr indent="0" marL="0">
              <a:buNone/>
            </a:pPr>
            <a:r>
              <a:rPr lang="en-US" sz="1100" b="1" dirty="0">
                <a:solidFill>
                  <a:srgbClr val="D6A66D"/>
                </a:solidFill>
                <a:latin typeface="Arial" pitchFamily="34" charset="0"/>
                <a:ea typeface="Arial" pitchFamily="34" charset="-122"/>
                <a:cs typeface="Arial" pitchFamily="34" charset="-120"/>
              </a:rPr>
              <a:t>03</a:t>
            </a:r>
            <a:endParaRPr lang="en-US" sz="1100" dirty="0"/>
          </a:p>
        </p:txBody>
      </p:sp>
      <p:sp>
        <p:nvSpPr>
          <p:cNvPr id="14" name="Text 11"/>
          <p:cNvSpPr/>
          <p:nvPr/>
        </p:nvSpPr>
        <p:spPr>
          <a:xfrm>
            <a:off x="5074920" y="4882896"/>
            <a:ext cx="4389120" cy="310896"/>
          </a:xfrm>
          <a:prstGeom prst="rect">
            <a:avLst/>
          </a:prstGeom>
          <a:noFill/>
          <a:ln/>
        </p:spPr>
        <p:txBody>
          <a:bodyPr wrap="square" lIns="0" tIns="0" rIns="0" bIns="0" rtlCol="0" anchor="ctr">
            <a:normAutofit/>
          </a:bodyPr>
          <a:lstStyle/>
          <a:p>
            <a:pPr indent="0" marL="0">
              <a:buNone/>
            </a:pPr>
            <a:r>
              <a:rPr lang="en-US" sz="2000" b="1" dirty="0">
                <a:solidFill>
                  <a:srgbClr val="FFFFFF"/>
                </a:solidFill>
                <a:latin typeface="Arial" pitchFamily="34" charset="0"/>
                <a:ea typeface="Arial" pitchFamily="34" charset="-122"/>
                <a:cs typeface="Arial" pitchFamily="34" charset="-120"/>
              </a:rPr>
              <a:t>Result and answer review</a:t>
            </a:r>
            <a:endParaRPr lang="en-US" sz="2000" dirty="0"/>
          </a:p>
        </p:txBody>
      </p:sp>
      <p:sp>
        <p:nvSpPr>
          <p:cNvPr id="15" name="Text 12"/>
          <p:cNvSpPr/>
          <p:nvPr/>
        </p:nvSpPr>
        <p:spPr>
          <a:xfrm>
            <a:off x="4480560" y="5925312"/>
            <a:ext cx="5212080" cy="256032"/>
          </a:xfrm>
          <a:prstGeom prst="rect">
            <a:avLst/>
          </a:prstGeom>
          <a:noFill/>
          <a:ln/>
        </p:spPr>
        <p:txBody>
          <a:bodyPr wrap="square" lIns="0" tIns="0" rIns="0" bIns="0" rtlCol="0" anchor="ctr">
            <a:normAutofit/>
          </a:bodyPr>
          <a:lstStyle/>
          <a:p>
            <a:pPr indent="0" marL="0">
              <a:buNone/>
            </a:pPr>
            <a:r>
              <a:rPr lang="en-US" sz="1300" dirty="0">
                <a:solidFill>
                  <a:srgbClr val="BDBDBD"/>
                </a:solidFill>
                <a:latin typeface="Arial" pitchFamily="34" charset="0"/>
                <a:ea typeface="Arial" pitchFamily="34" charset="-122"/>
                <a:cs typeface="Arial" pitchFamily="34" charset="-120"/>
              </a:rPr>
              <a:t>The walkthrough plays automatically in Slide Show mode.</a:t>
            </a:r>
            <a:endParaRPr lang="en-US" sz="1300" dirty="0"/>
          </a:p>
        </p:txBody>
      </p:sp>
      <p:sp>
        <p:nvSpPr>
          <p:cNvPr id="16" name="Text 13"/>
          <p:cNvSpPr/>
          <p:nvPr/>
        </p:nvSpPr>
        <p:spPr>
          <a:xfrm>
            <a:off x="11082528" y="6364224"/>
            <a:ext cx="438912" cy="182880"/>
          </a:xfrm>
          <a:prstGeom prst="rect">
            <a:avLst/>
          </a:prstGeom>
          <a:noFill/>
          <a:ln/>
        </p:spPr>
        <p:txBody>
          <a:bodyPr wrap="square" lIns="0" tIns="0" rIns="0" bIns="0" rtlCol="0" anchor="ctr">
            <a:normAutofit/>
          </a:bodyPr>
          <a:lstStyle/>
          <a:p>
            <a:pPr algn="r" indent="0" marL="0">
              <a:buNone/>
            </a:pPr>
            <a:r>
              <a:rPr lang="en-US" sz="1000" b="1" dirty="0">
                <a:solidFill>
                  <a:srgbClr val="BDBDBD"/>
                </a:solidFill>
                <a:latin typeface="Arial" pitchFamily="34" charset="0"/>
                <a:ea typeface="Arial" pitchFamily="34" charset="-122"/>
                <a:cs typeface="Arial"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Text 0"/>
          <p:cNvSpPr/>
          <p:nvPr/>
        </p:nvSpPr>
        <p:spPr>
          <a:xfrm>
            <a:off x="658368" y="347472"/>
            <a:ext cx="3840480" cy="256032"/>
          </a:xfrm>
          <a:prstGeom prst="rect">
            <a:avLst/>
          </a:prstGeom>
          <a:noFill/>
          <a:ln/>
        </p:spPr>
        <p:txBody>
          <a:bodyPr wrap="square" lIns="0" tIns="0" rIns="0" bIns="0" rtlCol="0" anchor="ctr">
            <a:normAutofit/>
          </a:bodyPr>
          <a:lstStyle/>
          <a:p>
            <a:pPr indent="0" marL="0">
              <a:buNone/>
            </a:pPr>
            <a:r>
              <a:rPr lang="en-US" sz="1050" b="1" spc="260" kern="0" dirty="0">
                <a:solidFill>
                  <a:srgbClr val="757575"/>
                </a:solidFill>
                <a:latin typeface="Arial" pitchFamily="34" charset="0"/>
                <a:ea typeface="Arial" pitchFamily="34" charset="-122"/>
                <a:cs typeface="Arial" pitchFamily="34" charset="-120"/>
              </a:rPr>
              <a:t>DESIGNED FOR INDEPENDENCE</a:t>
            </a:r>
            <a:endParaRPr lang="en-US" sz="1050" dirty="0"/>
          </a:p>
        </p:txBody>
      </p:sp>
      <p:sp>
        <p:nvSpPr>
          <p:cNvPr id="3" name="Text 1"/>
          <p:cNvSpPr/>
          <p:nvPr/>
        </p:nvSpPr>
        <p:spPr>
          <a:xfrm>
            <a:off x="658368" y="749808"/>
            <a:ext cx="8869680" cy="493776"/>
          </a:xfrm>
          <a:prstGeom prst="rect">
            <a:avLst/>
          </a:prstGeom>
          <a:noFill/>
          <a:ln/>
        </p:spPr>
        <p:txBody>
          <a:bodyPr wrap="square" lIns="0" tIns="0" rIns="0" bIns="0" rtlCol="0" anchor="ctr">
            <a:normAutofit/>
          </a:bodyPr>
          <a:lstStyle/>
          <a:p>
            <a:pPr indent="0" marL="0">
              <a:buNone/>
            </a:pPr>
            <a:r>
              <a:rPr lang="en-US" sz="3400" b="1" dirty="0">
                <a:solidFill>
                  <a:srgbClr val="111111"/>
                </a:solidFill>
                <a:latin typeface="Arial" pitchFamily="34" charset="0"/>
                <a:ea typeface="Arial" pitchFamily="34" charset="-122"/>
                <a:cs typeface="Arial" pitchFamily="34" charset="-120"/>
              </a:rPr>
              <a:t>One target. One answer. Full transparency.</a:t>
            </a:r>
            <a:endParaRPr lang="en-US" sz="3400" dirty="0"/>
          </a:p>
        </p:txBody>
      </p:sp>
      <p:sp>
        <p:nvSpPr>
          <p:cNvPr id="4" name="Shape 2"/>
          <p:cNvSpPr/>
          <p:nvPr/>
        </p:nvSpPr>
        <p:spPr>
          <a:xfrm>
            <a:off x="1587856" y="1435608"/>
            <a:ext cx="2048256" cy="4279392"/>
          </a:xfrm>
          <a:prstGeom prst="roundRect">
            <a:avLst>
              <a:gd name="adj" fmla="val 4464"/>
            </a:avLst>
          </a:prstGeom>
          <a:solidFill>
            <a:srgbClr val="050505"/>
          </a:solidFill>
          <a:ln w="12700">
            <a:solidFill>
              <a:srgbClr val="111111"/>
            </a:solidFill>
            <a:prstDash val="solid"/>
          </a:ln>
          <a:effectLst>
            <a:outerShdw sx="100000" sy="100000" kx="0" ky="0" algn="bl" rotWithShape="0" blurRad="127000" dist="38100" dir="2700000">
              <a:srgbClr val="000000">
                <a:alpha val="16000"/>
              </a:srgbClr>
            </a:outerShdw>
          </a:effectLst>
        </p:spPr>
      </p:sp>
      <p:pic>
        <p:nvPicPr>
          <p:cNvPr id="5" name="Image 0" descr="Circle screen">    </p:cNvPr>
          <p:cNvPicPr>
            <a:picLocks noChangeAspect="1"/>
          </p:cNvPicPr>
          <p:nvPr/>
        </p:nvPicPr>
        <p:blipFill>
          <a:blip r:embed="rId1"/>
          <a:srcRect l="0" r="0" t="0" b="0"/>
          <a:stretch/>
        </p:blipFill>
        <p:spPr>
          <a:xfrm>
            <a:off x="1661008" y="1508760"/>
            <a:ext cx="1901952" cy="4133088"/>
          </a:xfrm>
          <a:prstGeom prst="rect">
            <a:avLst/>
          </a:prstGeom>
        </p:spPr>
      </p:pic>
      <p:sp>
        <p:nvSpPr>
          <p:cNvPr id="6" name="Text 3"/>
          <p:cNvSpPr/>
          <p:nvPr/>
        </p:nvSpPr>
        <p:spPr>
          <a:xfrm>
            <a:off x="1661008" y="5897880"/>
            <a:ext cx="320040" cy="201168"/>
          </a:xfrm>
          <a:prstGeom prst="rect">
            <a:avLst/>
          </a:prstGeom>
          <a:noFill/>
          <a:ln/>
        </p:spPr>
        <p:txBody>
          <a:bodyPr wrap="square" lIns="0" tIns="0" rIns="0" bIns="0" rtlCol="0" anchor="ctr">
            <a:normAutofit/>
          </a:bodyPr>
          <a:lstStyle/>
          <a:p>
            <a:pPr indent="0" marL="0">
              <a:buNone/>
            </a:pPr>
            <a:r>
              <a:rPr lang="en-US" sz="1050" b="1" dirty="0">
                <a:solidFill>
                  <a:srgbClr val="D6A66D"/>
                </a:solidFill>
                <a:latin typeface="Arial" pitchFamily="34" charset="0"/>
                <a:ea typeface="Arial" pitchFamily="34" charset="-122"/>
                <a:cs typeface="Arial" pitchFamily="34" charset="-120"/>
              </a:rPr>
              <a:t>01</a:t>
            </a:r>
            <a:endParaRPr lang="en-US" sz="1050" dirty="0"/>
          </a:p>
        </p:txBody>
      </p:sp>
      <p:sp>
        <p:nvSpPr>
          <p:cNvPr id="7" name="Text 4"/>
          <p:cNvSpPr/>
          <p:nvPr/>
        </p:nvSpPr>
        <p:spPr>
          <a:xfrm>
            <a:off x="2045056" y="5852160"/>
            <a:ext cx="1353312" cy="265176"/>
          </a:xfrm>
          <a:prstGeom prst="rect">
            <a:avLst/>
          </a:prstGeom>
          <a:noFill/>
          <a:ln/>
        </p:spPr>
        <p:txBody>
          <a:bodyPr wrap="square" lIns="0" tIns="0" rIns="0" bIns="0" rtlCol="0" anchor="ctr">
            <a:normAutofit/>
          </a:bodyPr>
          <a:lstStyle/>
          <a:p>
            <a:pPr indent="0" marL="0">
              <a:buNone/>
            </a:pPr>
            <a:r>
              <a:rPr lang="en-US" sz="1550" b="1" dirty="0">
                <a:solidFill>
                  <a:srgbClr val="111111"/>
                </a:solidFill>
                <a:latin typeface="Arial" pitchFamily="34" charset="0"/>
                <a:ea typeface="Arial" pitchFamily="34" charset="-122"/>
                <a:cs typeface="Arial" pitchFamily="34" charset="-120"/>
              </a:rPr>
              <a:t>Circle</a:t>
            </a:r>
            <a:endParaRPr lang="en-US" sz="1550" dirty="0"/>
          </a:p>
        </p:txBody>
      </p:sp>
      <p:sp>
        <p:nvSpPr>
          <p:cNvPr id="8" name="Shape 5"/>
          <p:cNvSpPr/>
          <p:nvPr/>
        </p:nvSpPr>
        <p:spPr>
          <a:xfrm>
            <a:off x="3910432" y="1435608"/>
            <a:ext cx="2048256" cy="4279392"/>
          </a:xfrm>
          <a:prstGeom prst="roundRect">
            <a:avLst>
              <a:gd name="adj" fmla="val 4464"/>
            </a:avLst>
          </a:prstGeom>
          <a:solidFill>
            <a:srgbClr val="050505"/>
          </a:solidFill>
          <a:ln w="12700">
            <a:solidFill>
              <a:srgbClr val="111111"/>
            </a:solidFill>
            <a:prstDash val="solid"/>
          </a:ln>
          <a:effectLst>
            <a:outerShdw sx="100000" sy="100000" kx="0" ky="0" algn="bl" rotWithShape="0" blurRad="127000" dist="38100" dir="2700000">
              <a:srgbClr val="000000">
                <a:alpha val="16000"/>
              </a:srgbClr>
            </a:outerShdw>
          </a:effectLst>
        </p:spPr>
      </p:sp>
      <p:pic>
        <p:nvPicPr>
          <p:cNvPr id="9" name="Image 1" descr="Pattern screen">    </p:cNvPr>
          <p:cNvPicPr>
            <a:picLocks noChangeAspect="1"/>
          </p:cNvPicPr>
          <p:nvPr/>
        </p:nvPicPr>
        <p:blipFill>
          <a:blip r:embed="rId2"/>
          <a:srcRect l="0" r="0" t="0" b="0"/>
          <a:stretch/>
        </p:blipFill>
        <p:spPr>
          <a:xfrm>
            <a:off x="3983584" y="1508760"/>
            <a:ext cx="1901952" cy="4133088"/>
          </a:xfrm>
          <a:prstGeom prst="rect">
            <a:avLst/>
          </a:prstGeom>
        </p:spPr>
      </p:pic>
      <p:sp>
        <p:nvSpPr>
          <p:cNvPr id="10" name="Text 6"/>
          <p:cNvSpPr/>
          <p:nvPr/>
        </p:nvSpPr>
        <p:spPr>
          <a:xfrm>
            <a:off x="3983584" y="5897880"/>
            <a:ext cx="320040" cy="201168"/>
          </a:xfrm>
          <a:prstGeom prst="rect">
            <a:avLst/>
          </a:prstGeom>
          <a:noFill/>
          <a:ln/>
        </p:spPr>
        <p:txBody>
          <a:bodyPr wrap="square" lIns="0" tIns="0" rIns="0" bIns="0" rtlCol="0" anchor="ctr">
            <a:normAutofit/>
          </a:bodyPr>
          <a:lstStyle/>
          <a:p>
            <a:pPr indent="0" marL="0">
              <a:buNone/>
            </a:pPr>
            <a:r>
              <a:rPr lang="en-US" sz="1050" b="1" dirty="0">
                <a:solidFill>
                  <a:srgbClr val="D6A66D"/>
                </a:solidFill>
                <a:latin typeface="Arial" pitchFamily="34" charset="0"/>
                <a:ea typeface="Arial" pitchFamily="34" charset="-122"/>
                <a:cs typeface="Arial" pitchFamily="34" charset="-120"/>
              </a:rPr>
              <a:t>02</a:t>
            </a:r>
            <a:endParaRPr lang="en-US" sz="1050" dirty="0"/>
          </a:p>
        </p:txBody>
      </p:sp>
      <p:sp>
        <p:nvSpPr>
          <p:cNvPr id="11" name="Text 7"/>
          <p:cNvSpPr/>
          <p:nvPr/>
        </p:nvSpPr>
        <p:spPr>
          <a:xfrm>
            <a:off x="4367632" y="5852160"/>
            <a:ext cx="1353312" cy="265176"/>
          </a:xfrm>
          <a:prstGeom prst="rect">
            <a:avLst/>
          </a:prstGeom>
          <a:noFill/>
          <a:ln/>
        </p:spPr>
        <p:txBody>
          <a:bodyPr wrap="square" lIns="0" tIns="0" rIns="0" bIns="0" rtlCol="0" anchor="ctr">
            <a:normAutofit/>
          </a:bodyPr>
          <a:lstStyle/>
          <a:p>
            <a:pPr indent="0" marL="0">
              <a:buNone/>
            </a:pPr>
            <a:r>
              <a:rPr lang="en-US" sz="1550" b="1" dirty="0">
                <a:solidFill>
                  <a:srgbClr val="111111"/>
                </a:solidFill>
                <a:latin typeface="Arial" pitchFamily="34" charset="0"/>
                <a:ea typeface="Arial" pitchFamily="34" charset="-122"/>
                <a:cs typeface="Arial" pitchFamily="34" charset="-120"/>
              </a:rPr>
              <a:t>Pattern</a:t>
            </a:r>
            <a:endParaRPr lang="en-US" sz="1550" dirty="0"/>
          </a:p>
        </p:txBody>
      </p:sp>
      <p:sp>
        <p:nvSpPr>
          <p:cNvPr id="12" name="Shape 8"/>
          <p:cNvSpPr/>
          <p:nvPr/>
        </p:nvSpPr>
        <p:spPr>
          <a:xfrm>
            <a:off x="6233008" y="1435608"/>
            <a:ext cx="2048256" cy="4279392"/>
          </a:xfrm>
          <a:prstGeom prst="roundRect">
            <a:avLst>
              <a:gd name="adj" fmla="val 4464"/>
            </a:avLst>
          </a:prstGeom>
          <a:solidFill>
            <a:srgbClr val="050505"/>
          </a:solidFill>
          <a:ln w="12700">
            <a:solidFill>
              <a:srgbClr val="111111"/>
            </a:solidFill>
            <a:prstDash val="solid"/>
          </a:ln>
          <a:effectLst>
            <a:outerShdw sx="100000" sy="100000" kx="0" ky="0" algn="bl" rotWithShape="0" blurRad="127000" dist="38100" dir="2700000">
              <a:srgbClr val="000000">
                <a:alpha val="16000"/>
              </a:srgbClr>
            </a:outerShdw>
          </a:effectLst>
        </p:spPr>
      </p:sp>
      <p:pic>
        <p:nvPicPr>
          <p:cNvPr id="13" name="Image 2" descr="Result screen">    </p:cNvPr>
          <p:cNvPicPr>
            <a:picLocks noChangeAspect="1"/>
          </p:cNvPicPr>
          <p:nvPr/>
        </p:nvPicPr>
        <p:blipFill>
          <a:blip r:embed="rId3"/>
          <a:srcRect l="0" r="0" t="0" b="0"/>
          <a:stretch/>
        </p:blipFill>
        <p:spPr>
          <a:xfrm>
            <a:off x="6306160" y="1508760"/>
            <a:ext cx="1901952" cy="4133088"/>
          </a:xfrm>
          <a:prstGeom prst="rect">
            <a:avLst/>
          </a:prstGeom>
        </p:spPr>
      </p:pic>
      <p:sp>
        <p:nvSpPr>
          <p:cNvPr id="14" name="Text 9"/>
          <p:cNvSpPr/>
          <p:nvPr/>
        </p:nvSpPr>
        <p:spPr>
          <a:xfrm>
            <a:off x="6306160" y="5897880"/>
            <a:ext cx="320040" cy="201168"/>
          </a:xfrm>
          <a:prstGeom prst="rect">
            <a:avLst/>
          </a:prstGeom>
          <a:noFill/>
          <a:ln/>
        </p:spPr>
        <p:txBody>
          <a:bodyPr wrap="square" lIns="0" tIns="0" rIns="0" bIns="0" rtlCol="0" anchor="ctr">
            <a:normAutofit/>
          </a:bodyPr>
          <a:lstStyle/>
          <a:p>
            <a:pPr indent="0" marL="0">
              <a:buNone/>
            </a:pPr>
            <a:r>
              <a:rPr lang="en-US" sz="1050" b="1" dirty="0">
                <a:solidFill>
                  <a:srgbClr val="D6A66D"/>
                </a:solidFill>
                <a:latin typeface="Arial" pitchFamily="34" charset="0"/>
                <a:ea typeface="Arial" pitchFamily="34" charset="-122"/>
                <a:cs typeface="Arial" pitchFamily="34" charset="-120"/>
              </a:rPr>
              <a:t>03</a:t>
            </a:r>
            <a:endParaRPr lang="en-US" sz="1050" dirty="0"/>
          </a:p>
        </p:txBody>
      </p:sp>
      <p:sp>
        <p:nvSpPr>
          <p:cNvPr id="15" name="Text 10"/>
          <p:cNvSpPr/>
          <p:nvPr/>
        </p:nvSpPr>
        <p:spPr>
          <a:xfrm>
            <a:off x="6690208" y="5852160"/>
            <a:ext cx="1353312" cy="265176"/>
          </a:xfrm>
          <a:prstGeom prst="rect">
            <a:avLst/>
          </a:prstGeom>
          <a:noFill/>
          <a:ln/>
        </p:spPr>
        <p:txBody>
          <a:bodyPr wrap="square" lIns="0" tIns="0" rIns="0" bIns="0" rtlCol="0" anchor="ctr">
            <a:normAutofit/>
          </a:bodyPr>
          <a:lstStyle/>
          <a:p>
            <a:pPr indent="0" marL="0">
              <a:buNone/>
            </a:pPr>
            <a:r>
              <a:rPr lang="en-US" sz="1550" b="1" dirty="0">
                <a:solidFill>
                  <a:srgbClr val="111111"/>
                </a:solidFill>
                <a:latin typeface="Arial" pitchFamily="34" charset="0"/>
                <a:ea typeface="Arial" pitchFamily="34" charset="-122"/>
                <a:cs typeface="Arial" pitchFamily="34" charset="-120"/>
              </a:rPr>
              <a:t>Result</a:t>
            </a:r>
            <a:endParaRPr lang="en-US" sz="1550" dirty="0"/>
          </a:p>
        </p:txBody>
      </p:sp>
      <p:sp>
        <p:nvSpPr>
          <p:cNvPr id="16" name="Shape 11"/>
          <p:cNvSpPr/>
          <p:nvPr/>
        </p:nvSpPr>
        <p:spPr>
          <a:xfrm>
            <a:off x="8555584" y="1435608"/>
            <a:ext cx="2048256" cy="4279392"/>
          </a:xfrm>
          <a:prstGeom prst="roundRect">
            <a:avLst>
              <a:gd name="adj" fmla="val 4464"/>
            </a:avLst>
          </a:prstGeom>
          <a:solidFill>
            <a:srgbClr val="050505"/>
          </a:solidFill>
          <a:ln w="12700">
            <a:solidFill>
              <a:srgbClr val="111111"/>
            </a:solidFill>
            <a:prstDash val="solid"/>
          </a:ln>
          <a:effectLst>
            <a:outerShdw sx="100000" sy="100000" kx="0" ky="0" algn="bl" rotWithShape="0" blurRad="127000" dist="38100" dir="2700000">
              <a:srgbClr val="000000">
                <a:alpha val="16000"/>
              </a:srgbClr>
            </a:outerShdw>
          </a:effectLst>
        </p:spPr>
      </p:sp>
      <p:pic>
        <p:nvPicPr>
          <p:cNvPr id="17" name="Image 3" descr="Review screen">    </p:cNvPr>
          <p:cNvPicPr>
            <a:picLocks noChangeAspect="1"/>
          </p:cNvPicPr>
          <p:nvPr/>
        </p:nvPicPr>
        <p:blipFill>
          <a:blip r:embed="rId4"/>
          <a:srcRect l="0" r="0" t="0" b="0"/>
          <a:stretch/>
        </p:blipFill>
        <p:spPr>
          <a:xfrm>
            <a:off x="8628736" y="1508760"/>
            <a:ext cx="1901952" cy="4133088"/>
          </a:xfrm>
          <a:prstGeom prst="rect">
            <a:avLst/>
          </a:prstGeom>
        </p:spPr>
      </p:pic>
      <p:sp>
        <p:nvSpPr>
          <p:cNvPr id="18" name="Text 12"/>
          <p:cNvSpPr/>
          <p:nvPr/>
        </p:nvSpPr>
        <p:spPr>
          <a:xfrm>
            <a:off x="8628736" y="5897880"/>
            <a:ext cx="320040" cy="201168"/>
          </a:xfrm>
          <a:prstGeom prst="rect">
            <a:avLst/>
          </a:prstGeom>
          <a:noFill/>
          <a:ln/>
        </p:spPr>
        <p:txBody>
          <a:bodyPr wrap="square" lIns="0" tIns="0" rIns="0" bIns="0" rtlCol="0" anchor="ctr">
            <a:normAutofit/>
          </a:bodyPr>
          <a:lstStyle/>
          <a:p>
            <a:pPr indent="0" marL="0">
              <a:buNone/>
            </a:pPr>
            <a:r>
              <a:rPr lang="en-US" sz="1050" b="1" dirty="0">
                <a:solidFill>
                  <a:srgbClr val="D6A66D"/>
                </a:solidFill>
                <a:latin typeface="Arial" pitchFamily="34" charset="0"/>
                <a:ea typeface="Arial" pitchFamily="34" charset="-122"/>
                <a:cs typeface="Arial" pitchFamily="34" charset="-120"/>
              </a:rPr>
              <a:t>04</a:t>
            </a:r>
            <a:endParaRPr lang="en-US" sz="1050" dirty="0"/>
          </a:p>
        </p:txBody>
      </p:sp>
      <p:sp>
        <p:nvSpPr>
          <p:cNvPr id="19" name="Text 13"/>
          <p:cNvSpPr/>
          <p:nvPr/>
        </p:nvSpPr>
        <p:spPr>
          <a:xfrm>
            <a:off x="9012784" y="5852160"/>
            <a:ext cx="1353312" cy="265176"/>
          </a:xfrm>
          <a:prstGeom prst="rect">
            <a:avLst/>
          </a:prstGeom>
          <a:noFill/>
          <a:ln/>
        </p:spPr>
        <p:txBody>
          <a:bodyPr wrap="square" lIns="0" tIns="0" rIns="0" bIns="0" rtlCol="0" anchor="ctr">
            <a:normAutofit/>
          </a:bodyPr>
          <a:lstStyle/>
          <a:p>
            <a:pPr indent="0" marL="0">
              <a:buNone/>
            </a:pPr>
            <a:r>
              <a:rPr lang="en-US" sz="1550" b="1" dirty="0">
                <a:solidFill>
                  <a:srgbClr val="111111"/>
                </a:solidFill>
                <a:latin typeface="Arial" pitchFamily="34" charset="0"/>
                <a:ea typeface="Arial" pitchFamily="34" charset="-122"/>
                <a:cs typeface="Arial" pitchFamily="34" charset="-120"/>
              </a:rPr>
              <a:t>Review</a:t>
            </a:r>
            <a:endParaRPr lang="en-US" sz="1550" dirty="0"/>
          </a:p>
        </p:txBody>
      </p:sp>
      <p:sp>
        <p:nvSpPr>
          <p:cNvPr id="20" name="Text 14"/>
          <p:cNvSpPr/>
          <p:nvPr/>
        </p:nvSpPr>
        <p:spPr>
          <a:xfrm>
            <a:off x="11082528" y="6364224"/>
            <a:ext cx="438912" cy="182880"/>
          </a:xfrm>
          <a:prstGeom prst="rect">
            <a:avLst/>
          </a:prstGeom>
          <a:noFill/>
          <a:ln/>
        </p:spPr>
        <p:txBody>
          <a:bodyPr wrap="square" lIns="0" tIns="0" rIns="0" bIns="0" rtlCol="0" anchor="ctr">
            <a:normAutofit/>
          </a:bodyPr>
          <a:lstStyle/>
          <a:p>
            <a:pPr algn="r" indent="0" marL="0">
              <a:buNone/>
            </a:pPr>
            <a:r>
              <a:rPr lang="en-US" sz="1000" b="1" dirty="0">
                <a:solidFill>
                  <a:srgbClr val="757575"/>
                </a:solidFill>
                <a:latin typeface="Arial" pitchFamily="34" charset="0"/>
                <a:ea typeface="Arial" pitchFamily="34" charset="-122"/>
                <a:cs typeface="Arial"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50505"/>
        </a:solidFill>
      </p:bgPr>
    </p:bg>
    <p:spTree>
      <p:nvGrpSpPr>
        <p:cNvPr id="1" name=""/>
        <p:cNvGrpSpPr/>
        <p:nvPr/>
      </p:nvGrpSpPr>
      <p:grpSpPr>
        <a:xfrm>
          <a:off x="0" y="0"/>
          <a:ext cx="0" cy="0"/>
          <a:chOff x="0" y="0"/>
          <a:chExt cx="0" cy="0"/>
        </a:xfrm>
      </p:grpSpPr>
      <p:sp>
        <p:nvSpPr>
          <p:cNvPr id="2" name="Text 0"/>
          <p:cNvSpPr/>
          <p:nvPr/>
        </p:nvSpPr>
        <p:spPr>
          <a:xfrm>
            <a:off x="658368" y="347472"/>
            <a:ext cx="3840480" cy="256032"/>
          </a:xfrm>
          <a:prstGeom prst="rect">
            <a:avLst/>
          </a:prstGeom>
          <a:noFill/>
          <a:ln/>
        </p:spPr>
        <p:txBody>
          <a:bodyPr wrap="square" lIns="0" tIns="0" rIns="0" bIns="0" rtlCol="0" anchor="ctr">
            <a:normAutofit/>
          </a:bodyPr>
          <a:lstStyle/>
          <a:p>
            <a:pPr indent="0" marL="0">
              <a:buNone/>
            </a:pPr>
            <a:r>
              <a:rPr lang="en-US" sz="1050" b="1" spc="260" kern="0" dirty="0">
                <a:solidFill>
                  <a:srgbClr val="BDBDBD"/>
                </a:solidFill>
                <a:latin typeface="Arial" pitchFamily="34" charset="0"/>
                <a:ea typeface="Arial" pitchFamily="34" charset="-122"/>
                <a:cs typeface="Arial" pitchFamily="34" charset="-120"/>
              </a:rPr>
              <a:t>BUILT FOR TRUST</a:t>
            </a:r>
            <a:endParaRPr lang="en-US" sz="1050" dirty="0"/>
          </a:p>
        </p:txBody>
      </p:sp>
      <p:sp>
        <p:nvSpPr>
          <p:cNvPr id="3" name="Text 1"/>
          <p:cNvSpPr/>
          <p:nvPr/>
        </p:nvSpPr>
        <p:spPr>
          <a:xfrm>
            <a:off x="658368" y="804672"/>
            <a:ext cx="8412480" cy="1051560"/>
          </a:xfrm>
          <a:prstGeom prst="rect">
            <a:avLst/>
          </a:prstGeom>
          <a:noFill/>
          <a:ln/>
        </p:spPr>
        <p:txBody>
          <a:bodyPr wrap="square" lIns="0" tIns="0" rIns="0" bIns="0" rtlCol="0" anchor="ctr">
            <a:normAutofit/>
          </a:bodyPr>
          <a:lstStyle/>
          <a:p>
            <a:pPr indent="0" marL="0">
              <a:lnSpc>
                <a:spcPct val="90000"/>
              </a:lnSpc>
              <a:buNone/>
            </a:pPr>
            <a:r>
              <a:rPr lang="en-US" sz="4000" b="1" dirty="0">
                <a:solidFill>
                  <a:srgbClr val="FFFFFF"/>
                </a:solidFill>
                <a:latin typeface="Arial" pitchFamily="34" charset="0"/>
                <a:ea typeface="Arial" pitchFamily="34" charset="-122"/>
                <a:cs typeface="Arial" pitchFamily="34" charset="-120"/>
              </a:rPr>
              <a:t>The result comes from the test.</a:t>
            </a:r>
            <a:endParaRPr lang="en-US" sz="4000" dirty="0"/>
          </a:p>
          <a:p>
            <a:pPr indent="0" marL="0">
              <a:lnSpc>
                <a:spcPct val="90000"/>
              </a:lnSpc>
              <a:buNone/>
            </a:pPr>
            <a:r>
              <a:rPr lang="en-US" sz="4000" b="1" dirty="0">
                <a:solidFill>
                  <a:srgbClr val="FFFFFF"/>
                </a:solidFill>
                <a:latin typeface="Arial" pitchFamily="34" charset="0"/>
                <a:ea typeface="Arial" pitchFamily="34" charset="-122"/>
                <a:cs typeface="Arial" pitchFamily="34" charset="-120"/>
              </a:rPr>
              <a:t>Not the model.</a:t>
            </a:r>
            <a:endParaRPr lang="en-US" sz="4000" dirty="0"/>
          </a:p>
        </p:txBody>
      </p:sp>
      <p:sp>
        <p:nvSpPr>
          <p:cNvPr id="4" name="Shape 2"/>
          <p:cNvSpPr/>
          <p:nvPr/>
        </p:nvSpPr>
        <p:spPr>
          <a:xfrm>
            <a:off x="768096" y="1938528"/>
            <a:ext cx="2084832" cy="4361688"/>
          </a:xfrm>
          <a:prstGeom prst="roundRect">
            <a:avLst>
              <a:gd name="adj" fmla="val 4386"/>
            </a:avLst>
          </a:prstGeom>
          <a:solidFill>
            <a:srgbClr val="050505"/>
          </a:solidFill>
          <a:ln w="12700">
            <a:solidFill>
              <a:srgbClr val="FFFFFF"/>
            </a:solidFill>
            <a:prstDash val="solid"/>
          </a:ln>
          <a:effectLst>
            <a:outerShdw sx="100000" sy="100000" kx="0" ky="0" algn="bl" rotWithShape="0" blurRad="127000" dist="38100" dir="2700000">
              <a:srgbClr val="000000">
                <a:alpha val="16000"/>
              </a:srgbClr>
            </a:outerShdw>
          </a:effectLst>
        </p:spPr>
      </p:sp>
      <p:pic>
        <p:nvPicPr>
          <p:cNvPr id="5" name="Image 0" descr="SeeNA screening result screen">    </p:cNvPr>
          <p:cNvPicPr>
            <a:picLocks noChangeAspect="1"/>
          </p:cNvPicPr>
          <p:nvPr/>
        </p:nvPicPr>
        <p:blipFill>
          <a:blip r:embed="rId1"/>
          <a:srcRect l="0" r="0" t="0" b="0"/>
          <a:stretch/>
        </p:blipFill>
        <p:spPr>
          <a:xfrm>
            <a:off x="841248" y="2011680"/>
            <a:ext cx="1938528" cy="4215384"/>
          </a:xfrm>
          <a:prstGeom prst="rect">
            <a:avLst/>
          </a:prstGeom>
        </p:spPr>
      </p:pic>
      <p:sp>
        <p:nvSpPr>
          <p:cNvPr id="6" name="Shape 3"/>
          <p:cNvSpPr/>
          <p:nvPr/>
        </p:nvSpPr>
        <p:spPr>
          <a:xfrm>
            <a:off x="3456432" y="2011680"/>
            <a:ext cx="7772400" cy="1069848"/>
          </a:xfrm>
          <a:prstGeom prst="roundRect">
            <a:avLst>
              <a:gd name="adj" fmla="val 5128"/>
            </a:avLst>
          </a:prstGeom>
          <a:solidFill>
            <a:srgbClr val="111111"/>
          </a:solidFill>
          <a:ln w="12700">
            <a:solidFill>
              <a:srgbClr val="303030"/>
            </a:solidFill>
            <a:prstDash val="solid"/>
          </a:ln>
        </p:spPr>
      </p:sp>
      <p:sp>
        <p:nvSpPr>
          <p:cNvPr id="7" name="Text 4"/>
          <p:cNvSpPr/>
          <p:nvPr/>
        </p:nvSpPr>
        <p:spPr>
          <a:xfrm>
            <a:off x="3730752" y="2194560"/>
            <a:ext cx="411480" cy="201168"/>
          </a:xfrm>
          <a:prstGeom prst="rect">
            <a:avLst/>
          </a:prstGeom>
          <a:noFill/>
          <a:ln/>
        </p:spPr>
        <p:txBody>
          <a:bodyPr wrap="square" lIns="0" tIns="0" rIns="0" bIns="0" rtlCol="0" anchor="ctr">
            <a:normAutofit/>
          </a:bodyPr>
          <a:lstStyle/>
          <a:p>
            <a:pPr indent="0" marL="0">
              <a:buNone/>
            </a:pPr>
            <a:r>
              <a:rPr lang="en-US" sz="1050" b="1" dirty="0">
                <a:solidFill>
                  <a:srgbClr val="D6A66D"/>
                </a:solidFill>
                <a:latin typeface="Arial" pitchFamily="34" charset="0"/>
                <a:ea typeface="Arial" pitchFamily="34" charset="-122"/>
                <a:cs typeface="Arial" pitchFamily="34" charset="-120"/>
              </a:rPr>
              <a:t>01</a:t>
            </a:r>
            <a:endParaRPr lang="en-US" sz="1050" dirty="0"/>
          </a:p>
        </p:txBody>
      </p:sp>
      <p:sp>
        <p:nvSpPr>
          <p:cNvPr id="8" name="Text 5"/>
          <p:cNvSpPr/>
          <p:nvPr/>
        </p:nvSpPr>
        <p:spPr>
          <a:xfrm>
            <a:off x="4343400" y="2148840"/>
            <a:ext cx="2971800" cy="310896"/>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Arial" pitchFamily="34" charset="0"/>
                <a:ea typeface="Arial" pitchFamily="34" charset="-122"/>
                <a:cs typeface="Arial" pitchFamily="34" charset="-120"/>
              </a:rPr>
              <a:t>Scored on the iPhone</a:t>
            </a:r>
            <a:endParaRPr lang="en-US" sz="2100" dirty="0"/>
          </a:p>
        </p:txBody>
      </p:sp>
      <p:sp>
        <p:nvSpPr>
          <p:cNvPr id="9" name="Text 6"/>
          <p:cNvSpPr/>
          <p:nvPr/>
        </p:nvSpPr>
        <p:spPr>
          <a:xfrm>
            <a:off x="7360920" y="2167128"/>
            <a:ext cx="3429000" cy="493776"/>
          </a:xfrm>
          <a:prstGeom prst="rect">
            <a:avLst/>
          </a:prstGeom>
          <a:noFill/>
          <a:ln/>
        </p:spPr>
        <p:txBody>
          <a:bodyPr wrap="square" lIns="0" tIns="0" rIns="0" bIns="0" rtlCol="0" anchor="ctr">
            <a:normAutofit/>
          </a:bodyPr>
          <a:lstStyle/>
          <a:p>
            <a:pPr indent="0" marL="0">
              <a:buNone/>
            </a:pPr>
            <a:r>
              <a:rPr lang="en-US" sz="1250" dirty="0">
                <a:solidFill>
                  <a:srgbClr val="BDBDBD"/>
                </a:solidFill>
                <a:latin typeface="Arial" pitchFamily="34" charset="0"/>
                <a:ea typeface="Arial" pitchFamily="34" charset="-122"/>
                <a:cs typeface="Arial" pitchFamily="34" charset="-120"/>
              </a:rPr>
              <a:t>Landolt C and Gabor responses determine the estimate.</a:t>
            </a:r>
            <a:endParaRPr lang="en-US" sz="1250" dirty="0"/>
          </a:p>
        </p:txBody>
      </p:sp>
      <p:sp>
        <p:nvSpPr>
          <p:cNvPr id="10" name="Shape 7"/>
          <p:cNvSpPr/>
          <p:nvPr/>
        </p:nvSpPr>
        <p:spPr>
          <a:xfrm>
            <a:off x="3456432" y="3419856"/>
            <a:ext cx="7772400" cy="1069848"/>
          </a:xfrm>
          <a:prstGeom prst="roundRect">
            <a:avLst>
              <a:gd name="adj" fmla="val 5128"/>
            </a:avLst>
          </a:prstGeom>
          <a:solidFill>
            <a:srgbClr val="D6A66D"/>
          </a:solidFill>
          <a:ln w="12700">
            <a:solidFill>
              <a:srgbClr val="D6A66D"/>
            </a:solidFill>
            <a:prstDash val="solid"/>
          </a:ln>
        </p:spPr>
      </p:sp>
      <p:sp>
        <p:nvSpPr>
          <p:cNvPr id="11" name="Text 8"/>
          <p:cNvSpPr/>
          <p:nvPr/>
        </p:nvSpPr>
        <p:spPr>
          <a:xfrm>
            <a:off x="3730752" y="3602736"/>
            <a:ext cx="411480" cy="201168"/>
          </a:xfrm>
          <a:prstGeom prst="rect">
            <a:avLst/>
          </a:prstGeom>
          <a:noFill/>
          <a:ln/>
        </p:spPr>
        <p:txBody>
          <a:bodyPr wrap="square" lIns="0" tIns="0" rIns="0" bIns="0" rtlCol="0" anchor="ctr">
            <a:normAutofit/>
          </a:bodyPr>
          <a:lstStyle/>
          <a:p>
            <a:pPr indent="0" marL="0">
              <a:buNone/>
            </a:pPr>
            <a:r>
              <a:rPr lang="en-US" sz="1050" b="1" dirty="0">
                <a:solidFill>
                  <a:srgbClr val="050505"/>
                </a:solidFill>
                <a:latin typeface="Arial" pitchFamily="34" charset="0"/>
                <a:ea typeface="Arial" pitchFamily="34" charset="-122"/>
                <a:cs typeface="Arial" pitchFamily="34" charset="-120"/>
              </a:rPr>
              <a:t>02</a:t>
            </a:r>
            <a:endParaRPr lang="en-US" sz="1050" dirty="0"/>
          </a:p>
        </p:txBody>
      </p:sp>
      <p:sp>
        <p:nvSpPr>
          <p:cNvPr id="12" name="Text 9"/>
          <p:cNvSpPr/>
          <p:nvPr/>
        </p:nvSpPr>
        <p:spPr>
          <a:xfrm>
            <a:off x="4343400" y="3557016"/>
            <a:ext cx="2971800" cy="310896"/>
          </a:xfrm>
          <a:prstGeom prst="rect">
            <a:avLst/>
          </a:prstGeom>
          <a:noFill/>
          <a:ln/>
        </p:spPr>
        <p:txBody>
          <a:bodyPr wrap="square" lIns="0" tIns="0" rIns="0" bIns="0" rtlCol="0" anchor="ctr">
            <a:normAutofit/>
          </a:bodyPr>
          <a:lstStyle/>
          <a:p>
            <a:pPr indent="0" marL="0">
              <a:buNone/>
            </a:pPr>
            <a:r>
              <a:rPr lang="en-US" sz="2100" b="1" dirty="0">
                <a:solidFill>
                  <a:srgbClr val="050505"/>
                </a:solidFill>
                <a:latin typeface="Arial" pitchFamily="34" charset="0"/>
                <a:ea typeface="Arial" pitchFamily="34" charset="-122"/>
                <a:cs typeface="Arial" pitchFamily="34" charset="-120"/>
              </a:rPr>
              <a:t>AI explains only</a:t>
            </a:r>
            <a:endParaRPr lang="en-US" sz="2100" dirty="0"/>
          </a:p>
        </p:txBody>
      </p:sp>
      <p:sp>
        <p:nvSpPr>
          <p:cNvPr id="13" name="Text 10"/>
          <p:cNvSpPr/>
          <p:nvPr/>
        </p:nvSpPr>
        <p:spPr>
          <a:xfrm>
            <a:off x="7360920" y="3575304"/>
            <a:ext cx="3429000" cy="493776"/>
          </a:xfrm>
          <a:prstGeom prst="rect">
            <a:avLst/>
          </a:prstGeom>
          <a:noFill/>
          <a:ln/>
        </p:spPr>
        <p:txBody>
          <a:bodyPr wrap="square" lIns="0" tIns="0" rIns="0" bIns="0" rtlCol="0" anchor="ctr">
            <a:normAutofit/>
          </a:bodyPr>
          <a:lstStyle/>
          <a:p>
            <a:pPr indent="0" marL="0">
              <a:buNone/>
            </a:pPr>
            <a:r>
              <a:rPr lang="en-US" sz="1250" dirty="0">
                <a:solidFill>
                  <a:srgbClr val="050505"/>
                </a:solidFill>
                <a:latin typeface="Arial" pitchFamily="34" charset="0"/>
                <a:ea typeface="Arial" pitchFamily="34" charset="-122"/>
                <a:cs typeface="Arial" pitchFamily="34" charset="-120"/>
              </a:rPr>
              <a:t>Plain-language meaning, never a model-generated number.</a:t>
            </a:r>
            <a:endParaRPr lang="en-US" sz="1250" dirty="0"/>
          </a:p>
        </p:txBody>
      </p:sp>
      <p:sp>
        <p:nvSpPr>
          <p:cNvPr id="14" name="Shape 11"/>
          <p:cNvSpPr/>
          <p:nvPr/>
        </p:nvSpPr>
        <p:spPr>
          <a:xfrm>
            <a:off x="3456432" y="4828032"/>
            <a:ext cx="7772400" cy="1069848"/>
          </a:xfrm>
          <a:prstGeom prst="roundRect">
            <a:avLst>
              <a:gd name="adj" fmla="val 5128"/>
            </a:avLst>
          </a:prstGeom>
          <a:solidFill>
            <a:srgbClr val="111111"/>
          </a:solidFill>
          <a:ln w="12700">
            <a:solidFill>
              <a:srgbClr val="303030"/>
            </a:solidFill>
            <a:prstDash val="solid"/>
          </a:ln>
        </p:spPr>
      </p:sp>
      <p:sp>
        <p:nvSpPr>
          <p:cNvPr id="15" name="Text 12"/>
          <p:cNvSpPr/>
          <p:nvPr/>
        </p:nvSpPr>
        <p:spPr>
          <a:xfrm>
            <a:off x="3730752" y="5010912"/>
            <a:ext cx="411480" cy="201168"/>
          </a:xfrm>
          <a:prstGeom prst="rect">
            <a:avLst/>
          </a:prstGeom>
          <a:noFill/>
          <a:ln/>
        </p:spPr>
        <p:txBody>
          <a:bodyPr wrap="square" lIns="0" tIns="0" rIns="0" bIns="0" rtlCol="0" anchor="ctr">
            <a:normAutofit/>
          </a:bodyPr>
          <a:lstStyle/>
          <a:p>
            <a:pPr indent="0" marL="0">
              <a:buNone/>
            </a:pPr>
            <a:r>
              <a:rPr lang="en-US" sz="1050" b="1" dirty="0">
                <a:solidFill>
                  <a:srgbClr val="D6A66D"/>
                </a:solidFill>
                <a:latin typeface="Arial" pitchFamily="34" charset="0"/>
                <a:ea typeface="Arial" pitchFamily="34" charset="-122"/>
                <a:cs typeface="Arial" pitchFamily="34" charset="-120"/>
              </a:rPr>
              <a:t>03</a:t>
            </a:r>
            <a:endParaRPr lang="en-US" sz="1050" dirty="0"/>
          </a:p>
        </p:txBody>
      </p:sp>
      <p:sp>
        <p:nvSpPr>
          <p:cNvPr id="16" name="Text 13"/>
          <p:cNvSpPr/>
          <p:nvPr/>
        </p:nvSpPr>
        <p:spPr>
          <a:xfrm>
            <a:off x="4343400" y="4965192"/>
            <a:ext cx="2971800" cy="310896"/>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Arial" pitchFamily="34" charset="0"/>
                <a:ea typeface="Arial" pitchFamily="34" charset="-122"/>
                <a:cs typeface="Arial" pitchFamily="34" charset="-120"/>
              </a:rPr>
              <a:t>Private by design</a:t>
            </a:r>
            <a:endParaRPr lang="en-US" sz="2100" dirty="0"/>
          </a:p>
        </p:txBody>
      </p:sp>
      <p:sp>
        <p:nvSpPr>
          <p:cNvPr id="17" name="Text 14"/>
          <p:cNvSpPr/>
          <p:nvPr/>
        </p:nvSpPr>
        <p:spPr>
          <a:xfrm>
            <a:off x="7360920" y="4983480"/>
            <a:ext cx="3429000" cy="493776"/>
          </a:xfrm>
          <a:prstGeom prst="rect">
            <a:avLst/>
          </a:prstGeom>
          <a:noFill/>
          <a:ln/>
        </p:spPr>
        <p:txBody>
          <a:bodyPr wrap="square" lIns="0" tIns="0" rIns="0" bIns="0" rtlCol="0" anchor="ctr">
            <a:normAutofit/>
          </a:bodyPr>
          <a:lstStyle/>
          <a:p>
            <a:pPr indent="0" marL="0">
              <a:buNone/>
            </a:pPr>
            <a:r>
              <a:rPr lang="en-US" sz="1250" dirty="0">
                <a:solidFill>
                  <a:srgbClr val="BDBDBD"/>
                </a:solidFill>
                <a:latin typeface="Arial" pitchFamily="34" charset="0"/>
                <a:ea typeface="Arial" pitchFamily="34" charset="-122"/>
                <a:cs typeface="Arial" pitchFamily="34" charset="-120"/>
              </a:rPr>
              <a:t>No raw camera frames or face mesh sent to OpenAI.</a:t>
            </a:r>
            <a:endParaRPr lang="en-US" sz="1250" dirty="0"/>
          </a:p>
        </p:txBody>
      </p:sp>
      <p:sp>
        <p:nvSpPr>
          <p:cNvPr id="18" name="Text 15"/>
          <p:cNvSpPr/>
          <p:nvPr/>
        </p:nvSpPr>
        <p:spPr>
          <a:xfrm>
            <a:off x="11082528" y="6364224"/>
            <a:ext cx="438912" cy="182880"/>
          </a:xfrm>
          <a:prstGeom prst="rect">
            <a:avLst/>
          </a:prstGeom>
          <a:noFill/>
          <a:ln/>
        </p:spPr>
        <p:txBody>
          <a:bodyPr wrap="square" lIns="0" tIns="0" rIns="0" bIns="0" rtlCol="0" anchor="ctr">
            <a:normAutofit/>
          </a:bodyPr>
          <a:lstStyle/>
          <a:p>
            <a:pPr algn="r" indent="0" marL="0">
              <a:buNone/>
            </a:pPr>
            <a:r>
              <a:rPr lang="en-US" sz="1000" b="1" dirty="0">
                <a:solidFill>
                  <a:srgbClr val="BDBDBD"/>
                </a:solidFill>
                <a:latin typeface="Arial" pitchFamily="34" charset="0"/>
                <a:ea typeface="Arial" pitchFamily="34" charset="-122"/>
                <a:cs typeface="Arial"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SeeNA product mark and iPhone on a black background">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400800" cy="6858000"/>
          </a:xfrm>
          <a:prstGeom prst="rect">
            <a:avLst/>
          </a:prstGeom>
          <a:solidFill>
            <a:srgbClr val="000000">
              <a:alpha val="85000"/>
            </a:srgbClr>
          </a:solidFill>
          <a:ln w="12700">
            <a:solidFill>
              <a:srgbClr val="000000">
                <a:alpha val="0"/>
              </a:srgbClr>
            </a:solidFill>
            <a:prstDash val="solid"/>
          </a:ln>
        </p:spPr>
      </p:sp>
      <p:sp>
        <p:nvSpPr>
          <p:cNvPr id="4" name="Text 1"/>
          <p:cNvSpPr/>
          <p:nvPr/>
        </p:nvSpPr>
        <p:spPr>
          <a:xfrm>
            <a:off x="658368" y="347472"/>
            <a:ext cx="3840480" cy="256032"/>
          </a:xfrm>
          <a:prstGeom prst="rect">
            <a:avLst/>
          </a:prstGeom>
          <a:noFill/>
          <a:ln/>
        </p:spPr>
        <p:txBody>
          <a:bodyPr wrap="square" lIns="0" tIns="0" rIns="0" bIns="0" rtlCol="0" anchor="ctr">
            <a:normAutofit/>
          </a:bodyPr>
          <a:lstStyle/>
          <a:p>
            <a:pPr indent="0" marL="0">
              <a:buNone/>
            </a:pPr>
            <a:r>
              <a:rPr lang="en-US" sz="1050" b="1" spc="260" kern="0" dirty="0">
                <a:solidFill>
                  <a:srgbClr val="BDBDBD"/>
                </a:solidFill>
                <a:latin typeface="Arial" pitchFamily="34" charset="0"/>
                <a:ea typeface="Arial" pitchFamily="34" charset="-122"/>
                <a:cs typeface="Arial" pitchFamily="34" charset="-120"/>
              </a:rPr>
              <a:t>WHY IT MATTERS</a:t>
            </a:r>
            <a:endParaRPr lang="en-US" sz="1050" dirty="0"/>
          </a:p>
        </p:txBody>
      </p:sp>
      <p:sp>
        <p:nvSpPr>
          <p:cNvPr id="5" name="Text 2"/>
          <p:cNvSpPr/>
          <p:nvPr/>
        </p:nvSpPr>
        <p:spPr>
          <a:xfrm>
            <a:off x="658368" y="1024128"/>
            <a:ext cx="5029200" cy="1188720"/>
          </a:xfrm>
          <a:prstGeom prst="rect">
            <a:avLst/>
          </a:prstGeom>
          <a:noFill/>
          <a:ln/>
        </p:spPr>
        <p:txBody>
          <a:bodyPr wrap="square" lIns="0" tIns="0" rIns="0" bIns="0" rtlCol="0" anchor="ctr">
            <a:normAutofit/>
          </a:bodyPr>
          <a:lstStyle/>
          <a:p>
            <a:pPr indent="0" marL="0">
              <a:lnSpc>
                <a:spcPct val="90000"/>
              </a:lnSpc>
              <a:buNone/>
            </a:pPr>
            <a:r>
              <a:rPr lang="en-US" sz="4500" b="1" dirty="0">
                <a:solidFill>
                  <a:srgbClr val="FFFFFF"/>
                </a:solidFill>
                <a:latin typeface="Arial" pitchFamily="34" charset="0"/>
                <a:ea typeface="Arial" pitchFamily="34" charset="-122"/>
                <a:cs typeface="Arial" pitchFamily="34" charset="-120"/>
              </a:rPr>
              <a:t>Access without</a:t>
            </a:r>
            <a:endParaRPr lang="en-US" sz="4500" dirty="0"/>
          </a:p>
          <a:p>
            <a:pPr indent="0" marL="0">
              <a:lnSpc>
                <a:spcPct val="90000"/>
              </a:lnSpc>
              <a:buNone/>
            </a:pPr>
            <a:r>
              <a:rPr lang="en-US" sz="4500" b="1" dirty="0">
                <a:solidFill>
                  <a:srgbClr val="FFFFFF"/>
                </a:solidFill>
                <a:latin typeface="Arial" pitchFamily="34" charset="0"/>
                <a:ea typeface="Arial" pitchFamily="34" charset="-122"/>
                <a:cs typeface="Arial" pitchFamily="34" charset="-120"/>
              </a:rPr>
              <a:t>complexity.</a:t>
            </a:r>
            <a:endParaRPr lang="en-US" sz="4500" dirty="0"/>
          </a:p>
        </p:txBody>
      </p:sp>
      <p:sp>
        <p:nvSpPr>
          <p:cNvPr id="6" name="Text 3"/>
          <p:cNvSpPr/>
          <p:nvPr/>
        </p:nvSpPr>
        <p:spPr>
          <a:xfrm>
            <a:off x="685800" y="2542032"/>
            <a:ext cx="4526280" cy="594360"/>
          </a:xfrm>
          <a:prstGeom prst="rect">
            <a:avLst/>
          </a:prstGeom>
          <a:noFill/>
          <a:ln/>
        </p:spPr>
        <p:txBody>
          <a:bodyPr wrap="square" lIns="0" tIns="0" rIns="0" bIns="0" rtlCol="0" anchor="ctr">
            <a:normAutofit/>
          </a:bodyPr>
          <a:lstStyle/>
          <a:p>
            <a:pPr indent="0" marL="0">
              <a:buNone/>
            </a:pPr>
            <a:r>
              <a:rPr lang="en-US" sz="1800" dirty="0">
                <a:solidFill>
                  <a:srgbClr val="E2E2E2"/>
                </a:solidFill>
                <a:latin typeface="Arial" pitchFamily="34" charset="0"/>
                <a:ea typeface="Arial" pitchFamily="34" charset="-122"/>
                <a:cs typeface="Arial" pitchFamily="34" charset="-120"/>
              </a:rPr>
              <a:t>The phone already in your hand becomes a clear first step.</a:t>
            </a:r>
            <a:endParaRPr lang="en-US" sz="1800" dirty="0"/>
          </a:p>
        </p:txBody>
      </p:sp>
      <p:sp>
        <p:nvSpPr>
          <p:cNvPr id="7" name="Shape 4"/>
          <p:cNvSpPr/>
          <p:nvPr/>
        </p:nvSpPr>
        <p:spPr>
          <a:xfrm>
            <a:off x="676656" y="3822192"/>
            <a:ext cx="1572768" cy="384048"/>
          </a:xfrm>
          <a:prstGeom prst="roundRect">
            <a:avLst>
              <a:gd name="adj" fmla="val 19048"/>
            </a:avLst>
          </a:prstGeom>
          <a:solidFill>
            <a:srgbClr val="FFFFFF"/>
          </a:solidFill>
          <a:ln w="10160">
            <a:solidFill>
              <a:srgbClr val="FFFFFF"/>
            </a:solidFill>
            <a:prstDash val="solid"/>
          </a:ln>
        </p:spPr>
      </p:sp>
      <p:sp>
        <p:nvSpPr>
          <p:cNvPr id="8" name="Text 5"/>
          <p:cNvSpPr/>
          <p:nvPr/>
        </p:nvSpPr>
        <p:spPr>
          <a:xfrm>
            <a:off x="676656" y="3840480"/>
            <a:ext cx="1572768" cy="301752"/>
          </a:xfrm>
          <a:prstGeom prst="rect">
            <a:avLst/>
          </a:prstGeom>
          <a:noFill/>
          <a:ln/>
        </p:spPr>
        <p:txBody>
          <a:bodyPr wrap="square" lIns="0" tIns="0" rIns="0" bIns="0" rtlCol="0" anchor="ctr">
            <a:normAutofit/>
          </a:bodyPr>
          <a:lstStyle/>
          <a:p>
            <a:pPr algn="ctr" indent="0" marL="0">
              <a:buNone/>
            </a:pPr>
            <a:r>
              <a:rPr lang="en-US" sz="1250" b="1" spc="20" kern="0" dirty="0">
                <a:solidFill>
                  <a:srgbClr val="050505"/>
                </a:solidFill>
                <a:latin typeface="Arial" pitchFamily="34" charset="0"/>
                <a:ea typeface="Arial" pitchFamily="34" charset="-122"/>
                <a:cs typeface="Arial" pitchFamily="34" charset="-120"/>
              </a:rPr>
              <a:t>VOICE GUIDED</a:t>
            </a:r>
            <a:endParaRPr lang="en-US" sz="1250" dirty="0"/>
          </a:p>
        </p:txBody>
      </p:sp>
      <p:sp>
        <p:nvSpPr>
          <p:cNvPr id="9" name="Shape 6"/>
          <p:cNvSpPr/>
          <p:nvPr/>
        </p:nvSpPr>
        <p:spPr>
          <a:xfrm>
            <a:off x="2423160" y="3822192"/>
            <a:ext cx="1417320" cy="384048"/>
          </a:xfrm>
          <a:prstGeom prst="roundRect">
            <a:avLst>
              <a:gd name="adj" fmla="val 19048"/>
            </a:avLst>
          </a:prstGeom>
          <a:solidFill>
            <a:srgbClr val="FFFFFF"/>
          </a:solidFill>
          <a:ln w="10160">
            <a:solidFill>
              <a:srgbClr val="FFFFFF"/>
            </a:solidFill>
            <a:prstDash val="solid"/>
          </a:ln>
        </p:spPr>
      </p:sp>
      <p:sp>
        <p:nvSpPr>
          <p:cNvPr id="10" name="Text 7"/>
          <p:cNvSpPr/>
          <p:nvPr/>
        </p:nvSpPr>
        <p:spPr>
          <a:xfrm>
            <a:off x="2423160" y="3840480"/>
            <a:ext cx="1417320" cy="301752"/>
          </a:xfrm>
          <a:prstGeom prst="rect">
            <a:avLst/>
          </a:prstGeom>
          <a:noFill/>
          <a:ln/>
        </p:spPr>
        <p:txBody>
          <a:bodyPr wrap="square" lIns="0" tIns="0" rIns="0" bIns="0" rtlCol="0" anchor="ctr">
            <a:normAutofit/>
          </a:bodyPr>
          <a:lstStyle/>
          <a:p>
            <a:pPr algn="ctr" indent="0" marL="0">
              <a:buNone/>
            </a:pPr>
            <a:r>
              <a:rPr lang="en-US" sz="1250" b="1" spc="20" kern="0" dirty="0">
                <a:solidFill>
                  <a:srgbClr val="050505"/>
                </a:solidFill>
                <a:latin typeface="Arial" pitchFamily="34" charset="0"/>
                <a:ea typeface="Arial" pitchFamily="34" charset="-122"/>
                <a:cs typeface="Arial" pitchFamily="34" charset="-120"/>
              </a:rPr>
              <a:t>NO READING</a:t>
            </a:r>
            <a:endParaRPr lang="en-US" sz="1250" dirty="0"/>
          </a:p>
        </p:txBody>
      </p:sp>
      <p:sp>
        <p:nvSpPr>
          <p:cNvPr id="11" name="Shape 8"/>
          <p:cNvSpPr/>
          <p:nvPr/>
        </p:nvSpPr>
        <p:spPr>
          <a:xfrm>
            <a:off x="4023360" y="3822192"/>
            <a:ext cx="1737360" cy="384048"/>
          </a:xfrm>
          <a:prstGeom prst="roundRect">
            <a:avLst>
              <a:gd name="adj" fmla="val 19048"/>
            </a:avLst>
          </a:prstGeom>
          <a:solidFill>
            <a:srgbClr val="D6A66D"/>
          </a:solidFill>
          <a:ln w="10160">
            <a:solidFill>
              <a:srgbClr val="D6A66D"/>
            </a:solidFill>
            <a:prstDash val="solid"/>
          </a:ln>
        </p:spPr>
      </p:sp>
      <p:sp>
        <p:nvSpPr>
          <p:cNvPr id="12" name="Text 9"/>
          <p:cNvSpPr/>
          <p:nvPr/>
        </p:nvSpPr>
        <p:spPr>
          <a:xfrm>
            <a:off x="4023360" y="3840480"/>
            <a:ext cx="1737360" cy="301752"/>
          </a:xfrm>
          <a:prstGeom prst="rect">
            <a:avLst/>
          </a:prstGeom>
          <a:noFill/>
          <a:ln/>
        </p:spPr>
        <p:txBody>
          <a:bodyPr wrap="square" lIns="0" tIns="0" rIns="0" bIns="0" rtlCol="0" anchor="ctr">
            <a:normAutofit/>
          </a:bodyPr>
          <a:lstStyle/>
          <a:p>
            <a:pPr algn="ctr" indent="0" marL="0">
              <a:buNone/>
            </a:pPr>
            <a:r>
              <a:rPr lang="en-US" sz="1250" b="1" spc="20" kern="0" dirty="0">
                <a:solidFill>
                  <a:srgbClr val="050505"/>
                </a:solidFill>
                <a:latin typeface="Arial" pitchFamily="34" charset="0"/>
                <a:ea typeface="Arial" pitchFamily="34" charset="-122"/>
                <a:cs typeface="Arial" pitchFamily="34" charset="-120"/>
              </a:rPr>
              <a:t>CLEAR NEXT STEP</a:t>
            </a:r>
            <a:endParaRPr lang="en-US" sz="1250" dirty="0"/>
          </a:p>
        </p:txBody>
      </p:sp>
      <p:sp>
        <p:nvSpPr>
          <p:cNvPr id="13" name="Text 10"/>
          <p:cNvSpPr/>
          <p:nvPr/>
        </p:nvSpPr>
        <p:spPr>
          <a:xfrm>
            <a:off x="11082528" y="6364224"/>
            <a:ext cx="438912" cy="182880"/>
          </a:xfrm>
          <a:prstGeom prst="rect">
            <a:avLst/>
          </a:prstGeom>
          <a:noFill/>
          <a:ln/>
        </p:spPr>
        <p:txBody>
          <a:bodyPr wrap="square" lIns="0" tIns="0" rIns="0" bIns="0" rtlCol="0" anchor="ctr">
            <a:normAutofit/>
          </a:bodyPr>
          <a:lstStyle/>
          <a:p>
            <a:pPr algn="r" indent="0" marL="0">
              <a:buNone/>
            </a:pPr>
            <a:r>
              <a:rPr lang="en-US" sz="1000" b="1" dirty="0">
                <a:solidFill>
                  <a:srgbClr val="BDBDBD"/>
                </a:solidFill>
                <a:latin typeface="Arial" pitchFamily="34" charset="0"/>
                <a:ea typeface="Arial" pitchFamily="34" charset="-122"/>
                <a:cs typeface="Arial"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pic>
        <p:nvPicPr>
          <p:cNvPr id="2" name="Image 0" descr="SeeNA app icon">    </p:cNvPr>
          <p:cNvPicPr>
            <a:picLocks noChangeAspect="1"/>
          </p:cNvPicPr>
          <p:nvPr/>
        </p:nvPicPr>
        <p:blipFill>
          <a:blip r:embed="rId1"/>
          <a:srcRect l="0" r="0" t="0" b="0"/>
          <a:stretch/>
        </p:blipFill>
        <p:spPr>
          <a:xfrm>
            <a:off x="713232" y="566928"/>
            <a:ext cx="987552" cy="987552"/>
          </a:xfrm>
          <a:prstGeom prst="rect">
            <a:avLst/>
          </a:prstGeom>
        </p:spPr>
      </p:pic>
      <p:sp>
        <p:nvSpPr>
          <p:cNvPr id="3" name="Shape 0"/>
          <p:cNvSpPr/>
          <p:nvPr/>
        </p:nvSpPr>
        <p:spPr>
          <a:xfrm>
            <a:off x="9189720" y="640080"/>
            <a:ext cx="2286000" cy="384048"/>
          </a:xfrm>
          <a:prstGeom prst="roundRect">
            <a:avLst>
              <a:gd name="adj" fmla="val 19048"/>
            </a:avLst>
          </a:prstGeom>
          <a:solidFill>
            <a:srgbClr val="FFFFFF"/>
          </a:solidFill>
          <a:ln w="10160">
            <a:solidFill>
              <a:srgbClr val="FFFFFF"/>
            </a:solidFill>
            <a:prstDash val="solid"/>
          </a:ln>
        </p:spPr>
      </p:sp>
      <p:sp>
        <p:nvSpPr>
          <p:cNvPr id="4" name="Text 1"/>
          <p:cNvSpPr/>
          <p:nvPr/>
        </p:nvSpPr>
        <p:spPr>
          <a:xfrm>
            <a:off x="9189720" y="658368"/>
            <a:ext cx="2286000" cy="301752"/>
          </a:xfrm>
          <a:prstGeom prst="rect">
            <a:avLst/>
          </a:prstGeom>
          <a:noFill/>
          <a:ln/>
        </p:spPr>
        <p:txBody>
          <a:bodyPr wrap="square" lIns="0" tIns="0" rIns="0" bIns="0" rtlCol="0" anchor="ctr">
            <a:normAutofit/>
          </a:bodyPr>
          <a:lstStyle/>
          <a:p>
            <a:pPr algn="ctr" indent="0" marL="0">
              <a:buNone/>
            </a:pPr>
            <a:r>
              <a:rPr lang="en-US" sz="1250" b="1" spc="20" kern="0" dirty="0">
                <a:solidFill>
                  <a:srgbClr val="050505"/>
                </a:solidFill>
                <a:latin typeface="Arial" pitchFamily="34" charset="0"/>
                <a:ea typeface="Arial" pitchFamily="34" charset="-122"/>
                <a:cs typeface="Arial" pitchFamily="34" charset="-120"/>
              </a:rPr>
              <a:t>SYNCS HACKATHON 2026</a:t>
            </a:r>
            <a:endParaRPr lang="en-US" sz="1250" dirty="0"/>
          </a:p>
        </p:txBody>
      </p:sp>
      <p:sp>
        <p:nvSpPr>
          <p:cNvPr id="5" name="Text 2"/>
          <p:cNvSpPr/>
          <p:nvPr/>
        </p:nvSpPr>
        <p:spPr>
          <a:xfrm>
            <a:off x="713232" y="1828800"/>
            <a:ext cx="8138160" cy="1508760"/>
          </a:xfrm>
          <a:prstGeom prst="rect">
            <a:avLst/>
          </a:prstGeom>
          <a:noFill/>
          <a:ln/>
        </p:spPr>
        <p:txBody>
          <a:bodyPr wrap="square" lIns="0" tIns="0" rIns="0" bIns="0" rtlCol="0" anchor="ctr">
            <a:normAutofit/>
          </a:bodyPr>
          <a:lstStyle/>
          <a:p>
            <a:pPr indent="0" marL="0">
              <a:lnSpc>
                <a:spcPct val="90000"/>
              </a:lnSpc>
              <a:buNone/>
            </a:pPr>
            <a:r>
              <a:rPr lang="en-US" sz="4400" b="1" dirty="0">
                <a:solidFill>
                  <a:srgbClr val="FFFFFF"/>
                </a:solidFill>
                <a:latin typeface="Arial" pitchFamily="34" charset="0"/>
                <a:ea typeface="Arial" pitchFamily="34" charset="-122"/>
                <a:cs typeface="Arial" pitchFamily="34" charset="-120"/>
              </a:rPr>
              <a:t>A first step toward clarity.</a:t>
            </a:r>
            <a:endParaRPr lang="en-US" sz="4400" dirty="0"/>
          </a:p>
          <a:p>
            <a:pPr indent="0" marL="0">
              <a:lnSpc>
                <a:spcPct val="90000"/>
              </a:lnSpc>
              <a:buNone/>
            </a:pPr>
            <a:r>
              <a:rPr lang="en-US" sz="4400" b="1" dirty="0">
                <a:solidFill>
                  <a:srgbClr val="FFFFFF"/>
                </a:solidFill>
                <a:latin typeface="Arial" pitchFamily="34" charset="0"/>
                <a:ea typeface="Arial" pitchFamily="34" charset="-122"/>
                <a:cs typeface="Arial" pitchFamily="34" charset="-120"/>
              </a:rPr>
              <a:t>For anyone, anywhere.</a:t>
            </a:r>
            <a:endParaRPr lang="en-US" sz="4400" dirty="0"/>
          </a:p>
        </p:txBody>
      </p:sp>
      <p:sp>
        <p:nvSpPr>
          <p:cNvPr id="6" name="Text 3"/>
          <p:cNvSpPr/>
          <p:nvPr/>
        </p:nvSpPr>
        <p:spPr>
          <a:xfrm>
            <a:off x="731520" y="3749040"/>
            <a:ext cx="2011680" cy="530352"/>
          </a:xfrm>
          <a:prstGeom prst="rect">
            <a:avLst/>
          </a:prstGeom>
          <a:noFill/>
          <a:ln/>
        </p:spPr>
        <p:txBody>
          <a:bodyPr wrap="square" lIns="0" tIns="0" rIns="0" bIns="0" rtlCol="0" anchor="ctr">
            <a:normAutofit/>
          </a:bodyPr>
          <a:lstStyle/>
          <a:p>
            <a:pPr indent="0" marL="0">
              <a:buNone/>
            </a:pPr>
            <a:r>
              <a:rPr lang="en-US" sz="3300" b="1" dirty="0">
                <a:solidFill>
                  <a:srgbClr val="D6A66D"/>
                </a:solidFill>
                <a:latin typeface="Arial" pitchFamily="34" charset="0"/>
                <a:ea typeface="Arial" pitchFamily="34" charset="-122"/>
                <a:cs typeface="Arial" pitchFamily="34" charset="-120"/>
              </a:rPr>
              <a:t>SeeNA</a:t>
            </a:r>
            <a:endParaRPr lang="en-US" sz="3300" dirty="0"/>
          </a:p>
        </p:txBody>
      </p:sp>
      <p:sp>
        <p:nvSpPr>
          <p:cNvPr id="7" name="Text 4"/>
          <p:cNvSpPr/>
          <p:nvPr/>
        </p:nvSpPr>
        <p:spPr>
          <a:xfrm>
            <a:off x="749808" y="4315968"/>
            <a:ext cx="3017520" cy="292608"/>
          </a:xfrm>
          <a:prstGeom prst="rect">
            <a:avLst/>
          </a:prstGeom>
          <a:noFill/>
          <a:ln/>
        </p:spPr>
        <p:txBody>
          <a:bodyPr wrap="square" lIns="0" tIns="0" rIns="0" bIns="0" rtlCol="0" anchor="ctr">
            <a:normAutofit/>
          </a:bodyPr>
          <a:lstStyle/>
          <a:p>
            <a:pPr indent="0" marL="0">
              <a:buNone/>
            </a:pPr>
            <a:r>
              <a:rPr lang="en-US" sz="1600" dirty="0">
                <a:solidFill>
                  <a:srgbClr val="BDBDBD"/>
                </a:solidFill>
                <a:latin typeface="Arial" pitchFamily="34" charset="0"/>
                <a:ea typeface="Arial" pitchFamily="34" charset="-122"/>
                <a:cs typeface="Arial" pitchFamily="34" charset="-120"/>
              </a:rPr>
              <a:t>See Now and Always</a:t>
            </a:r>
            <a:endParaRPr lang="en-US" sz="1600" dirty="0"/>
          </a:p>
        </p:txBody>
      </p:sp>
      <p:sp>
        <p:nvSpPr>
          <p:cNvPr id="8" name="Shape 5"/>
          <p:cNvSpPr/>
          <p:nvPr/>
        </p:nvSpPr>
        <p:spPr>
          <a:xfrm>
            <a:off x="731520" y="5138928"/>
            <a:ext cx="10744200" cy="0"/>
          </a:xfrm>
          <a:prstGeom prst="line">
            <a:avLst/>
          </a:prstGeom>
          <a:noFill/>
          <a:ln w="12700">
            <a:solidFill>
              <a:srgbClr val="2B2B2B"/>
            </a:solidFill>
            <a:prstDash val="solid"/>
          </a:ln>
        </p:spPr>
      </p:sp>
      <p:sp>
        <p:nvSpPr>
          <p:cNvPr id="9" name="Text 6"/>
          <p:cNvSpPr/>
          <p:nvPr/>
        </p:nvSpPr>
        <p:spPr>
          <a:xfrm>
            <a:off x="731520" y="5532120"/>
            <a:ext cx="2286000" cy="274320"/>
          </a:xfrm>
          <a:prstGeom prst="rect">
            <a:avLst/>
          </a:prstGeom>
          <a:noFill/>
          <a:ln/>
        </p:spPr>
        <p:txBody>
          <a:bodyPr wrap="square" lIns="0" tIns="0" rIns="0" bIns="0" rtlCol="0" anchor="ctr">
            <a:normAutofit/>
          </a:bodyPr>
          <a:lstStyle/>
          <a:p>
            <a:pPr indent="0" marL="0">
              <a:buNone/>
            </a:pPr>
            <a:r>
              <a:rPr lang="en-US" sz="1400" b="1" dirty="0">
                <a:solidFill>
                  <a:srgbClr val="FFFFFF"/>
                </a:solidFill>
                <a:latin typeface="Arial" pitchFamily="34" charset="0"/>
                <a:ea typeface="Arial" pitchFamily="34" charset="-122"/>
                <a:cs typeface="Arial" pitchFamily="34" charset="-120"/>
              </a:rPr>
              <a:t>Karthik Ramesh</a:t>
            </a:r>
            <a:endParaRPr lang="en-US" sz="1400" dirty="0"/>
          </a:p>
        </p:txBody>
      </p:sp>
      <p:sp>
        <p:nvSpPr>
          <p:cNvPr id="10" name="Text 7"/>
          <p:cNvSpPr/>
          <p:nvPr/>
        </p:nvSpPr>
        <p:spPr>
          <a:xfrm>
            <a:off x="3401568" y="5532120"/>
            <a:ext cx="2468880" cy="274320"/>
          </a:xfrm>
          <a:prstGeom prst="rect">
            <a:avLst/>
          </a:prstGeom>
          <a:noFill/>
          <a:ln/>
        </p:spPr>
        <p:txBody>
          <a:bodyPr wrap="square" lIns="0" tIns="0" rIns="0" bIns="0" rtlCol="0" anchor="ctr">
            <a:normAutofit/>
          </a:bodyPr>
          <a:lstStyle/>
          <a:p>
            <a:pPr indent="0" marL="0">
              <a:buNone/>
            </a:pPr>
            <a:r>
              <a:rPr lang="en-US" sz="1400" b="1" dirty="0">
                <a:solidFill>
                  <a:srgbClr val="FFFFFF"/>
                </a:solidFill>
                <a:latin typeface="Arial" pitchFamily="34" charset="0"/>
                <a:ea typeface="Arial" pitchFamily="34" charset="-122"/>
                <a:cs typeface="Arial" pitchFamily="34" charset="-120"/>
              </a:rPr>
              <a:t>Kishore Srinivasan</a:t>
            </a:r>
            <a:endParaRPr lang="en-US" sz="1400" dirty="0"/>
          </a:p>
        </p:txBody>
      </p:sp>
      <p:sp>
        <p:nvSpPr>
          <p:cNvPr id="11" name="Text 8"/>
          <p:cNvSpPr/>
          <p:nvPr/>
        </p:nvSpPr>
        <p:spPr>
          <a:xfrm>
            <a:off x="6327648" y="5532120"/>
            <a:ext cx="2286000" cy="274320"/>
          </a:xfrm>
          <a:prstGeom prst="rect">
            <a:avLst/>
          </a:prstGeom>
          <a:noFill/>
          <a:ln/>
        </p:spPr>
        <p:txBody>
          <a:bodyPr wrap="square" lIns="0" tIns="0" rIns="0" bIns="0" rtlCol="0" anchor="ctr">
            <a:normAutofit/>
          </a:bodyPr>
          <a:lstStyle/>
          <a:p>
            <a:pPr indent="0" marL="0">
              <a:buNone/>
            </a:pPr>
            <a:r>
              <a:rPr lang="en-US" sz="1400" b="1" dirty="0">
                <a:solidFill>
                  <a:srgbClr val="FFFFFF"/>
                </a:solidFill>
                <a:latin typeface="Arial" pitchFamily="34" charset="0"/>
                <a:ea typeface="Arial" pitchFamily="34" charset="-122"/>
                <a:cs typeface="Arial" pitchFamily="34" charset="-120"/>
              </a:rPr>
              <a:t>Suryateja Challa</a:t>
            </a:r>
            <a:endParaRPr lang="en-US" sz="1400" dirty="0"/>
          </a:p>
        </p:txBody>
      </p:sp>
      <p:sp>
        <p:nvSpPr>
          <p:cNvPr id="12" name="Text 9"/>
          <p:cNvSpPr/>
          <p:nvPr/>
        </p:nvSpPr>
        <p:spPr>
          <a:xfrm>
            <a:off x="9107424" y="5532120"/>
            <a:ext cx="2011680" cy="274320"/>
          </a:xfrm>
          <a:prstGeom prst="rect">
            <a:avLst/>
          </a:prstGeom>
          <a:noFill/>
          <a:ln/>
        </p:spPr>
        <p:txBody>
          <a:bodyPr wrap="square" lIns="0" tIns="0" rIns="0" bIns="0" rtlCol="0" anchor="ctr">
            <a:normAutofit/>
          </a:bodyPr>
          <a:lstStyle/>
          <a:p>
            <a:pPr indent="0" marL="0">
              <a:buNone/>
            </a:pPr>
            <a:r>
              <a:rPr lang="en-US" sz="1400" b="1" dirty="0">
                <a:solidFill>
                  <a:srgbClr val="FFFFFF"/>
                </a:solidFill>
                <a:latin typeface="Arial" pitchFamily="34" charset="0"/>
                <a:ea typeface="Arial" pitchFamily="34" charset="-122"/>
                <a:cs typeface="Arial" pitchFamily="34" charset="-120"/>
              </a:rPr>
              <a:t>Sujan Ramesh</a:t>
            </a:r>
            <a:endParaRPr lang="en-US" sz="1400" dirty="0"/>
          </a:p>
        </p:txBody>
      </p:sp>
      <p:sp>
        <p:nvSpPr>
          <p:cNvPr id="13" name="Text 10"/>
          <p:cNvSpPr/>
          <p:nvPr/>
        </p:nvSpPr>
        <p:spPr>
          <a:xfrm>
            <a:off x="6967728" y="3913632"/>
            <a:ext cx="4480560" cy="585216"/>
          </a:xfrm>
          <a:prstGeom prst="rect">
            <a:avLst/>
          </a:prstGeom>
          <a:noFill/>
          <a:ln/>
        </p:spPr>
        <p:txBody>
          <a:bodyPr wrap="square" lIns="0" tIns="0" rIns="0" bIns="0" rtlCol="0" anchor="ctr">
            <a:normAutofit/>
          </a:bodyPr>
          <a:lstStyle/>
          <a:p>
            <a:pPr algn="r" indent="0" marL="0">
              <a:buNone/>
            </a:pPr>
            <a:r>
              <a:rPr lang="en-US" sz="2000" b="1" dirty="0">
                <a:solidFill>
                  <a:srgbClr val="FFFFFF"/>
                </a:solidFill>
                <a:latin typeface="Arial" pitchFamily="34" charset="0"/>
                <a:ea typeface="Arial" pitchFamily="34" charset="-122"/>
                <a:cs typeface="Arial" pitchFamily="34" charset="-120"/>
              </a:rPr>
              <a:t>Because everyone deserves to see their world, now and always.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SeeNA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SeeNA: See Now and Always</dc:title>
  <dc:subject>Syncs Hackathon 2026 product pitch</dc:subject>
  <dc:creator>Karthik Ramesh, Kishore Srinivasan, Suryateja Challa, Sujan Ramesh</dc:creator>
  <cp:lastModifiedBy>Karthik Ramesh, Kishore Srinivasan, Suryateja Challa, Sujan Ramesh</cp:lastModifiedBy>
  <cp:revision>1</cp:revision>
  <dcterms:created xsi:type="dcterms:W3CDTF">2026-08-30T03:43:04Z</dcterms:created>
  <dcterms:modified xsi:type="dcterms:W3CDTF">2026-08-30T03:43:04Z</dcterms:modified>
</cp:coreProperties>
</file>