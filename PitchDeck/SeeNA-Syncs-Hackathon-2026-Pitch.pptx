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to 0:12
Most eye checks begin with a clinic appointment. SeeNA begins with the iPhone already in your hand, making the first step simple, independent and understandable.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0:12 to 0:32
For older adults and remote communities, distance, transport and dependence can turn a simple check into a chain of barriers. People delay action not because vision does not matter, but because the first step is hard to reach. SeeNA reconnects that missing block without pretending to replace an optometrist.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0:32 to 0:45
One tap starts the experience. SeeNA speaks every instruction, guides positioning, shows one large target at a time and waits for a natural voice answer. No chart, typing or technical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 to 2:13
Presenter pauses. Play the embedded 1 minute 28.44 second walkthrough with sound. Do not add narration over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2:13 to 2:38
What you saw is deliberate. Landolt C asks where the circle opens. Gabor asks which way the pattern tilts. Each eye is screened separately, the target waits for every answer, and ‘I cannot see it’ counts as evidence. The user receives an estimate and can review every prompt, correct answer and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2:38 to 3:13
The architecture separates screening from explanation. TrueDepth, motion, lighting, gaze and stillness checks run on the device to protect result quality. Landolt C and Gabor responses are scored deterministically on the iPhone. OpenAI transcription turns speech into text, and GPT-5.6 Luna explains the finished result in plain language. AI never creates or changes the numeric estimate, and raw camera frames and face-mesh data are not sent to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3:13 to 3:37
SeeNA supports the moment before access: an older adult at home, a family helping someone they love, or a remote community looking for a first signal. The phone already there becomes a guided, reviewable first step. When concern appears, SeeNA makes the next action clear: arrange a complete eye examination.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3:37 to 4:00
Our world is built from people, communities, and access. But when eye care becomes a missing block, distance and age can leave someone behind. SeeNA reconnects that block, turning the phone already in their hand into a first step toward clarity. Because everyone deserves to see their world, now and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eNA hero image with the app and Landolt C symbol">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5577840" cy="6858000"/>
          </a:xfrm>
          <a:prstGeom prst="rect">
            <a:avLst/>
          </a:prstGeom>
          <a:solidFill>
            <a:srgbClr val="050505">
              <a:alpha val="96000"/>
            </a:srgbClr>
          </a:solidFill>
          <a:ln w="12700">
            <a:solidFill>
              <a:srgbClr val="050505">
                <a:alpha val="0"/>
              </a:srgbClr>
            </a:solidFill>
            <a:prstDash val="solid"/>
          </a:ln>
        </p:spPr>
      </p:sp>
      <p:sp>
        <p:nvSpPr>
          <p:cNvPr id="4" name="Shape 1"/>
          <p:cNvSpPr/>
          <p:nvPr/>
        </p:nvSpPr>
        <p:spPr>
          <a:xfrm>
            <a:off x="713232" y="530352"/>
            <a:ext cx="2304288" cy="384048"/>
          </a:xfrm>
          <a:prstGeom prst="roundRect">
            <a:avLst>
              <a:gd name="adj" fmla="val 19048"/>
            </a:avLst>
          </a:prstGeom>
          <a:solidFill>
            <a:srgbClr val="FFFFFF"/>
          </a:solidFill>
          <a:ln w="10160">
            <a:solidFill>
              <a:srgbClr val="FFFFFF"/>
            </a:solidFill>
            <a:prstDash val="solid"/>
          </a:ln>
        </p:spPr>
      </p:sp>
      <p:sp>
        <p:nvSpPr>
          <p:cNvPr id="5" name="Text 2"/>
          <p:cNvSpPr/>
          <p:nvPr/>
        </p:nvSpPr>
        <p:spPr>
          <a:xfrm>
            <a:off x="713232" y="548640"/>
            <a:ext cx="2304288" cy="301752"/>
          </a:xfrm>
          <a:prstGeom prst="rect">
            <a:avLst/>
          </a:prstGeom>
          <a:noFill/>
          <a:ln/>
        </p:spPr>
        <p:txBody>
          <a:bodyPr wrap="square" lIns="0" tIns="0" rIns="0" bIns="0" rtlCol="0" anchor="ctr">
            <a:normAutofit/>
          </a:bodyPr>
          <a:lstStyle/>
          <a:p>
            <a:pPr algn="ctr" indent="0" marL="0">
              <a:buNone/>
            </a:pPr>
            <a:r>
              <a:rPr lang="en-US" sz="1250" b="1" spc="20" kern="0" dirty="0">
                <a:solidFill>
                  <a:srgbClr val="050505"/>
                </a:solidFill>
                <a:latin typeface="Arial" pitchFamily="34" charset="0"/>
                <a:ea typeface="Arial" pitchFamily="34" charset="-122"/>
                <a:cs typeface="Arial" pitchFamily="34" charset="-120"/>
              </a:rPr>
              <a:t>SYNCS HACKATHON 2026</a:t>
            </a:r>
            <a:endParaRPr lang="en-US" sz="1250" dirty="0"/>
          </a:p>
        </p:txBody>
      </p:sp>
      <p:sp>
        <p:nvSpPr>
          <p:cNvPr id="6" name="Text 3"/>
          <p:cNvSpPr/>
          <p:nvPr/>
        </p:nvSpPr>
        <p:spPr>
          <a:xfrm>
            <a:off x="713232" y="3090672"/>
            <a:ext cx="4480560" cy="1316736"/>
          </a:xfrm>
          <a:prstGeom prst="rect">
            <a:avLst/>
          </a:prstGeom>
          <a:noFill/>
          <a:ln/>
        </p:spPr>
        <p:txBody>
          <a:bodyPr wrap="square" lIns="0" tIns="0" rIns="0" bIns="0" rtlCol="0" anchor="ctr">
            <a:normAutofit/>
          </a:bodyPr>
          <a:lstStyle/>
          <a:p>
            <a:pPr indent="0" marL="0">
              <a:lnSpc>
                <a:spcPct val="90000"/>
              </a:lnSpc>
              <a:buNone/>
            </a:pPr>
            <a:r>
              <a:rPr lang="en-US" sz="4700" b="1" dirty="0">
                <a:solidFill>
                  <a:srgbClr val="FFFFFF"/>
                </a:solidFill>
                <a:latin typeface="Arial" pitchFamily="34" charset="0"/>
                <a:ea typeface="Arial" pitchFamily="34" charset="-122"/>
                <a:cs typeface="Arial" pitchFamily="34" charset="-120"/>
              </a:rPr>
              <a:t>See now.</a:t>
            </a:r>
            <a:endParaRPr lang="en-US" sz="4700" dirty="0"/>
          </a:p>
          <a:p>
            <a:pPr indent="0" marL="0">
              <a:lnSpc>
                <a:spcPct val="90000"/>
              </a:lnSpc>
              <a:buNone/>
            </a:pPr>
            <a:r>
              <a:rPr lang="en-US" sz="4700" b="1" dirty="0">
                <a:solidFill>
                  <a:srgbClr val="FFFFFF"/>
                </a:solidFill>
                <a:latin typeface="Arial" pitchFamily="34" charset="0"/>
                <a:ea typeface="Arial" pitchFamily="34" charset="-122"/>
                <a:cs typeface="Arial" pitchFamily="34" charset="-120"/>
              </a:rPr>
              <a:t>Always.</a:t>
            </a:r>
            <a:endParaRPr lang="en-US" sz="4700" dirty="0"/>
          </a:p>
        </p:txBody>
      </p:sp>
      <p:sp>
        <p:nvSpPr>
          <p:cNvPr id="7" name="Text 4"/>
          <p:cNvSpPr/>
          <p:nvPr/>
        </p:nvSpPr>
        <p:spPr>
          <a:xfrm>
            <a:off x="731520" y="4590288"/>
            <a:ext cx="4297680" cy="347472"/>
          </a:xfrm>
          <a:prstGeom prst="rect">
            <a:avLst/>
          </a:prstGeom>
          <a:noFill/>
          <a:ln/>
        </p:spPr>
        <p:txBody>
          <a:bodyPr wrap="square" lIns="0" tIns="0" rIns="0" bIns="0" rtlCol="0" anchor="ctr">
            <a:normAutofit/>
          </a:bodyPr>
          <a:lstStyle/>
          <a:p>
            <a:pPr indent="0" marL="0">
              <a:buNone/>
            </a:pPr>
            <a:r>
              <a:rPr lang="en-US" sz="1800" dirty="0">
                <a:solidFill>
                  <a:srgbClr val="E8E8E8"/>
                </a:solidFill>
                <a:latin typeface="Arial" pitchFamily="34" charset="0"/>
                <a:ea typeface="Arial" pitchFamily="34" charset="-122"/>
                <a:cs typeface="Arial" pitchFamily="34" charset="-120"/>
              </a:rPr>
              <a:t>A voice-guided vision screening companion.</a:t>
            </a:r>
            <a:endParaRPr lang="en-US" sz="1800" dirty="0"/>
          </a:p>
        </p:txBody>
      </p:sp>
      <p:sp>
        <p:nvSpPr>
          <p:cNvPr id="8" name="Text 5"/>
          <p:cNvSpPr/>
          <p:nvPr/>
        </p:nvSpPr>
        <p:spPr>
          <a:xfrm>
            <a:off x="731520" y="6099048"/>
            <a:ext cx="3108960" cy="201168"/>
          </a:xfrm>
          <a:prstGeom prst="rect">
            <a:avLst/>
          </a:prstGeom>
          <a:noFill/>
          <a:ln/>
        </p:spPr>
        <p:txBody>
          <a:bodyPr wrap="square" lIns="0" tIns="0" rIns="0" bIns="0" rtlCol="0" anchor="ctr">
            <a:normAutofit/>
          </a:bodyPr>
          <a:lstStyle/>
          <a:p>
            <a:pPr indent="0" marL="0">
              <a:buNone/>
            </a:pPr>
            <a:r>
              <a:rPr lang="en-US" sz="1050" b="1" spc="80" kern="0" dirty="0">
                <a:solidFill>
                  <a:srgbClr val="BDBDBD"/>
                </a:solidFill>
                <a:latin typeface="Arial" pitchFamily="34" charset="0"/>
                <a:ea typeface="Arial" pitchFamily="34" charset="-122"/>
                <a:cs typeface="Arial" pitchFamily="34" charset="-120"/>
              </a:rPr>
              <a:t>SeeNA  |  See Now and Always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658368" y="347472"/>
            <a:ext cx="3840480" cy="256032"/>
          </a:xfrm>
          <a:prstGeom prst="rect">
            <a:avLst/>
          </a:prstGeom>
          <a:noFill/>
          <a:ln/>
        </p:spPr>
        <p:txBody>
          <a:bodyPr wrap="square" lIns="0" tIns="0" rIns="0" bIns="0" rtlCol="0" anchor="ctr">
            <a:normAutofit/>
          </a:bodyPr>
          <a:lstStyle/>
          <a:p>
            <a:pPr indent="0" marL="0">
              <a:buNone/>
            </a:pPr>
            <a:r>
              <a:rPr lang="en-US" sz="1050" b="1" spc="260" kern="0" dirty="0">
                <a:solidFill>
                  <a:srgbClr val="BDBDBD"/>
                </a:solidFill>
                <a:latin typeface="Arial" pitchFamily="34" charset="0"/>
                <a:ea typeface="Arial" pitchFamily="34" charset="-122"/>
                <a:cs typeface="Arial" pitchFamily="34" charset="-120"/>
              </a:rPr>
              <a:t>THE MISSING FIRST STEP</a:t>
            </a:r>
            <a:endParaRPr lang="en-US" sz="1050" dirty="0"/>
          </a:p>
        </p:txBody>
      </p:sp>
      <p:sp>
        <p:nvSpPr>
          <p:cNvPr id="3" name="Text 1"/>
          <p:cNvSpPr/>
          <p:nvPr/>
        </p:nvSpPr>
        <p:spPr>
          <a:xfrm>
            <a:off x="658368" y="932688"/>
            <a:ext cx="9692640" cy="1078992"/>
          </a:xfrm>
          <a:prstGeom prst="rect">
            <a:avLst/>
          </a:prstGeom>
          <a:noFill/>
          <a:ln/>
        </p:spPr>
        <p:txBody>
          <a:bodyPr wrap="square" lIns="0" tIns="0" rIns="0" bIns="0" rtlCol="0" anchor="ctr">
            <a:normAutofit/>
          </a:bodyPr>
          <a:lstStyle/>
          <a:p>
            <a:pPr indent="0" marL="0">
              <a:buNone/>
            </a:pPr>
            <a:r>
              <a:rPr lang="en-US" sz="3900" b="1" dirty="0">
                <a:solidFill>
                  <a:srgbClr val="FFFFFF"/>
                </a:solidFill>
                <a:latin typeface="Arial" pitchFamily="34" charset="0"/>
                <a:ea typeface="Arial" pitchFamily="34" charset="-122"/>
                <a:cs typeface="Arial" pitchFamily="34" charset="-120"/>
              </a:rPr>
              <a:t>For many people, the first eye check is already out of reach.</a:t>
            </a:r>
            <a:endParaRPr lang="en-US" sz="3900" dirty="0"/>
          </a:p>
        </p:txBody>
      </p:sp>
      <p:sp>
        <p:nvSpPr>
          <p:cNvPr id="4" name="Text 2"/>
          <p:cNvSpPr/>
          <p:nvPr/>
        </p:nvSpPr>
        <p:spPr>
          <a:xfrm>
            <a:off x="685800" y="2240280"/>
            <a:ext cx="5029200" cy="329184"/>
          </a:xfrm>
          <a:prstGeom prst="rect">
            <a:avLst/>
          </a:prstGeom>
          <a:noFill/>
          <a:ln/>
        </p:spPr>
        <p:txBody>
          <a:bodyPr wrap="square" lIns="0" tIns="0" rIns="0" bIns="0" rtlCol="0" anchor="ctr">
            <a:normAutofit/>
          </a:bodyPr>
          <a:lstStyle/>
          <a:p>
            <a:pPr indent="0" marL="0">
              <a:buNone/>
            </a:pPr>
            <a:r>
              <a:rPr lang="en-US" sz="1800" dirty="0">
                <a:solidFill>
                  <a:srgbClr val="BDBDBD"/>
                </a:solidFill>
                <a:latin typeface="Arial" pitchFamily="34" charset="0"/>
                <a:ea typeface="Arial" pitchFamily="34" charset="-122"/>
                <a:cs typeface="Arial" pitchFamily="34" charset="-120"/>
              </a:rPr>
              <a:t>A simple need becomes a chain of barriers.</a:t>
            </a:r>
            <a:endParaRPr lang="en-US" sz="1800" dirty="0"/>
          </a:p>
        </p:txBody>
      </p:sp>
      <p:sp>
        <p:nvSpPr>
          <p:cNvPr id="5" name="Shape 3"/>
          <p:cNvSpPr/>
          <p:nvPr/>
        </p:nvSpPr>
        <p:spPr>
          <a:xfrm>
            <a:off x="676656" y="3090672"/>
            <a:ext cx="3364992" cy="2139696"/>
          </a:xfrm>
          <a:prstGeom prst="roundRect">
            <a:avLst>
              <a:gd name="adj" fmla="val 3419"/>
            </a:avLst>
          </a:prstGeom>
          <a:solidFill>
            <a:srgbClr val="111111"/>
          </a:solidFill>
          <a:ln w="12700">
            <a:solidFill>
              <a:srgbClr val="303030"/>
            </a:solidFill>
            <a:prstDash val="solid"/>
          </a:ln>
        </p:spPr>
      </p:sp>
      <p:sp>
        <p:nvSpPr>
          <p:cNvPr id="6" name="Text 4"/>
          <p:cNvSpPr/>
          <p:nvPr/>
        </p:nvSpPr>
        <p:spPr>
          <a:xfrm>
            <a:off x="932688" y="3364992"/>
            <a:ext cx="502920" cy="256032"/>
          </a:xfrm>
          <a:prstGeom prst="rect">
            <a:avLst/>
          </a:prstGeom>
          <a:noFill/>
          <a:ln/>
        </p:spPr>
        <p:txBody>
          <a:bodyPr wrap="square" lIns="0" tIns="0" rIns="0" bIns="0" rtlCol="0" anchor="ctr">
            <a:normAutofit/>
          </a:bodyPr>
          <a:lstStyle/>
          <a:p>
            <a:pPr indent="0" marL="0">
              <a:buNone/>
            </a:pPr>
            <a:r>
              <a:rPr lang="en-US" sz="1100" b="1" dirty="0">
                <a:solidFill>
                  <a:srgbClr val="D6A66D"/>
                </a:solidFill>
                <a:latin typeface="Arial" pitchFamily="34" charset="0"/>
                <a:ea typeface="Arial" pitchFamily="34" charset="-122"/>
                <a:cs typeface="Arial" pitchFamily="34" charset="-120"/>
              </a:rPr>
              <a:t>01</a:t>
            </a:r>
            <a:endParaRPr lang="en-US" sz="1100" dirty="0"/>
          </a:p>
        </p:txBody>
      </p:sp>
      <p:sp>
        <p:nvSpPr>
          <p:cNvPr id="7" name="Text 5"/>
          <p:cNvSpPr/>
          <p:nvPr/>
        </p:nvSpPr>
        <p:spPr>
          <a:xfrm>
            <a:off x="932688" y="3822192"/>
            <a:ext cx="2788920" cy="347472"/>
          </a:xfrm>
          <a:prstGeom prst="rect">
            <a:avLst/>
          </a:prstGeom>
          <a:noFill/>
          <a:ln/>
        </p:spPr>
        <p:txBody>
          <a:bodyPr wrap="square" lIns="0" tIns="0" rIns="0" bIns="0" rtlCol="0" anchor="ctr">
            <a:normAutofit/>
          </a:bodyPr>
          <a:lstStyle/>
          <a:p>
            <a:pPr indent="0" marL="0">
              <a:buNone/>
            </a:pPr>
            <a:r>
              <a:rPr lang="en-US" sz="2200" b="1" spc="70" kern="0" dirty="0">
                <a:solidFill>
                  <a:srgbClr val="FFFFFF"/>
                </a:solidFill>
                <a:latin typeface="Arial" pitchFamily="34" charset="0"/>
                <a:ea typeface="Arial" pitchFamily="34" charset="-122"/>
                <a:cs typeface="Arial" pitchFamily="34" charset="-120"/>
              </a:rPr>
              <a:t>DISTANCE</a:t>
            </a:r>
            <a:endParaRPr lang="en-US" sz="2200" dirty="0"/>
          </a:p>
        </p:txBody>
      </p:sp>
      <p:sp>
        <p:nvSpPr>
          <p:cNvPr id="8" name="Text 6"/>
          <p:cNvSpPr/>
          <p:nvPr/>
        </p:nvSpPr>
        <p:spPr>
          <a:xfrm>
            <a:off x="932688" y="4370832"/>
            <a:ext cx="2724912" cy="502920"/>
          </a:xfrm>
          <a:prstGeom prst="rect">
            <a:avLst/>
          </a:prstGeom>
          <a:noFill/>
          <a:ln/>
        </p:spPr>
        <p:txBody>
          <a:bodyPr wrap="square" lIns="0" tIns="0" rIns="0" bIns="0" rtlCol="0" anchor="t">
            <a:normAutofit/>
          </a:bodyPr>
          <a:lstStyle/>
          <a:p>
            <a:pPr indent="0" marL="0">
              <a:buNone/>
            </a:pPr>
            <a:r>
              <a:rPr lang="en-US" sz="1300" dirty="0">
                <a:solidFill>
                  <a:srgbClr val="BDBDBD"/>
                </a:solidFill>
                <a:latin typeface="Arial" pitchFamily="34" charset="0"/>
                <a:ea typeface="Arial" pitchFamily="34" charset="-122"/>
                <a:cs typeface="Arial" pitchFamily="34" charset="-120"/>
              </a:rPr>
              <a:t>The nearest check may be far away.</a:t>
            </a:r>
            <a:endParaRPr lang="en-US" sz="1300" dirty="0"/>
          </a:p>
        </p:txBody>
      </p:sp>
      <p:sp>
        <p:nvSpPr>
          <p:cNvPr id="9" name="Shape 7"/>
          <p:cNvSpPr/>
          <p:nvPr/>
        </p:nvSpPr>
        <p:spPr>
          <a:xfrm>
            <a:off x="4379976" y="3090672"/>
            <a:ext cx="3364992" cy="2139696"/>
          </a:xfrm>
          <a:prstGeom prst="roundRect">
            <a:avLst>
              <a:gd name="adj" fmla="val 3419"/>
            </a:avLst>
          </a:prstGeom>
          <a:solidFill>
            <a:srgbClr val="D6A66D"/>
          </a:solidFill>
          <a:ln w="12700">
            <a:solidFill>
              <a:srgbClr val="D6A66D"/>
            </a:solidFill>
            <a:prstDash val="solid"/>
          </a:ln>
        </p:spPr>
      </p:sp>
      <p:sp>
        <p:nvSpPr>
          <p:cNvPr id="10" name="Text 8"/>
          <p:cNvSpPr/>
          <p:nvPr/>
        </p:nvSpPr>
        <p:spPr>
          <a:xfrm>
            <a:off x="4636008" y="3364992"/>
            <a:ext cx="502920" cy="256032"/>
          </a:xfrm>
          <a:prstGeom prst="rect">
            <a:avLst/>
          </a:prstGeom>
          <a:noFill/>
          <a:ln/>
        </p:spPr>
        <p:txBody>
          <a:bodyPr wrap="square" lIns="0" tIns="0" rIns="0" bIns="0" rtlCol="0" anchor="ctr">
            <a:normAutofit/>
          </a:bodyPr>
          <a:lstStyle/>
          <a:p>
            <a:pPr indent="0" marL="0">
              <a:buNone/>
            </a:pPr>
            <a:r>
              <a:rPr lang="en-US" sz="1100" b="1" dirty="0">
                <a:solidFill>
                  <a:srgbClr val="050505"/>
                </a:solidFill>
                <a:latin typeface="Arial" pitchFamily="34" charset="0"/>
                <a:ea typeface="Arial" pitchFamily="34" charset="-122"/>
                <a:cs typeface="Arial" pitchFamily="34" charset="-120"/>
              </a:rPr>
              <a:t>02</a:t>
            </a:r>
            <a:endParaRPr lang="en-US" sz="1100" dirty="0"/>
          </a:p>
        </p:txBody>
      </p:sp>
      <p:sp>
        <p:nvSpPr>
          <p:cNvPr id="11" name="Text 9"/>
          <p:cNvSpPr/>
          <p:nvPr/>
        </p:nvSpPr>
        <p:spPr>
          <a:xfrm>
            <a:off x="4636008" y="3822192"/>
            <a:ext cx="2788920" cy="347472"/>
          </a:xfrm>
          <a:prstGeom prst="rect">
            <a:avLst/>
          </a:prstGeom>
          <a:noFill/>
          <a:ln/>
        </p:spPr>
        <p:txBody>
          <a:bodyPr wrap="square" lIns="0" tIns="0" rIns="0" bIns="0" rtlCol="0" anchor="ctr">
            <a:normAutofit/>
          </a:bodyPr>
          <a:lstStyle/>
          <a:p>
            <a:pPr indent="0" marL="0">
              <a:buNone/>
            </a:pPr>
            <a:r>
              <a:rPr lang="en-US" sz="2200" b="1" spc="70" kern="0" dirty="0">
                <a:solidFill>
                  <a:srgbClr val="050505"/>
                </a:solidFill>
                <a:latin typeface="Arial" pitchFamily="34" charset="0"/>
                <a:ea typeface="Arial" pitchFamily="34" charset="-122"/>
                <a:cs typeface="Arial" pitchFamily="34" charset="-120"/>
              </a:rPr>
              <a:t>DEPENDENCE</a:t>
            </a:r>
            <a:endParaRPr lang="en-US" sz="2200" dirty="0"/>
          </a:p>
        </p:txBody>
      </p:sp>
      <p:sp>
        <p:nvSpPr>
          <p:cNvPr id="12" name="Text 10"/>
          <p:cNvSpPr/>
          <p:nvPr/>
        </p:nvSpPr>
        <p:spPr>
          <a:xfrm>
            <a:off x="4636008" y="4370832"/>
            <a:ext cx="2724912" cy="502920"/>
          </a:xfrm>
          <a:prstGeom prst="rect">
            <a:avLst/>
          </a:prstGeom>
          <a:noFill/>
          <a:ln/>
        </p:spPr>
        <p:txBody>
          <a:bodyPr wrap="square" lIns="0" tIns="0" rIns="0" bIns="0" rtlCol="0" anchor="t">
            <a:normAutofit/>
          </a:bodyPr>
          <a:lstStyle/>
          <a:p>
            <a:pPr indent="0" marL="0">
              <a:buNone/>
            </a:pPr>
            <a:r>
              <a:rPr lang="en-US" sz="1300" dirty="0">
                <a:solidFill>
                  <a:srgbClr val="292929"/>
                </a:solidFill>
                <a:latin typeface="Arial" pitchFamily="34" charset="0"/>
                <a:ea typeface="Arial" pitchFamily="34" charset="-122"/>
                <a:cs typeface="Arial" pitchFamily="34" charset="-120"/>
              </a:rPr>
              <a:t>Travel and unfamiliar tools can require help.</a:t>
            </a:r>
            <a:endParaRPr lang="en-US" sz="1300" dirty="0"/>
          </a:p>
        </p:txBody>
      </p:sp>
      <p:sp>
        <p:nvSpPr>
          <p:cNvPr id="13" name="Shape 11"/>
          <p:cNvSpPr/>
          <p:nvPr/>
        </p:nvSpPr>
        <p:spPr>
          <a:xfrm>
            <a:off x="8083296" y="3090672"/>
            <a:ext cx="3364992" cy="2139696"/>
          </a:xfrm>
          <a:prstGeom prst="roundRect">
            <a:avLst>
              <a:gd name="adj" fmla="val 3419"/>
            </a:avLst>
          </a:prstGeom>
          <a:solidFill>
            <a:srgbClr val="111111"/>
          </a:solidFill>
          <a:ln w="12700">
            <a:solidFill>
              <a:srgbClr val="303030"/>
            </a:solidFill>
            <a:prstDash val="solid"/>
          </a:ln>
        </p:spPr>
      </p:sp>
      <p:sp>
        <p:nvSpPr>
          <p:cNvPr id="14" name="Text 12"/>
          <p:cNvSpPr/>
          <p:nvPr/>
        </p:nvSpPr>
        <p:spPr>
          <a:xfrm>
            <a:off x="8339328" y="3364992"/>
            <a:ext cx="502920" cy="256032"/>
          </a:xfrm>
          <a:prstGeom prst="rect">
            <a:avLst/>
          </a:prstGeom>
          <a:noFill/>
          <a:ln/>
        </p:spPr>
        <p:txBody>
          <a:bodyPr wrap="square" lIns="0" tIns="0" rIns="0" bIns="0" rtlCol="0" anchor="ctr">
            <a:normAutofit/>
          </a:bodyPr>
          <a:lstStyle/>
          <a:p>
            <a:pPr indent="0" marL="0">
              <a:buNone/>
            </a:pPr>
            <a:r>
              <a:rPr lang="en-US" sz="1100" b="1" dirty="0">
                <a:solidFill>
                  <a:srgbClr val="D6A66D"/>
                </a:solidFill>
                <a:latin typeface="Arial" pitchFamily="34" charset="0"/>
                <a:ea typeface="Arial" pitchFamily="34" charset="-122"/>
                <a:cs typeface="Arial" pitchFamily="34" charset="-120"/>
              </a:rPr>
              <a:t>03</a:t>
            </a:r>
            <a:endParaRPr lang="en-US" sz="1100" dirty="0"/>
          </a:p>
        </p:txBody>
      </p:sp>
      <p:sp>
        <p:nvSpPr>
          <p:cNvPr id="15" name="Text 13"/>
          <p:cNvSpPr/>
          <p:nvPr/>
        </p:nvSpPr>
        <p:spPr>
          <a:xfrm>
            <a:off x="8339328" y="3822192"/>
            <a:ext cx="2788920" cy="347472"/>
          </a:xfrm>
          <a:prstGeom prst="rect">
            <a:avLst/>
          </a:prstGeom>
          <a:noFill/>
          <a:ln/>
        </p:spPr>
        <p:txBody>
          <a:bodyPr wrap="square" lIns="0" tIns="0" rIns="0" bIns="0" rtlCol="0" anchor="ctr">
            <a:normAutofit/>
          </a:bodyPr>
          <a:lstStyle/>
          <a:p>
            <a:pPr indent="0" marL="0">
              <a:buNone/>
            </a:pPr>
            <a:r>
              <a:rPr lang="en-US" sz="2200" b="1" spc="70" kern="0" dirty="0">
                <a:solidFill>
                  <a:srgbClr val="FFFFFF"/>
                </a:solidFill>
                <a:latin typeface="Arial" pitchFamily="34" charset="0"/>
                <a:ea typeface="Arial" pitchFamily="34" charset="-122"/>
                <a:cs typeface="Arial" pitchFamily="34" charset="-120"/>
              </a:rPr>
              <a:t>DELAY</a:t>
            </a:r>
            <a:endParaRPr lang="en-US" sz="2200" dirty="0"/>
          </a:p>
        </p:txBody>
      </p:sp>
      <p:sp>
        <p:nvSpPr>
          <p:cNvPr id="16" name="Text 14"/>
          <p:cNvSpPr/>
          <p:nvPr/>
        </p:nvSpPr>
        <p:spPr>
          <a:xfrm>
            <a:off x="8339328" y="4370832"/>
            <a:ext cx="2724912" cy="502920"/>
          </a:xfrm>
          <a:prstGeom prst="rect">
            <a:avLst/>
          </a:prstGeom>
          <a:noFill/>
          <a:ln/>
        </p:spPr>
        <p:txBody>
          <a:bodyPr wrap="square" lIns="0" tIns="0" rIns="0" bIns="0" rtlCol="0" anchor="t">
            <a:normAutofit/>
          </a:bodyPr>
          <a:lstStyle/>
          <a:p>
            <a:pPr indent="0" marL="0">
              <a:buNone/>
            </a:pPr>
            <a:r>
              <a:rPr lang="en-US" sz="1300" dirty="0">
                <a:solidFill>
                  <a:srgbClr val="BDBDBD"/>
                </a:solidFill>
                <a:latin typeface="Arial" pitchFamily="34" charset="0"/>
                <a:ea typeface="Arial" pitchFamily="34" charset="-122"/>
                <a:cs typeface="Arial" pitchFamily="34" charset="-120"/>
              </a:rPr>
              <a:t>Without a first signal, action is postponed.</a:t>
            </a:r>
            <a:endParaRPr lang="en-US" sz="1300" dirty="0"/>
          </a:p>
        </p:txBody>
      </p:sp>
      <p:sp>
        <p:nvSpPr>
          <p:cNvPr id="17" name="Text 15"/>
          <p:cNvSpPr/>
          <p:nvPr/>
        </p:nvSpPr>
        <p:spPr>
          <a:xfrm>
            <a:off x="11082528" y="6364224"/>
            <a:ext cx="438912" cy="182880"/>
          </a:xfrm>
          <a:prstGeom prst="rect">
            <a:avLst/>
          </a:prstGeom>
          <a:noFill/>
          <a:ln/>
        </p:spPr>
        <p:txBody>
          <a:bodyPr wrap="square" lIns="0" tIns="0" rIns="0" bIns="0" rtlCol="0" anchor="ctr">
            <a:normAutofit/>
          </a:bodyPr>
          <a:lstStyle/>
          <a:p>
            <a:pPr algn="r" indent="0" marL="0">
              <a:buNone/>
            </a:pPr>
            <a:r>
              <a:rPr lang="en-US" sz="1000" b="1" dirty="0">
                <a:solidFill>
                  <a:srgbClr val="BDBDBD"/>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658368" y="347472"/>
            <a:ext cx="3840480" cy="256032"/>
          </a:xfrm>
          <a:prstGeom prst="rect">
            <a:avLst/>
          </a:prstGeom>
          <a:noFill/>
          <a:ln/>
        </p:spPr>
        <p:txBody>
          <a:bodyPr wrap="square" lIns="0" tIns="0" rIns="0" bIns="0" rtlCol="0" anchor="ctr">
            <a:normAutofit/>
          </a:bodyPr>
          <a:lstStyle/>
          <a:p>
            <a:pPr indent="0" marL="0">
              <a:buNone/>
            </a:pPr>
            <a:r>
              <a:rPr lang="en-US" sz="1050" b="1" spc="260" kern="0" dirty="0">
                <a:solidFill>
                  <a:srgbClr val="757575"/>
                </a:solidFill>
                <a:latin typeface="Arial" pitchFamily="34" charset="0"/>
                <a:ea typeface="Arial" pitchFamily="34" charset="-122"/>
                <a:cs typeface="Arial" pitchFamily="34" charset="-120"/>
              </a:rPr>
              <a:t>THE PRODUCT</a:t>
            </a:r>
            <a:endParaRPr lang="en-US" sz="1050" dirty="0"/>
          </a:p>
        </p:txBody>
      </p:sp>
      <p:sp>
        <p:nvSpPr>
          <p:cNvPr id="3" name="Text 1"/>
          <p:cNvSpPr/>
          <p:nvPr/>
        </p:nvSpPr>
        <p:spPr>
          <a:xfrm>
            <a:off x="658368" y="960120"/>
            <a:ext cx="4617720" cy="1261872"/>
          </a:xfrm>
          <a:prstGeom prst="rect">
            <a:avLst/>
          </a:prstGeom>
          <a:noFill/>
          <a:ln/>
        </p:spPr>
        <p:txBody>
          <a:bodyPr wrap="square" lIns="0" tIns="0" rIns="0" bIns="0" rtlCol="0" anchor="ctr">
            <a:normAutofit/>
          </a:bodyPr>
          <a:lstStyle/>
          <a:p>
            <a:pPr indent="0" marL="0">
              <a:lnSpc>
                <a:spcPct val="92000"/>
              </a:lnSpc>
              <a:buNone/>
            </a:pPr>
            <a:r>
              <a:rPr lang="en-US" sz="4200" b="1" dirty="0">
                <a:solidFill>
                  <a:srgbClr val="111111"/>
                </a:solidFill>
                <a:latin typeface="Arial" pitchFamily="34" charset="0"/>
                <a:ea typeface="Arial" pitchFamily="34" charset="-122"/>
                <a:cs typeface="Arial" pitchFamily="34" charset="-120"/>
              </a:rPr>
              <a:t>Press Start.</a:t>
            </a:r>
            <a:endParaRPr lang="en-US" sz="4200" dirty="0"/>
          </a:p>
          <a:p>
            <a:pPr indent="0" marL="0">
              <a:lnSpc>
                <a:spcPct val="92000"/>
              </a:lnSpc>
              <a:buNone/>
            </a:pPr>
            <a:r>
              <a:rPr lang="en-US" sz="4200" b="1" dirty="0">
                <a:solidFill>
                  <a:srgbClr val="111111"/>
                </a:solidFill>
                <a:latin typeface="Arial" pitchFamily="34" charset="0"/>
                <a:ea typeface="Arial" pitchFamily="34" charset="-122"/>
                <a:cs typeface="Arial" pitchFamily="34" charset="-120"/>
              </a:rPr>
              <a:t>SeeNA guides the rest.</a:t>
            </a:r>
            <a:endParaRPr lang="en-US" sz="4200" dirty="0"/>
          </a:p>
        </p:txBody>
      </p:sp>
      <p:sp>
        <p:nvSpPr>
          <p:cNvPr id="4" name="Text 2"/>
          <p:cNvSpPr/>
          <p:nvPr/>
        </p:nvSpPr>
        <p:spPr>
          <a:xfrm>
            <a:off x="685800" y="2487168"/>
            <a:ext cx="4480560" cy="320040"/>
          </a:xfrm>
          <a:prstGeom prst="rect">
            <a:avLst/>
          </a:prstGeom>
          <a:noFill/>
          <a:ln/>
        </p:spPr>
        <p:txBody>
          <a:bodyPr wrap="square" lIns="0" tIns="0" rIns="0" bIns="0" rtlCol="0" anchor="ctr">
            <a:normAutofit/>
          </a:bodyPr>
          <a:lstStyle/>
          <a:p>
            <a:pPr indent="0" marL="0">
              <a:buNone/>
            </a:pPr>
            <a:r>
              <a:rPr lang="en-US" sz="1800" dirty="0">
                <a:solidFill>
                  <a:srgbClr val="757575"/>
                </a:solidFill>
                <a:latin typeface="Arial" pitchFamily="34" charset="0"/>
                <a:ea typeface="Arial" pitchFamily="34" charset="-122"/>
                <a:cs typeface="Arial" pitchFamily="34" charset="-120"/>
              </a:rPr>
              <a:t>No charts. No typing. No technical setup.</a:t>
            </a:r>
            <a:endParaRPr lang="en-US" sz="1800" dirty="0"/>
          </a:p>
        </p:txBody>
      </p:sp>
      <p:sp>
        <p:nvSpPr>
          <p:cNvPr id="5" name="Shape 3"/>
          <p:cNvSpPr/>
          <p:nvPr/>
        </p:nvSpPr>
        <p:spPr>
          <a:xfrm>
            <a:off x="694944" y="3227832"/>
            <a:ext cx="420624" cy="420624"/>
          </a:xfrm>
          <a:prstGeom prst="ellipse">
            <a:avLst/>
          </a:prstGeom>
          <a:solidFill>
            <a:srgbClr val="D6A66D"/>
          </a:solidFill>
          <a:ln w="12700">
            <a:solidFill>
              <a:srgbClr val="D6A66D"/>
            </a:solidFill>
            <a:prstDash val="solid"/>
          </a:ln>
        </p:spPr>
      </p:sp>
      <p:sp>
        <p:nvSpPr>
          <p:cNvPr id="6" name="Text 4"/>
          <p:cNvSpPr/>
          <p:nvPr/>
        </p:nvSpPr>
        <p:spPr>
          <a:xfrm>
            <a:off x="694944" y="3300984"/>
            <a:ext cx="420624" cy="182880"/>
          </a:xfrm>
          <a:prstGeom prst="rect">
            <a:avLst/>
          </a:prstGeom>
          <a:noFill/>
          <a:ln/>
        </p:spPr>
        <p:txBody>
          <a:bodyPr wrap="square" lIns="0" tIns="0" rIns="0" bIns="0" rtlCol="0" anchor="ctr">
            <a:normAutofit/>
          </a:bodyPr>
          <a:lstStyle/>
          <a:p>
            <a:pPr algn="ctr" indent="0" marL="0">
              <a:buNone/>
            </a:pPr>
            <a:r>
              <a:rPr lang="en-US" sz="900" b="1" dirty="0">
                <a:solidFill>
                  <a:srgbClr val="050505"/>
                </a:solidFill>
                <a:latin typeface="Arial" pitchFamily="34" charset="0"/>
                <a:ea typeface="Arial" pitchFamily="34" charset="-122"/>
                <a:cs typeface="Arial" pitchFamily="34" charset="-120"/>
              </a:rPr>
              <a:t>01</a:t>
            </a:r>
            <a:endParaRPr lang="en-US" sz="900" dirty="0"/>
          </a:p>
        </p:txBody>
      </p:sp>
      <p:sp>
        <p:nvSpPr>
          <p:cNvPr id="7" name="Text 5"/>
          <p:cNvSpPr/>
          <p:nvPr/>
        </p:nvSpPr>
        <p:spPr>
          <a:xfrm>
            <a:off x="1353312" y="3264408"/>
            <a:ext cx="2286000" cy="292608"/>
          </a:xfrm>
          <a:prstGeom prst="rect">
            <a:avLst/>
          </a:prstGeom>
          <a:noFill/>
          <a:ln/>
        </p:spPr>
        <p:txBody>
          <a:bodyPr wrap="square" lIns="0" tIns="0" rIns="0" bIns="0" rtlCol="0" anchor="ctr">
            <a:normAutofit/>
          </a:bodyPr>
          <a:lstStyle/>
          <a:p>
            <a:pPr indent="0" marL="0">
              <a:buNone/>
            </a:pPr>
            <a:r>
              <a:rPr lang="en-US" sz="2100" b="1" dirty="0">
                <a:solidFill>
                  <a:srgbClr val="111111"/>
                </a:solidFill>
                <a:latin typeface="Arial" pitchFamily="34" charset="0"/>
                <a:ea typeface="Arial" pitchFamily="34" charset="-122"/>
                <a:cs typeface="Arial" pitchFamily="34" charset="-120"/>
              </a:rPr>
              <a:t>Listen</a:t>
            </a:r>
            <a:endParaRPr lang="en-US" sz="2100" dirty="0"/>
          </a:p>
        </p:txBody>
      </p:sp>
      <p:sp>
        <p:nvSpPr>
          <p:cNvPr id="8" name="Shape 6"/>
          <p:cNvSpPr/>
          <p:nvPr/>
        </p:nvSpPr>
        <p:spPr>
          <a:xfrm>
            <a:off x="905256" y="3685032"/>
            <a:ext cx="0" cy="347472"/>
          </a:xfrm>
          <a:prstGeom prst="line">
            <a:avLst/>
          </a:prstGeom>
          <a:noFill/>
          <a:ln w="25400">
            <a:solidFill>
              <a:srgbClr val="D8D8D5"/>
            </a:solidFill>
            <a:prstDash val="solid"/>
          </a:ln>
        </p:spPr>
      </p:sp>
      <p:sp>
        <p:nvSpPr>
          <p:cNvPr id="9" name="Shape 7"/>
          <p:cNvSpPr/>
          <p:nvPr/>
        </p:nvSpPr>
        <p:spPr>
          <a:xfrm>
            <a:off x="694944" y="4014216"/>
            <a:ext cx="420624" cy="420624"/>
          </a:xfrm>
          <a:prstGeom prst="ellipse">
            <a:avLst/>
          </a:prstGeom>
          <a:solidFill>
            <a:srgbClr val="050505"/>
          </a:solidFill>
          <a:ln w="12700">
            <a:solidFill>
              <a:srgbClr val="050505"/>
            </a:solidFill>
            <a:prstDash val="solid"/>
          </a:ln>
        </p:spPr>
      </p:sp>
      <p:sp>
        <p:nvSpPr>
          <p:cNvPr id="10" name="Text 8"/>
          <p:cNvSpPr/>
          <p:nvPr/>
        </p:nvSpPr>
        <p:spPr>
          <a:xfrm>
            <a:off x="694944" y="4087368"/>
            <a:ext cx="420624"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11" name="Text 9"/>
          <p:cNvSpPr/>
          <p:nvPr/>
        </p:nvSpPr>
        <p:spPr>
          <a:xfrm>
            <a:off x="1353312" y="4050792"/>
            <a:ext cx="2286000" cy="292608"/>
          </a:xfrm>
          <a:prstGeom prst="rect">
            <a:avLst/>
          </a:prstGeom>
          <a:noFill/>
          <a:ln/>
        </p:spPr>
        <p:txBody>
          <a:bodyPr wrap="square" lIns="0" tIns="0" rIns="0" bIns="0" rtlCol="0" anchor="ctr">
            <a:normAutofit/>
          </a:bodyPr>
          <a:lstStyle/>
          <a:p>
            <a:pPr indent="0" marL="0">
              <a:buNone/>
            </a:pPr>
            <a:r>
              <a:rPr lang="en-US" sz="2100" b="1" dirty="0">
                <a:solidFill>
                  <a:srgbClr val="111111"/>
                </a:solidFill>
                <a:latin typeface="Arial" pitchFamily="34" charset="0"/>
                <a:ea typeface="Arial" pitchFamily="34" charset="-122"/>
                <a:cs typeface="Arial" pitchFamily="34" charset="-120"/>
              </a:rPr>
              <a:t>Look</a:t>
            </a:r>
            <a:endParaRPr lang="en-US" sz="2100" dirty="0"/>
          </a:p>
        </p:txBody>
      </p:sp>
      <p:sp>
        <p:nvSpPr>
          <p:cNvPr id="12" name="Shape 10"/>
          <p:cNvSpPr/>
          <p:nvPr/>
        </p:nvSpPr>
        <p:spPr>
          <a:xfrm>
            <a:off x="905256" y="4471416"/>
            <a:ext cx="0" cy="347472"/>
          </a:xfrm>
          <a:prstGeom prst="line">
            <a:avLst/>
          </a:prstGeom>
          <a:noFill/>
          <a:ln w="25400">
            <a:solidFill>
              <a:srgbClr val="D8D8D5"/>
            </a:solidFill>
            <a:prstDash val="solid"/>
          </a:ln>
        </p:spPr>
      </p:sp>
      <p:sp>
        <p:nvSpPr>
          <p:cNvPr id="13" name="Shape 11"/>
          <p:cNvSpPr/>
          <p:nvPr/>
        </p:nvSpPr>
        <p:spPr>
          <a:xfrm>
            <a:off x="694944" y="4800600"/>
            <a:ext cx="420624" cy="420624"/>
          </a:xfrm>
          <a:prstGeom prst="ellipse">
            <a:avLst/>
          </a:prstGeom>
          <a:solidFill>
            <a:srgbClr val="050505"/>
          </a:solidFill>
          <a:ln w="12700">
            <a:solidFill>
              <a:srgbClr val="050505"/>
            </a:solidFill>
            <a:prstDash val="solid"/>
          </a:ln>
        </p:spPr>
      </p:sp>
      <p:sp>
        <p:nvSpPr>
          <p:cNvPr id="14" name="Text 12"/>
          <p:cNvSpPr/>
          <p:nvPr/>
        </p:nvSpPr>
        <p:spPr>
          <a:xfrm>
            <a:off x="694944" y="4873752"/>
            <a:ext cx="420624"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15" name="Text 13"/>
          <p:cNvSpPr/>
          <p:nvPr/>
        </p:nvSpPr>
        <p:spPr>
          <a:xfrm>
            <a:off x="1353312" y="4837176"/>
            <a:ext cx="2286000" cy="292608"/>
          </a:xfrm>
          <a:prstGeom prst="rect">
            <a:avLst/>
          </a:prstGeom>
          <a:noFill/>
          <a:ln/>
        </p:spPr>
        <p:txBody>
          <a:bodyPr wrap="square" lIns="0" tIns="0" rIns="0" bIns="0" rtlCol="0" anchor="ctr">
            <a:normAutofit/>
          </a:bodyPr>
          <a:lstStyle/>
          <a:p>
            <a:pPr indent="0" marL="0">
              <a:buNone/>
            </a:pPr>
            <a:r>
              <a:rPr lang="en-US" sz="2100" b="1" dirty="0">
                <a:solidFill>
                  <a:srgbClr val="111111"/>
                </a:solidFill>
                <a:latin typeface="Arial" pitchFamily="34" charset="0"/>
                <a:ea typeface="Arial" pitchFamily="34" charset="-122"/>
                <a:cs typeface="Arial" pitchFamily="34" charset="-120"/>
              </a:rPr>
              <a:t>Answer</a:t>
            </a:r>
            <a:endParaRPr lang="en-US" sz="2100" dirty="0"/>
          </a:p>
        </p:txBody>
      </p:sp>
      <p:sp>
        <p:nvSpPr>
          <p:cNvPr id="16" name="Shape 14"/>
          <p:cNvSpPr/>
          <p:nvPr/>
        </p:nvSpPr>
        <p:spPr>
          <a:xfrm>
            <a:off x="5596128" y="484632"/>
            <a:ext cx="5897880" cy="5806440"/>
          </a:xfrm>
          <a:prstGeom prst="roundRect">
            <a:avLst>
              <a:gd name="adj" fmla="val 1890"/>
            </a:avLst>
          </a:prstGeom>
          <a:solidFill>
            <a:srgbClr val="FFFFFF"/>
          </a:solidFill>
          <a:ln w="12700">
            <a:solidFill>
              <a:srgbClr val="D8D8D5"/>
            </a:solidFill>
            <a:prstDash val="solid"/>
          </a:ln>
        </p:spPr>
      </p:sp>
      <p:sp>
        <p:nvSpPr>
          <p:cNvPr id="17" name="Shape 15"/>
          <p:cNvSpPr/>
          <p:nvPr/>
        </p:nvSpPr>
        <p:spPr>
          <a:xfrm>
            <a:off x="7370064" y="640080"/>
            <a:ext cx="2359152" cy="4965192"/>
          </a:xfrm>
          <a:prstGeom prst="roundRect">
            <a:avLst>
              <a:gd name="adj" fmla="val 3876"/>
            </a:avLst>
          </a:prstGeom>
          <a:solidFill>
            <a:srgbClr val="050505"/>
          </a:solidFill>
          <a:ln w="12700">
            <a:solidFill>
              <a:srgbClr val="111111"/>
            </a:solidFill>
            <a:prstDash val="solid"/>
          </a:ln>
          <a:effectLst>
            <a:outerShdw sx="100000" sy="100000" kx="0" ky="0" algn="bl" rotWithShape="0" blurRad="127000" dist="38100" dir="2700000">
              <a:srgbClr val="000000">
                <a:alpha val="16000"/>
              </a:srgbClr>
            </a:outerShdw>
          </a:effectLst>
        </p:spPr>
      </p:sp>
      <p:pic>
        <p:nvPicPr>
          <p:cNvPr id="18" name="Image 0" descr="SeeNA start screen">    </p:cNvPr>
          <p:cNvPicPr>
            <a:picLocks noChangeAspect="1"/>
          </p:cNvPicPr>
          <p:nvPr/>
        </p:nvPicPr>
        <p:blipFill>
          <a:blip r:embed="rId1"/>
          <a:srcRect l="0" r="0" t="0" b="0"/>
          <a:stretch/>
        </p:blipFill>
        <p:spPr>
          <a:xfrm>
            <a:off x="7443216" y="713232"/>
            <a:ext cx="2212848" cy="4818888"/>
          </a:xfrm>
          <a:prstGeom prst="rect">
            <a:avLst/>
          </a:prstGeom>
        </p:spPr>
      </p:pic>
      <p:sp>
        <p:nvSpPr>
          <p:cNvPr id="19" name="Shape 16"/>
          <p:cNvSpPr/>
          <p:nvPr/>
        </p:nvSpPr>
        <p:spPr>
          <a:xfrm>
            <a:off x="6931152" y="5724144"/>
            <a:ext cx="3246120" cy="384048"/>
          </a:xfrm>
          <a:prstGeom prst="roundRect">
            <a:avLst>
              <a:gd name="adj" fmla="val 19048"/>
            </a:avLst>
          </a:prstGeom>
          <a:solidFill>
            <a:srgbClr val="050505"/>
          </a:solidFill>
          <a:ln w="10160">
            <a:solidFill>
              <a:srgbClr val="050505"/>
            </a:solidFill>
            <a:prstDash val="solid"/>
          </a:ln>
        </p:spPr>
      </p:sp>
      <p:sp>
        <p:nvSpPr>
          <p:cNvPr id="20" name="Text 17"/>
          <p:cNvSpPr/>
          <p:nvPr/>
        </p:nvSpPr>
        <p:spPr>
          <a:xfrm>
            <a:off x="6931152" y="5742432"/>
            <a:ext cx="3246120" cy="301752"/>
          </a:xfrm>
          <a:prstGeom prst="rect">
            <a:avLst/>
          </a:prstGeom>
          <a:noFill/>
          <a:ln/>
        </p:spPr>
        <p:txBody>
          <a:bodyPr wrap="square" lIns="0" tIns="0" rIns="0" bIns="0" rtlCol="0" anchor="ctr">
            <a:normAutofit/>
          </a:bodyPr>
          <a:lstStyle/>
          <a:p>
            <a:pPr algn="ctr" indent="0" marL="0">
              <a:buNone/>
            </a:pPr>
            <a:r>
              <a:rPr lang="en-US" sz="1250" b="1" spc="20" kern="0" dirty="0">
                <a:solidFill>
                  <a:srgbClr val="FFFFFF"/>
                </a:solidFill>
                <a:latin typeface="Arial" pitchFamily="34" charset="0"/>
                <a:ea typeface="Arial" pitchFamily="34" charset="-122"/>
                <a:cs typeface="Arial" pitchFamily="34" charset="-120"/>
              </a:rPr>
              <a:t>VOICE STARTS AFTER TAP</a:t>
            </a:r>
            <a:endParaRPr lang="en-US" sz="1250" dirty="0"/>
          </a:p>
        </p:txBody>
      </p:sp>
      <p:sp>
        <p:nvSpPr>
          <p:cNvPr id="21" name="Text 18"/>
          <p:cNvSpPr/>
          <p:nvPr/>
        </p:nvSpPr>
        <p:spPr>
          <a:xfrm>
            <a:off x="11082528" y="6364224"/>
            <a:ext cx="438912" cy="182880"/>
          </a:xfrm>
          <a:prstGeom prst="rect">
            <a:avLst/>
          </a:prstGeom>
          <a:noFill/>
          <a:ln/>
        </p:spPr>
        <p:txBody>
          <a:bodyPr wrap="square" lIns="0" tIns="0" rIns="0" bIns="0" rtlCol="0" anchor="ctr">
            <a:normAutofit/>
          </a:bodyPr>
          <a:lstStyle/>
          <a:p>
            <a:pPr algn="r" indent="0" marL="0">
              <a:buNone/>
            </a:pPr>
            <a:r>
              <a:rPr lang="en-US" sz="1000" b="1" dirty="0">
                <a:solidFill>
                  <a:srgbClr val="757575"/>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658368" y="329184"/>
            <a:ext cx="3154680" cy="6291072"/>
          </a:xfrm>
          <a:prstGeom prst="roundRect">
            <a:avLst>
              <a:gd name="adj" fmla="val 3188"/>
            </a:avLst>
          </a:prstGeom>
          <a:solidFill>
            <a:srgbClr val="141414"/>
          </a:solidFill>
          <a:ln w="15240">
            <a:solidFill>
              <a:srgbClr val="353535"/>
            </a:solidFill>
            <a:prstDash val="solid"/>
          </a:ln>
          <a:effectLst>
            <a:outerShdw sx="100000" sy="100000" kx="0" ky="0" algn="bl" rotWithShape="0" blurRad="177800" dist="38100" dir="2700000">
              <a:srgbClr val="000000">
                <a:alpha val="38000"/>
              </a:srgbClr>
            </a:outerShdw>
          </a:effectLst>
        </p:spPr>
      </p:sp>
      <p:pic>
        <p:nvPicPr>
          <p:cNvPr id="3" name="SeeNA product walkthrough with voiceover">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68096" y="438912"/>
            <a:ext cx="2935224" cy="6071616"/>
          </a:xfrm>
          <a:prstGeom prst="rect">
            <a:avLst/>
          </a:prstGeom>
        </p:spPr>
      </p:pic>
      <p:pic>
        <p:nvPicPr>
          <p:cNvPr id="4" name="Image 0" descr="SeeNA video poster mark">    </p:cNvPr>
          <p:cNvPicPr>
            <a:picLocks noChangeAspect="1"/>
          </p:cNvPicPr>
          <p:nvPr/>
        </p:nvPicPr>
        <p:blipFill>
          <a:blip r:embed="rId4"/>
          <a:srcRect l="0" r="0" t="0" b="0"/>
          <a:stretch/>
        </p:blipFill>
        <p:spPr>
          <a:xfrm>
            <a:off x="1481328" y="2414016"/>
            <a:ext cx="1243584" cy="1243584"/>
          </a:xfrm>
          <a:prstGeom prst="rect">
            <a:avLst/>
          </a:prstGeom>
        </p:spPr>
      </p:pic>
      <p:sp>
        <p:nvSpPr>
          <p:cNvPr id="5" name="Shape 1"/>
          <p:cNvSpPr/>
          <p:nvPr/>
        </p:nvSpPr>
        <p:spPr>
          <a:xfrm>
            <a:off x="4443984" y="621792"/>
            <a:ext cx="2670048" cy="384048"/>
          </a:xfrm>
          <a:prstGeom prst="roundRect">
            <a:avLst>
              <a:gd name="adj" fmla="val 19048"/>
            </a:avLst>
          </a:prstGeom>
          <a:solidFill>
            <a:srgbClr val="D6A66D"/>
          </a:solidFill>
          <a:ln w="10160">
            <a:solidFill>
              <a:srgbClr val="D6A66D"/>
            </a:solidFill>
            <a:prstDash val="solid"/>
          </a:ln>
        </p:spPr>
      </p:sp>
      <p:sp>
        <p:nvSpPr>
          <p:cNvPr id="6" name="Text 2"/>
          <p:cNvSpPr/>
          <p:nvPr/>
        </p:nvSpPr>
        <p:spPr>
          <a:xfrm>
            <a:off x="4443984" y="640080"/>
            <a:ext cx="2670048" cy="301752"/>
          </a:xfrm>
          <a:prstGeom prst="rect">
            <a:avLst/>
          </a:prstGeom>
          <a:noFill/>
          <a:ln/>
        </p:spPr>
        <p:txBody>
          <a:bodyPr wrap="square" lIns="0" tIns="0" rIns="0" bIns="0" rtlCol="0" anchor="ctr">
            <a:normAutofit/>
          </a:bodyPr>
          <a:lstStyle/>
          <a:p>
            <a:pPr algn="ctr" indent="0" marL="0">
              <a:buNone/>
            </a:pPr>
            <a:r>
              <a:rPr lang="en-US" sz="1250" b="1" spc="20" kern="0" dirty="0">
                <a:solidFill>
                  <a:srgbClr val="050505"/>
                </a:solidFill>
                <a:latin typeface="Arial" pitchFamily="34" charset="0"/>
                <a:ea typeface="Arial" pitchFamily="34" charset="-122"/>
                <a:cs typeface="Arial" pitchFamily="34" charset="-120"/>
              </a:rPr>
              <a:t>1:28 PRODUCT WALKTHROUGH</a:t>
            </a:r>
            <a:endParaRPr lang="en-US" sz="1250" dirty="0"/>
          </a:p>
        </p:txBody>
      </p:sp>
      <p:sp>
        <p:nvSpPr>
          <p:cNvPr id="7" name="Text 3"/>
          <p:cNvSpPr/>
          <p:nvPr/>
        </p:nvSpPr>
        <p:spPr>
          <a:xfrm>
            <a:off x="4425696" y="1389888"/>
            <a:ext cx="6126480" cy="1353312"/>
          </a:xfrm>
          <a:prstGeom prst="rect">
            <a:avLst/>
          </a:prstGeom>
          <a:noFill/>
          <a:ln/>
        </p:spPr>
        <p:txBody>
          <a:bodyPr wrap="square" lIns="0" tIns="0" rIns="0" bIns="0" rtlCol="0" anchor="ctr">
            <a:normAutofit/>
          </a:bodyPr>
          <a:lstStyle/>
          <a:p>
            <a:pPr indent="0" marL="0">
              <a:lnSpc>
                <a:spcPct val="90000"/>
              </a:lnSpc>
              <a:buNone/>
            </a:pPr>
            <a:r>
              <a:rPr lang="en-US" sz="4500" b="1" dirty="0">
                <a:solidFill>
                  <a:srgbClr val="FFFFFF"/>
                </a:solidFill>
                <a:latin typeface="Arial" pitchFamily="34" charset="0"/>
                <a:ea typeface="Arial" pitchFamily="34" charset="-122"/>
                <a:cs typeface="Arial" pitchFamily="34" charset="-120"/>
              </a:rPr>
              <a:t>The complete</a:t>
            </a:r>
            <a:endParaRPr lang="en-US" sz="4500" dirty="0"/>
          </a:p>
          <a:p>
            <a:pPr indent="0" marL="0">
              <a:lnSpc>
                <a:spcPct val="90000"/>
              </a:lnSpc>
              <a:buNone/>
            </a:pPr>
            <a:r>
              <a:rPr lang="en-US" sz="4500" b="1" dirty="0">
                <a:solidFill>
                  <a:srgbClr val="FFFFFF"/>
                </a:solidFill>
                <a:latin typeface="Arial" pitchFamily="34" charset="0"/>
                <a:ea typeface="Arial" pitchFamily="34" charset="-122"/>
                <a:cs typeface="Arial" pitchFamily="34" charset="-120"/>
              </a:rPr>
              <a:t>SeeNA journey.</a:t>
            </a:r>
            <a:endParaRPr lang="en-US" sz="4500" dirty="0"/>
          </a:p>
        </p:txBody>
      </p:sp>
      <p:sp>
        <p:nvSpPr>
          <p:cNvPr id="8" name="Text 4"/>
          <p:cNvSpPr/>
          <p:nvPr/>
        </p:nvSpPr>
        <p:spPr>
          <a:xfrm>
            <a:off x="4480560" y="3337560"/>
            <a:ext cx="384048" cy="219456"/>
          </a:xfrm>
          <a:prstGeom prst="rect">
            <a:avLst/>
          </a:prstGeom>
          <a:noFill/>
          <a:ln/>
        </p:spPr>
        <p:txBody>
          <a:bodyPr wrap="square" lIns="0" tIns="0" rIns="0" bIns="0" rtlCol="0" anchor="ctr">
            <a:normAutofit/>
          </a:bodyPr>
          <a:lstStyle/>
          <a:p>
            <a:pPr indent="0" marL="0">
              <a:buNone/>
            </a:pPr>
            <a:r>
              <a:rPr lang="en-US" sz="1100" b="1" dirty="0">
                <a:solidFill>
                  <a:srgbClr val="D6A66D"/>
                </a:solidFill>
                <a:latin typeface="Arial" pitchFamily="34" charset="0"/>
                <a:ea typeface="Arial" pitchFamily="34" charset="-122"/>
                <a:cs typeface="Arial" pitchFamily="34" charset="-120"/>
              </a:rPr>
              <a:t>01</a:t>
            </a:r>
            <a:endParaRPr lang="en-US" sz="1100" dirty="0"/>
          </a:p>
        </p:txBody>
      </p:sp>
      <p:sp>
        <p:nvSpPr>
          <p:cNvPr id="9" name="Text 5"/>
          <p:cNvSpPr/>
          <p:nvPr/>
        </p:nvSpPr>
        <p:spPr>
          <a:xfrm>
            <a:off x="5074920" y="3310128"/>
            <a:ext cx="4389120" cy="310896"/>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Guided positioning</a:t>
            </a:r>
            <a:endParaRPr lang="en-US" sz="2000" dirty="0"/>
          </a:p>
        </p:txBody>
      </p:sp>
      <p:sp>
        <p:nvSpPr>
          <p:cNvPr id="10" name="Shape 6"/>
          <p:cNvSpPr/>
          <p:nvPr/>
        </p:nvSpPr>
        <p:spPr>
          <a:xfrm>
            <a:off x="5074920" y="3813048"/>
            <a:ext cx="4297680" cy="0"/>
          </a:xfrm>
          <a:prstGeom prst="line">
            <a:avLst/>
          </a:prstGeom>
          <a:noFill/>
          <a:ln w="12700">
            <a:solidFill>
              <a:srgbClr val="303030"/>
            </a:solidFill>
            <a:prstDash val="solid"/>
          </a:ln>
        </p:spPr>
      </p:sp>
      <p:sp>
        <p:nvSpPr>
          <p:cNvPr id="11" name="Text 7"/>
          <p:cNvSpPr/>
          <p:nvPr/>
        </p:nvSpPr>
        <p:spPr>
          <a:xfrm>
            <a:off x="4480560" y="4123944"/>
            <a:ext cx="384048" cy="219456"/>
          </a:xfrm>
          <a:prstGeom prst="rect">
            <a:avLst/>
          </a:prstGeom>
          <a:noFill/>
          <a:ln/>
        </p:spPr>
        <p:txBody>
          <a:bodyPr wrap="square" lIns="0" tIns="0" rIns="0" bIns="0" rtlCol="0" anchor="ctr">
            <a:normAutofit/>
          </a:bodyPr>
          <a:lstStyle/>
          <a:p>
            <a:pPr indent="0" marL="0">
              <a:buNone/>
            </a:pPr>
            <a:r>
              <a:rPr lang="en-US" sz="1100" b="1" dirty="0">
                <a:solidFill>
                  <a:srgbClr val="D6A66D"/>
                </a:solidFill>
                <a:latin typeface="Arial" pitchFamily="34" charset="0"/>
                <a:ea typeface="Arial" pitchFamily="34" charset="-122"/>
                <a:cs typeface="Arial" pitchFamily="34" charset="-120"/>
              </a:rPr>
              <a:t>02</a:t>
            </a:r>
            <a:endParaRPr lang="en-US" sz="1100" dirty="0"/>
          </a:p>
        </p:txBody>
      </p:sp>
      <p:sp>
        <p:nvSpPr>
          <p:cNvPr id="12" name="Text 8"/>
          <p:cNvSpPr/>
          <p:nvPr/>
        </p:nvSpPr>
        <p:spPr>
          <a:xfrm>
            <a:off x="5074920" y="4096512"/>
            <a:ext cx="4389120" cy="310896"/>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Voice-led screening</a:t>
            </a:r>
            <a:endParaRPr lang="en-US" sz="2000" dirty="0"/>
          </a:p>
        </p:txBody>
      </p:sp>
      <p:sp>
        <p:nvSpPr>
          <p:cNvPr id="13" name="Shape 9"/>
          <p:cNvSpPr/>
          <p:nvPr/>
        </p:nvSpPr>
        <p:spPr>
          <a:xfrm>
            <a:off x="5074920" y="4599432"/>
            <a:ext cx="4297680" cy="0"/>
          </a:xfrm>
          <a:prstGeom prst="line">
            <a:avLst/>
          </a:prstGeom>
          <a:noFill/>
          <a:ln w="12700">
            <a:solidFill>
              <a:srgbClr val="303030"/>
            </a:solidFill>
            <a:prstDash val="solid"/>
          </a:ln>
        </p:spPr>
      </p:sp>
      <p:sp>
        <p:nvSpPr>
          <p:cNvPr id="14" name="Text 10"/>
          <p:cNvSpPr/>
          <p:nvPr/>
        </p:nvSpPr>
        <p:spPr>
          <a:xfrm>
            <a:off x="4480560" y="4910328"/>
            <a:ext cx="384048" cy="219456"/>
          </a:xfrm>
          <a:prstGeom prst="rect">
            <a:avLst/>
          </a:prstGeom>
          <a:noFill/>
          <a:ln/>
        </p:spPr>
        <p:txBody>
          <a:bodyPr wrap="square" lIns="0" tIns="0" rIns="0" bIns="0" rtlCol="0" anchor="ctr">
            <a:normAutofit/>
          </a:bodyPr>
          <a:lstStyle/>
          <a:p>
            <a:pPr indent="0" marL="0">
              <a:buNone/>
            </a:pPr>
            <a:r>
              <a:rPr lang="en-US" sz="1100" b="1" dirty="0">
                <a:solidFill>
                  <a:srgbClr val="D6A66D"/>
                </a:solidFill>
                <a:latin typeface="Arial" pitchFamily="34" charset="0"/>
                <a:ea typeface="Arial" pitchFamily="34" charset="-122"/>
                <a:cs typeface="Arial" pitchFamily="34" charset="-120"/>
              </a:rPr>
              <a:t>03</a:t>
            </a:r>
            <a:endParaRPr lang="en-US" sz="1100" dirty="0"/>
          </a:p>
        </p:txBody>
      </p:sp>
      <p:sp>
        <p:nvSpPr>
          <p:cNvPr id="15" name="Text 11"/>
          <p:cNvSpPr/>
          <p:nvPr/>
        </p:nvSpPr>
        <p:spPr>
          <a:xfrm>
            <a:off x="5074920" y="4882896"/>
            <a:ext cx="4389120" cy="310896"/>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Result and answer review</a:t>
            </a:r>
            <a:endParaRPr lang="en-US" sz="2000" dirty="0"/>
          </a:p>
        </p:txBody>
      </p:sp>
      <p:sp>
        <p:nvSpPr>
          <p:cNvPr id="16" name="Text 12"/>
          <p:cNvSpPr/>
          <p:nvPr/>
        </p:nvSpPr>
        <p:spPr>
          <a:xfrm>
            <a:off x="4480560" y="5925312"/>
            <a:ext cx="5212080" cy="256032"/>
          </a:xfrm>
          <a:prstGeom prst="rect">
            <a:avLst/>
          </a:prstGeom>
          <a:noFill/>
          <a:ln/>
        </p:spPr>
        <p:txBody>
          <a:bodyPr wrap="square" lIns="0" tIns="0" rIns="0" bIns="0" rtlCol="0" anchor="ctr">
            <a:normAutofit/>
          </a:bodyPr>
          <a:lstStyle/>
          <a:p>
            <a:pPr indent="0" marL="0">
              <a:buNone/>
            </a:pPr>
            <a:r>
              <a:rPr lang="en-US" sz="1300" dirty="0">
                <a:solidFill>
                  <a:srgbClr val="BDBDBD"/>
                </a:solidFill>
                <a:latin typeface="Arial" pitchFamily="34" charset="0"/>
                <a:ea typeface="Arial" pitchFamily="34" charset="-122"/>
                <a:cs typeface="Arial" pitchFamily="34" charset="-120"/>
              </a:rPr>
              <a:t>Click the video frame to play with sound. 1:28.</a:t>
            </a:r>
            <a:endParaRPr lang="en-US" sz="1300" dirty="0"/>
          </a:p>
        </p:txBody>
      </p:sp>
      <p:sp>
        <p:nvSpPr>
          <p:cNvPr id="17" name="Text 13"/>
          <p:cNvSpPr/>
          <p:nvPr/>
        </p:nvSpPr>
        <p:spPr>
          <a:xfrm>
            <a:off x="11082528" y="6364224"/>
            <a:ext cx="438912" cy="182880"/>
          </a:xfrm>
          <a:prstGeom prst="rect">
            <a:avLst/>
          </a:prstGeom>
          <a:noFill/>
          <a:ln/>
        </p:spPr>
        <p:txBody>
          <a:bodyPr wrap="square" lIns="0" tIns="0" rIns="0" bIns="0" rtlCol="0" anchor="ctr">
            <a:normAutofit/>
          </a:bodyPr>
          <a:lstStyle/>
          <a:p>
            <a:pPr algn="r" indent="0" marL="0">
              <a:buNone/>
            </a:pPr>
            <a:r>
              <a:rPr lang="en-US" sz="1000" b="1" dirty="0">
                <a:solidFill>
                  <a:srgbClr val="BDBDBD"/>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658368" y="347472"/>
            <a:ext cx="3840480" cy="256032"/>
          </a:xfrm>
          <a:prstGeom prst="rect">
            <a:avLst/>
          </a:prstGeom>
          <a:noFill/>
          <a:ln/>
        </p:spPr>
        <p:txBody>
          <a:bodyPr wrap="square" lIns="0" tIns="0" rIns="0" bIns="0" rtlCol="0" anchor="ctr">
            <a:normAutofit/>
          </a:bodyPr>
          <a:lstStyle/>
          <a:p>
            <a:pPr indent="0" marL="0">
              <a:buNone/>
            </a:pPr>
            <a:r>
              <a:rPr lang="en-US" sz="1050" b="1" spc="260" kern="0" dirty="0">
                <a:solidFill>
                  <a:srgbClr val="757575"/>
                </a:solidFill>
                <a:latin typeface="Arial" pitchFamily="34" charset="0"/>
                <a:ea typeface="Arial" pitchFamily="34" charset="-122"/>
                <a:cs typeface="Arial" pitchFamily="34" charset="-120"/>
              </a:rPr>
              <a:t>DESIGNED FOR INDEPENDENCE</a:t>
            </a:r>
            <a:endParaRPr lang="en-US" sz="1050" dirty="0"/>
          </a:p>
        </p:txBody>
      </p:sp>
      <p:sp>
        <p:nvSpPr>
          <p:cNvPr id="3" name="Text 1"/>
          <p:cNvSpPr/>
          <p:nvPr/>
        </p:nvSpPr>
        <p:spPr>
          <a:xfrm>
            <a:off x="658368" y="749808"/>
            <a:ext cx="8869680" cy="493776"/>
          </a:xfrm>
          <a:prstGeom prst="rect">
            <a:avLst/>
          </a:prstGeom>
          <a:noFill/>
          <a:ln/>
        </p:spPr>
        <p:txBody>
          <a:bodyPr wrap="square" lIns="0" tIns="0" rIns="0" bIns="0" rtlCol="0" anchor="ctr">
            <a:normAutofit/>
          </a:bodyPr>
          <a:lstStyle/>
          <a:p>
            <a:pPr indent="0" marL="0">
              <a:buNone/>
            </a:pPr>
            <a:r>
              <a:rPr lang="en-US" sz="3400" b="1" dirty="0">
                <a:solidFill>
                  <a:srgbClr val="111111"/>
                </a:solidFill>
                <a:latin typeface="Arial" pitchFamily="34" charset="0"/>
                <a:ea typeface="Arial" pitchFamily="34" charset="-122"/>
                <a:cs typeface="Arial" pitchFamily="34" charset="-120"/>
              </a:rPr>
              <a:t>One target. One answer. Full transparency.</a:t>
            </a:r>
            <a:endParaRPr lang="en-US" sz="3400" dirty="0"/>
          </a:p>
        </p:txBody>
      </p:sp>
      <p:sp>
        <p:nvSpPr>
          <p:cNvPr id="4" name="Shape 2"/>
          <p:cNvSpPr/>
          <p:nvPr/>
        </p:nvSpPr>
        <p:spPr>
          <a:xfrm>
            <a:off x="1587856" y="1435608"/>
            <a:ext cx="2048256" cy="4279392"/>
          </a:xfrm>
          <a:prstGeom prst="roundRect">
            <a:avLst>
              <a:gd name="adj" fmla="val 4464"/>
            </a:avLst>
          </a:prstGeom>
          <a:solidFill>
            <a:srgbClr val="050505"/>
          </a:solidFill>
          <a:ln w="12700">
            <a:solidFill>
              <a:srgbClr val="111111"/>
            </a:solidFill>
            <a:prstDash val="solid"/>
          </a:ln>
          <a:effectLst>
            <a:outerShdw sx="100000" sy="100000" kx="0" ky="0" algn="bl" rotWithShape="0" blurRad="127000" dist="38100" dir="2700000">
              <a:srgbClr val="000000">
                <a:alpha val="16000"/>
              </a:srgbClr>
            </a:outerShdw>
          </a:effectLst>
        </p:spPr>
      </p:sp>
      <p:pic>
        <p:nvPicPr>
          <p:cNvPr id="5" name="Image 0" descr="Circle screen">    </p:cNvPr>
          <p:cNvPicPr>
            <a:picLocks noChangeAspect="1"/>
          </p:cNvPicPr>
          <p:nvPr/>
        </p:nvPicPr>
        <p:blipFill>
          <a:blip r:embed="rId1"/>
          <a:srcRect l="0" r="0" t="0" b="0"/>
          <a:stretch/>
        </p:blipFill>
        <p:spPr>
          <a:xfrm>
            <a:off x="1661008" y="1508760"/>
            <a:ext cx="1901952" cy="4133088"/>
          </a:xfrm>
          <a:prstGeom prst="rect">
            <a:avLst/>
          </a:prstGeom>
        </p:spPr>
      </p:pic>
      <p:sp>
        <p:nvSpPr>
          <p:cNvPr id="6" name="Text 3"/>
          <p:cNvSpPr/>
          <p:nvPr/>
        </p:nvSpPr>
        <p:spPr>
          <a:xfrm>
            <a:off x="1661008" y="5897880"/>
            <a:ext cx="320040" cy="201168"/>
          </a:xfrm>
          <a:prstGeom prst="rect">
            <a:avLst/>
          </a:prstGeom>
          <a:noFill/>
          <a:ln/>
        </p:spPr>
        <p:txBody>
          <a:bodyPr wrap="square" lIns="0" tIns="0" rIns="0" bIns="0" rtlCol="0" anchor="ctr">
            <a:normAutofit/>
          </a:bodyPr>
          <a:lstStyle/>
          <a:p>
            <a:pPr indent="0" marL="0">
              <a:buNone/>
            </a:pPr>
            <a:r>
              <a:rPr lang="en-US" sz="1050" b="1" dirty="0">
                <a:solidFill>
                  <a:srgbClr val="D6A66D"/>
                </a:solidFill>
                <a:latin typeface="Arial" pitchFamily="34" charset="0"/>
                <a:ea typeface="Arial" pitchFamily="34" charset="-122"/>
                <a:cs typeface="Arial" pitchFamily="34" charset="-120"/>
              </a:rPr>
              <a:t>01</a:t>
            </a:r>
            <a:endParaRPr lang="en-US" sz="1050" dirty="0"/>
          </a:p>
        </p:txBody>
      </p:sp>
      <p:sp>
        <p:nvSpPr>
          <p:cNvPr id="7" name="Text 4"/>
          <p:cNvSpPr/>
          <p:nvPr/>
        </p:nvSpPr>
        <p:spPr>
          <a:xfrm>
            <a:off x="2045056" y="5852160"/>
            <a:ext cx="1353312" cy="265176"/>
          </a:xfrm>
          <a:prstGeom prst="rect">
            <a:avLst/>
          </a:prstGeom>
          <a:noFill/>
          <a:ln/>
        </p:spPr>
        <p:txBody>
          <a:bodyPr wrap="square" lIns="0" tIns="0" rIns="0" bIns="0" rtlCol="0" anchor="ctr">
            <a:normAutofit/>
          </a:bodyPr>
          <a:lstStyle/>
          <a:p>
            <a:pPr indent="0" marL="0">
              <a:buNone/>
            </a:pPr>
            <a:r>
              <a:rPr lang="en-US" sz="1550" b="1" dirty="0">
                <a:solidFill>
                  <a:srgbClr val="111111"/>
                </a:solidFill>
                <a:latin typeface="Arial" pitchFamily="34" charset="0"/>
                <a:ea typeface="Arial" pitchFamily="34" charset="-122"/>
                <a:cs typeface="Arial" pitchFamily="34" charset="-120"/>
              </a:rPr>
              <a:t>Circle</a:t>
            </a:r>
            <a:endParaRPr lang="en-US" sz="1550" dirty="0"/>
          </a:p>
        </p:txBody>
      </p:sp>
      <p:sp>
        <p:nvSpPr>
          <p:cNvPr id="8" name="Shape 5"/>
          <p:cNvSpPr/>
          <p:nvPr/>
        </p:nvSpPr>
        <p:spPr>
          <a:xfrm>
            <a:off x="3910432" y="1435608"/>
            <a:ext cx="2048256" cy="4279392"/>
          </a:xfrm>
          <a:prstGeom prst="roundRect">
            <a:avLst>
              <a:gd name="adj" fmla="val 4464"/>
            </a:avLst>
          </a:prstGeom>
          <a:solidFill>
            <a:srgbClr val="050505"/>
          </a:solidFill>
          <a:ln w="12700">
            <a:solidFill>
              <a:srgbClr val="111111"/>
            </a:solidFill>
            <a:prstDash val="solid"/>
          </a:ln>
          <a:effectLst>
            <a:outerShdw sx="100000" sy="100000" kx="0" ky="0" algn="bl" rotWithShape="0" blurRad="127000" dist="38100" dir="2700000">
              <a:srgbClr val="000000">
                <a:alpha val="16000"/>
              </a:srgbClr>
            </a:outerShdw>
          </a:effectLst>
        </p:spPr>
      </p:sp>
      <p:pic>
        <p:nvPicPr>
          <p:cNvPr id="9" name="Image 1" descr="Pattern screen">    </p:cNvPr>
          <p:cNvPicPr>
            <a:picLocks noChangeAspect="1"/>
          </p:cNvPicPr>
          <p:nvPr/>
        </p:nvPicPr>
        <p:blipFill>
          <a:blip r:embed="rId2"/>
          <a:srcRect l="0" r="0" t="0" b="0"/>
          <a:stretch/>
        </p:blipFill>
        <p:spPr>
          <a:xfrm>
            <a:off x="3983584" y="1508760"/>
            <a:ext cx="1901952" cy="4133088"/>
          </a:xfrm>
          <a:prstGeom prst="rect">
            <a:avLst/>
          </a:prstGeom>
        </p:spPr>
      </p:pic>
      <p:sp>
        <p:nvSpPr>
          <p:cNvPr id="10" name="Text 6"/>
          <p:cNvSpPr/>
          <p:nvPr/>
        </p:nvSpPr>
        <p:spPr>
          <a:xfrm>
            <a:off x="3983584" y="5897880"/>
            <a:ext cx="320040" cy="201168"/>
          </a:xfrm>
          <a:prstGeom prst="rect">
            <a:avLst/>
          </a:prstGeom>
          <a:noFill/>
          <a:ln/>
        </p:spPr>
        <p:txBody>
          <a:bodyPr wrap="square" lIns="0" tIns="0" rIns="0" bIns="0" rtlCol="0" anchor="ctr">
            <a:normAutofit/>
          </a:bodyPr>
          <a:lstStyle/>
          <a:p>
            <a:pPr indent="0" marL="0">
              <a:buNone/>
            </a:pPr>
            <a:r>
              <a:rPr lang="en-US" sz="1050" b="1" dirty="0">
                <a:solidFill>
                  <a:srgbClr val="D6A66D"/>
                </a:solidFill>
                <a:latin typeface="Arial" pitchFamily="34" charset="0"/>
                <a:ea typeface="Arial" pitchFamily="34" charset="-122"/>
                <a:cs typeface="Arial" pitchFamily="34" charset="-120"/>
              </a:rPr>
              <a:t>02</a:t>
            </a:r>
            <a:endParaRPr lang="en-US" sz="1050" dirty="0"/>
          </a:p>
        </p:txBody>
      </p:sp>
      <p:sp>
        <p:nvSpPr>
          <p:cNvPr id="11" name="Text 7"/>
          <p:cNvSpPr/>
          <p:nvPr/>
        </p:nvSpPr>
        <p:spPr>
          <a:xfrm>
            <a:off x="4367632" y="5852160"/>
            <a:ext cx="1353312" cy="265176"/>
          </a:xfrm>
          <a:prstGeom prst="rect">
            <a:avLst/>
          </a:prstGeom>
          <a:noFill/>
          <a:ln/>
        </p:spPr>
        <p:txBody>
          <a:bodyPr wrap="square" lIns="0" tIns="0" rIns="0" bIns="0" rtlCol="0" anchor="ctr">
            <a:normAutofit/>
          </a:bodyPr>
          <a:lstStyle/>
          <a:p>
            <a:pPr indent="0" marL="0">
              <a:buNone/>
            </a:pPr>
            <a:r>
              <a:rPr lang="en-US" sz="1550" b="1" dirty="0">
                <a:solidFill>
                  <a:srgbClr val="111111"/>
                </a:solidFill>
                <a:latin typeface="Arial" pitchFamily="34" charset="0"/>
                <a:ea typeface="Arial" pitchFamily="34" charset="-122"/>
                <a:cs typeface="Arial" pitchFamily="34" charset="-120"/>
              </a:rPr>
              <a:t>Pattern</a:t>
            </a:r>
            <a:endParaRPr lang="en-US" sz="1550" dirty="0"/>
          </a:p>
        </p:txBody>
      </p:sp>
      <p:sp>
        <p:nvSpPr>
          <p:cNvPr id="12" name="Shape 8"/>
          <p:cNvSpPr/>
          <p:nvPr/>
        </p:nvSpPr>
        <p:spPr>
          <a:xfrm>
            <a:off x="6233008" y="1435608"/>
            <a:ext cx="2048256" cy="4279392"/>
          </a:xfrm>
          <a:prstGeom prst="roundRect">
            <a:avLst>
              <a:gd name="adj" fmla="val 4464"/>
            </a:avLst>
          </a:prstGeom>
          <a:solidFill>
            <a:srgbClr val="050505"/>
          </a:solidFill>
          <a:ln w="12700">
            <a:solidFill>
              <a:srgbClr val="111111"/>
            </a:solidFill>
            <a:prstDash val="solid"/>
          </a:ln>
          <a:effectLst>
            <a:outerShdw sx="100000" sy="100000" kx="0" ky="0" algn="bl" rotWithShape="0" blurRad="127000" dist="38100" dir="2700000">
              <a:srgbClr val="000000">
                <a:alpha val="16000"/>
              </a:srgbClr>
            </a:outerShdw>
          </a:effectLst>
        </p:spPr>
      </p:sp>
      <p:pic>
        <p:nvPicPr>
          <p:cNvPr id="13" name="Image 2" descr="Result screen">    </p:cNvPr>
          <p:cNvPicPr>
            <a:picLocks noChangeAspect="1"/>
          </p:cNvPicPr>
          <p:nvPr/>
        </p:nvPicPr>
        <p:blipFill>
          <a:blip r:embed="rId3"/>
          <a:srcRect l="0" r="0" t="0" b="0"/>
          <a:stretch/>
        </p:blipFill>
        <p:spPr>
          <a:xfrm>
            <a:off x="6306160" y="1508760"/>
            <a:ext cx="1901952" cy="4133088"/>
          </a:xfrm>
          <a:prstGeom prst="rect">
            <a:avLst/>
          </a:prstGeom>
        </p:spPr>
      </p:pic>
      <p:sp>
        <p:nvSpPr>
          <p:cNvPr id="14" name="Text 9"/>
          <p:cNvSpPr/>
          <p:nvPr/>
        </p:nvSpPr>
        <p:spPr>
          <a:xfrm>
            <a:off x="6306160" y="5897880"/>
            <a:ext cx="320040" cy="201168"/>
          </a:xfrm>
          <a:prstGeom prst="rect">
            <a:avLst/>
          </a:prstGeom>
          <a:noFill/>
          <a:ln/>
        </p:spPr>
        <p:txBody>
          <a:bodyPr wrap="square" lIns="0" tIns="0" rIns="0" bIns="0" rtlCol="0" anchor="ctr">
            <a:normAutofit/>
          </a:bodyPr>
          <a:lstStyle/>
          <a:p>
            <a:pPr indent="0" marL="0">
              <a:buNone/>
            </a:pPr>
            <a:r>
              <a:rPr lang="en-US" sz="1050" b="1" dirty="0">
                <a:solidFill>
                  <a:srgbClr val="D6A66D"/>
                </a:solidFill>
                <a:latin typeface="Arial" pitchFamily="34" charset="0"/>
                <a:ea typeface="Arial" pitchFamily="34" charset="-122"/>
                <a:cs typeface="Arial" pitchFamily="34" charset="-120"/>
              </a:rPr>
              <a:t>03</a:t>
            </a:r>
            <a:endParaRPr lang="en-US" sz="1050" dirty="0"/>
          </a:p>
        </p:txBody>
      </p:sp>
      <p:sp>
        <p:nvSpPr>
          <p:cNvPr id="15" name="Text 10"/>
          <p:cNvSpPr/>
          <p:nvPr/>
        </p:nvSpPr>
        <p:spPr>
          <a:xfrm>
            <a:off x="6690208" y="5852160"/>
            <a:ext cx="1353312" cy="265176"/>
          </a:xfrm>
          <a:prstGeom prst="rect">
            <a:avLst/>
          </a:prstGeom>
          <a:noFill/>
          <a:ln/>
        </p:spPr>
        <p:txBody>
          <a:bodyPr wrap="square" lIns="0" tIns="0" rIns="0" bIns="0" rtlCol="0" anchor="ctr">
            <a:normAutofit/>
          </a:bodyPr>
          <a:lstStyle/>
          <a:p>
            <a:pPr indent="0" marL="0">
              <a:buNone/>
            </a:pPr>
            <a:r>
              <a:rPr lang="en-US" sz="1550" b="1" dirty="0">
                <a:solidFill>
                  <a:srgbClr val="111111"/>
                </a:solidFill>
                <a:latin typeface="Arial" pitchFamily="34" charset="0"/>
                <a:ea typeface="Arial" pitchFamily="34" charset="-122"/>
                <a:cs typeface="Arial" pitchFamily="34" charset="-120"/>
              </a:rPr>
              <a:t>Result</a:t>
            </a:r>
            <a:endParaRPr lang="en-US" sz="1550" dirty="0"/>
          </a:p>
        </p:txBody>
      </p:sp>
      <p:sp>
        <p:nvSpPr>
          <p:cNvPr id="16" name="Shape 11"/>
          <p:cNvSpPr/>
          <p:nvPr/>
        </p:nvSpPr>
        <p:spPr>
          <a:xfrm>
            <a:off x="8555584" y="1435608"/>
            <a:ext cx="2048256" cy="4279392"/>
          </a:xfrm>
          <a:prstGeom prst="roundRect">
            <a:avLst>
              <a:gd name="adj" fmla="val 4464"/>
            </a:avLst>
          </a:prstGeom>
          <a:solidFill>
            <a:srgbClr val="050505"/>
          </a:solidFill>
          <a:ln w="12700">
            <a:solidFill>
              <a:srgbClr val="111111"/>
            </a:solidFill>
            <a:prstDash val="solid"/>
          </a:ln>
          <a:effectLst>
            <a:outerShdw sx="100000" sy="100000" kx="0" ky="0" algn="bl" rotWithShape="0" blurRad="127000" dist="38100" dir="2700000">
              <a:srgbClr val="000000">
                <a:alpha val="16000"/>
              </a:srgbClr>
            </a:outerShdw>
          </a:effectLst>
        </p:spPr>
      </p:sp>
      <p:pic>
        <p:nvPicPr>
          <p:cNvPr id="17" name="Image 3" descr="Review screen">    </p:cNvPr>
          <p:cNvPicPr>
            <a:picLocks noChangeAspect="1"/>
          </p:cNvPicPr>
          <p:nvPr/>
        </p:nvPicPr>
        <p:blipFill>
          <a:blip r:embed="rId4"/>
          <a:srcRect l="0" r="0" t="0" b="0"/>
          <a:stretch/>
        </p:blipFill>
        <p:spPr>
          <a:xfrm>
            <a:off x="8628736" y="1508760"/>
            <a:ext cx="1901952" cy="4133088"/>
          </a:xfrm>
          <a:prstGeom prst="rect">
            <a:avLst/>
          </a:prstGeom>
        </p:spPr>
      </p:pic>
      <p:sp>
        <p:nvSpPr>
          <p:cNvPr id="18" name="Text 12"/>
          <p:cNvSpPr/>
          <p:nvPr/>
        </p:nvSpPr>
        <p:spPr>
          <a:xfrm>
            <a:off x="8628736" y="5897880"/>
            <a:ext cx="320040" cy="201168"/>
          </a:xfrm>
          <a:prstGeom prst="rect">
            <a:avLst/>
          </a:prstGeom>
          <a:noFill/>
          <a:ln/>
        </p:spPr>
        <p:txBody>
          <a:bodyPr wrap="square" lIns="0" tIns="0" rIns="0" bIns="0" rtlCol="0" anchor="ctr">
            <a:normAutofit/>
          </a:bodyPr>
          <a:lstStyle/>
          <a:p>
            <a:pPr indent="0" marL="0">
              <a:buNone/>
            </a:pPr>
            <a:r>
              <a:rPr lang="en-US" sz="1050" b="1" dirty="0">
                <a:solidFill>
                  <a:srgbClr val="D6A66D"/>
                </a:solidFill>
                <a:latin typeface="Arial" pitchFamily="34" charset="0"/>
                <a:ea typeface="Arial" pitchFamily="34" charset="-122"/>
                <a:cs typeface="Arial" pitchFamily="34" charset="-120"/>
              </a:rPr>
              <a:t>04</a:t>
            </a:r>
            <a:endParaRPr lang="en-US" sz="1050" dirty="0"/>
          </a:p>
        </p:txBody>
      </p:sp>
      <p:sp>
        <p:nvSpPr>
          <p:cNvPr id="19" name="Text 13"/>
          <p:cNvSpPr/>
          <p:nvPr/>
        </p:nvSpPr>
        <p:spPr>
          <a:xfrm>
            <a:off x="9012784" y="5852160"/>
            <a:ext cx="1353312" cy="265176"/>
          </a:xfrm>
          <a:prstGeom prst="rect">
            <a:avLst/>
          </a:prstGeom>
          <a:noFill/>
          <a:ln/>
        </p:spPr>
        <p:txBody>
          <a:bodyPr wrap="square" lIns="0" tIns="0" rIns="0" bIns="0" rtlCol="0" anchor="ctr">
            <a:normAutofit/>
          </a:bodyPr>
          <a:lstStyle/>
          <a:p>
            <a:pPr indent="0" marL="0">
              <a:buNone/>
            </a:pPr>
            <a:r>
              <a:rPr lang="en-US" sz="1550" b="1" dirty="0">
                <a:solidFill>
                  <a:srgbClr val="111111"/>
                </a:solidFill>
                <a:latin typeface="Arial" pitchFamily="34" charset="0"/>
                <a:ea typeface="Arial" pitchFamily="34" charset="-122"/>
                <a:cs typeface="Arial" pitchFamily="34" charset="-120"/>
              </a:rPr>
              <a:t>Review</a:t>
            </a:r>
            <a:endParaRPr lang="en-US" sz="1550" dirty="0"/>
          </a:p>
        </p:txBody>
      </p:sp>
      <p:sp>
        <p:nvSpPr>
          <p:cNvPr id="20" name="Text 14"/>
          <p:cNvSpPr/>
          <p:nvPr/>
        </p:nvSpPr>
        <p:spPr>
          <a:xfrm>
            <a:off x="11082528" y="6364224"/>
            <a:ext cx="438912" cy="182880"/>
          </a:xfrm>
          <a:prstGeom prst="rect">
            <a:avLst/>
          </a:prstGeom>
          <a:noFill/>
          <a:ln/>
        </p:spPr>
        <p:txBody>
          <a:bodyPr wrap="square" lIns="0" tIns="0" rIns="0" bIns="0" rtlCol="0" anchor="ctr">
            <a:normAutofit/>
          </a:bodyPr>
          <a:lstStyle/>
          <a:p>
            <a:pPr algn="r" indent="0" marL="0">
              <a:buNone/>
            </a:pPr>
            <a:r>
              <a:rPr lang="en-US" sz="1000" b="1" dirty="0">
                <a:solidFill>
                  <a:srgbClr val="757575"/>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658368" y="347472"/>
            <a:ext cx="3840480" cy="256032"/>
          </a:xfrm>
          <a:prstGeom prst="rect">
            <a:avLst/>
          </a:prstGeom>
          <a:noFill/>
          <a:ln/>
        </p:spPr>
        <p:txBody>
          <a:bodyPr wrap="square" lIns="0" tIns="0" rIns="0" bIns="0" rtlCol="0" anchor="ctr">
            <a:normAutofit/>
          </a:bodyPr>
          <a:lstStyle/>
          <a:p>
            <a:pPr indent="0" marL="0">
              <a:buNone/>
            </a:pPr>
            <a:r>
              <a:rPr lang="en-US" sz="1050" b="1" spc="260" kern="0" dirty="0">
                <a:solidFill>
                  <a:srgbClr val="BDBDBD"/>
                </a:solidFill>
                <a:latin typeface="Arial" pitchFamily="34" charset="0"/>
                <a:ea typeface="Arial" pitchFamily="34" charset="-122"/>
                <a:cs typeface="Arial" pitchFamily="34" charset="-120"/>
              </a:rPr>
              <a:t>BUILT FOR TRUST</a:t>
            </a:r>
            <a:endParaRPr lang="en-US" sz="1050" dirty="0"/>
          </a:p>
        </p:txBody>
      </p:sp>
      <p:sp>
        <p:nvSpPr>
          <p:cNvPr id="3" name="Text 1"/>
          <p:cNvSpPr/>
          <p:nvPr/>
        </p:nvSpPr>
        <p:spPr>
          <a:xfrm>
            <a:off x="658368" y="804672"/>
            <a:ext cx="8412480" cy="1051560"/>
          </a:xfrm>
          <a:prstGeom prst="rect">
            <a:avLst/>
          </a:prstGeom>
          <a:noFill/>
          <a:ln/>
        </p:spPr>
        <p:txBody>
          <a:bodyPr wrap="square" lIns="0" tIns="0" rIns="0" bIns="0" rtlCol="0" anchor="ctr">
            <a:normAutofit/>
          </a:bodyPr>
          <a:lstStyle/>
          <a:p>
            <a:pPr indent="0" marL="0">
              <a:lnSpc>
                <a:spcPct val="90000"/>
              </a:lnSpc>
              <a:buNone/>
            </a:pPr>
            <a:r>
              <a:rPr lang="en-US" sz="4000" b="1" dirty="0">
                <a:solidFill>
                  <a:srgbClr val="FFFFFF"/>
                </a:solidFill>
                <a:latin typeface="Arial" pitchFamily="34" charset="0"/>
                <a:ea typeface="Arial" pitchFamily="34" charset="-122"/>
                <a:cs typeface="Arial" pitchFamily="34" charset="-120"/>
              </a:rPr>
              <a:t>The result comes from the test.</a:t>
            </a:r>
            <a:endParaRPr lang="en-US" sz="4000" dirty="0"/>
          </a:p>
          <a:p>
            <a:pPr indent="0" marL="0">
              <a:lnSpc>
                <a:spcPct val="90000"/>
              </a:lnSpc>
              <a:buNone/>
            </a:pPr>
            <a:r>
              <a:rPr lang="en-US" sz="4000" b="1" dirty="0">
                <a:solidFill>
                  <a:srgbClr val="FFFFFF"/>
                </a:solidFill>
                <a:latin typeface="Arial" pitchFamily="34" charset="0"/>
                <a:ea typeface="Arial" pitchFamily="34" charset="-122"/>
                <a:cs typeface="Arial" pitchFamily="34" charset="-120"/>
              </a:rPr>
              <a:t>Not the model.</a:t>
            </a:r>
            <a:endParaRPr lang="en-US" sz="4000" dirty="0"/>
          </a:p>
        </p:txBody>
      </p:sp>
      <p:sp>
        <p:nvSpPr>
          <p:cNvPr id="4" name="Shape 2"/>
          <p:cNvSpPr/>
          <p:nvPr/>
        </p:nvSpPr>
        <p:spPr>
          <a:xfrm>
            <a:off x="768096" y="1938528"/>
            <a:ext cx="2084832" cy="4361688"/>
          </a:xfrm>
          <a:prstGeom prst="roundRect">
            <a:avLst>
              <a:gd name="adj" fmla="val 4386"/>
            </a:avLst>
          </a:prstGeom>
          <a:solidFill>
            <a:srgbClr val="050505"/>
          </a:solidFill>
          <a:ln w="12700">
            <a:solidFill>
              <a:srgbClr val="FFFFFF"/>
            </a:solidFill>
            <a:prstDash val="solid"/>
          </a:ln>
          <a:effectLst>
            <a:outerShdw sx="100000" sy="100000" kx="0" ky="0" algn="bl" rotWithShape="0" blurRad="127000" dist="38100" dir="2700000">
              <a:srgbClr val="000000">
                <a:alpha val="16000"/>
              </a:srgbClr>
            </a:outerShdw>
          </a:effectLst>
        </p:spPr>
      </p:sp>
      <p:pic>
        <p:nvPicPr>
          <p:cNvPr id="5" name="Image 0" descr="SeeNA screening result screen">    </p:cNvPr>
          <p:cNvPicPr>
            <a:picLocks noChangeAspect="1"/>
          </p:cNvPicPr>
          <p:nvPr/>
        </p:nvPicPr>
        <p:blipFill>
          <a:blip r:embed="rId1"/>
          <a:srcRect l="0" r="0" t="0" b="0"/>
          <a:stretch/>
        </p:blipFill>
        <p:spPr>
          <a:xfrm>
            <a:off x="841248" y="2011680"/>
            <a:ext cx="1938528" cy="4215384"/>
          </a:xfrm>
          <a:prstGeom prst="rect">
            <a:avLst/>
          </a:prstGeom>
        </p:spPr>
      </p:pic>
      <p:sp>
        <p:nvSpPr>
          <p:cNvPr id="6" name="Shape 3"/>
          <p:cNvSpPr/>
          <p:nvPr/>
        </p:nvSpPr>
        <p:spPr>
          <a:xfrm>
            <a:off x="3456432" y="2011680"/>
            <a:ext cx="7772400" cy="1069848"/>
          </a:xfrm>
          <a:prstGeom prst="roundRect">
            <a:avLst>
              <a:gd name="adj" fmla="val 5128"/>
            </a:avLst>
          </a:prstGeom>
          <a:solidFill>
            <a:srgbClr val="111111"/>
          </a:solidFill>
          <a:ln w="12700">
            <a:solidFill>
              <a:srgbClr val="303030"/>
            </a:solidFill>
            <a:prstDash val="solid"/>
          </a:ln>
        </p:spPr>
      </p:sp>
      <p:sp>
        <p:nvSpPr>
          <p:cNvPr id="7" name="Text 4"/>
          <p:cNvSpPr/>
          <p:nvPr/>
        </p:nvSpPr>
        <p:spPr>
          <a:xfrm>
            <a:off x="3730752" y="2194560"/>
            <a:ext cx="411480" cy="201168"/>
          </a:xfrm>
          <a:prstGeom prst="rect">
            <a:avLst/>
          </a:prstGeom>
          <a:noFill/>
          <a:ln/>
        </p:spPr>
        <p:txBody>
          <a:bodyPr wrap="square" lIns="0" tIns="0" rIns="0" bIns="0" rtlCol="0" anchor="ctr">
            <a:normAutofit/>
          </a:bodyPr>
          <a:lstStyle/>
          <a:p>
            <a:pPr indent="0" marL="0">
              <a:buNone/>
            </a:pPr>
            <a:r>
              <a:rPr lang="en-US" sz="1050" b="1" dirty="0">
                <a:solidFill>
                  <a:srgbClr val="D6A66D"/>
                </a:solidFill>
                <a:latin typeface="Arial" pitchFamily="34" charset="0"/>
                <a:ea typeface="Arial" pitchFamily="34" charset="-122"/>
                <a:cs typeface="Arial" pitchFamily="34" charset="-120"/>
              </a:rPr>
              <a:t>01</a:t>
            </a:r>
            <a:endParaRPr lang="en-US" sz="1050" dirty="0"/>
          </a:p>
        </p:txBody>
      </p:sp>
      <p:sp>
        <p:nvSpPr>
          <p:cNvPr id="8" name="Text 5"/>
          <p:cNvSpPr/>
          <p:nvPr/>
        </p:nvSpPr>
        <p:spPr>
          <a:xfrm>
            <a:off x="4343400" y="2148840"/>
            <a:ext cx="2971800" cy="310896"/>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Scored on the iPhone</a:t>
            </a:r>
            <a:endParaRPr lang="en-US" sz="2100" dirty="0"/>
          </a:p>
        </p:txBody>
      </p:sp>
      <p:sp>
        <p:nvSpPr>
          <p:cNvPr id="9" name="Text 6"/>
          <p:cNvSpPr/>
          <p:nvPr/>
        </p:nvSpPr>
        <p:spPr>
          <a:xfrm>
            <a:off x="7360920" y="2167128"/>
            <a:ext cx="3429000" cy="493776"/>
          </a:xfrm>
          <a:prstGeom prst="rect">
            <a:avLst/>
          </a:prstGeom>
          <a:noFill/>
          <a:ln/>
        </p:spPr>
        <p:txBody>
          <a:bodyPr wrap="square" lIns="0" tIns="0" rIns="0" bIns="0" rtlCol="0" anchor="ctr">
            <a:normAutofit/>
          </a:bodyPr>
          <a:lstStyle/>
          <a:p>
            <a:pPr indent="0" marL="0">
              <a:buNone/>
            </a:pPr>
            <a:r>
              <a:rPr lang="en-US" sz="1250" dirty="0">
                <a:solidFill>
                  <a:srgbClr val="BDBDBD"/>
                </a:solidFill>
                <a:latin typeface="Arial" pitchFamily="34" charset="0"/>
                <a:ea typeface="Arial" pitchFamily="34" charset="-122"/>
                <a:cs typeface="Arial" pitchFamily="34" charset="-120"/>
              </a:rPr>
              <a:t>Landolt C and Gabor responses determine the estimate.</a:t>
            </a:r>
            <a:endParaRPr lang="en-US" sz="1250" dirty="0"/>
          </a:p>
        </p:txBody>
      </p:sp>
      <p:sp>
        <p:nvSpPr>
          <p:cNvPr id="10" name="Shape 7"/>
          <p:cNvSpPr/>
          <p:nvPr/>
        </p:nvSpPr>
        <p:spPr>
          <a:xfrm>
            <a:off x="3456432" y="3419856"/>
            <a:ext cx="7772400" cy="1069848"/>
          </a:xfrm>
          <a:prstGeom prst="roundRect">
            <a:avLst>
              <a:gd name="adj" fmla="val 5128"/>
            </a:avLst>
          </a:prstGeom>
          <a:solidFill>
            <a:srgbClr val="D6A66D"/>
          </a:solidFill>
          <a:ln w="12700">
            <a:solidFill>
              <a:srgbClr val="D6A66D"/>
            </a:solidFill>
            <a:prstDash val="solid"/>
          </a:ln>
        </p:spPr>
      </p:sp>
      <p:sp>
        <p:nvSpPr>
          <p:cNvPr id="11" name="Text 8"/>
          <p:cNvSpPr/>
          <p:nvPr/>
        </p:nvSpPr>
        <p:spPr>
          <a:xfrm>
            <a:off x="3730752" y="3602736"/>
            <a:ext cx="411480" cy="201168"/>
          </a:xfrm>
          <a:prstGeom prst="rect">
            <a:avLst/>
          </a:prstGeom>
          <a:noFill/>
          <a:ln/>
        </p:spPr>
        <p:txBody>
          <a:bodyPr wrap="square" lIns="0" tIns="0" rIns="0" bIns="0" rtlCol="0" anchor="ctr">
            <a:normAutofit/>
          </a:bodyPr>
          <a:lstStyle/>
          <a:p>
            <a:pPr indent="0" marL="0">
              <a:buNone/>
            </a:pPr>
            <a:r>
              <a:rPr lang="en-US" sz="1050" b="1" dirty="0">
                <a:solidFill>
                  <a:srgbClr val="050505"/>
                </a:solidFill>
                <a:latin typeface="Arial" pitchFamily="34" charset="0"/>
                <a:ea typeface="Arial" pitchFamily="34" charset="-122"/>
                <a:cs typeface="Arial" pitchFamily="34" charset="-120"/>
              </a:rPr>
              <a:t>02</a:t>
            </a:r>
            <a:endParaRPr lang="en-US" sz="1050" dirty="0"/>
          </a:p>
        </p:txBody>
      </p:sp>
      <p:sp>
        <p:nvSpPr>
          <p:cNvPr id="12" name="Text 9"/>
          <p:cNvSpPr/>
          <p:nvPr/>
        </p:nvSpPr>
        <p:spPr>
          <a:xfrm>
            <a:off x="4343400" y="3557016"/>
            <a:ext cx="2971800" cy="310896"/>
          </a:xfrm>
          <a:prstGeom prst="rect">
            <a:avLst/>
          </a:prstGeom>
          <a:noFill/>
          <a:ln/>
        </p:spPr>
        <p:txBody>
          <a:bodyPr wrap="square" lIns="0" tIns="0" rIns="0" bIns="0" rtlCol="0" anchor="ctr">
            <a:normAutofit/>
          </a:bodyPr>
          <a:lstStyle/>
          <a:p>
            <a:pPr indent="0" marL="0">
              <a:buNone/>
            </a:pPr>
            <a:r>
              <a:rPr lang="en-US" sz="2100" b="1" dirty="0">
                <a:solidFill>
                  <a:srgbClr val="050505"/>
                </a:solidFill>
                <a:latin typeface="Arial" pitchFamily="34" charset="0"/>
                <a:ea typeface="Arial" pitchFamily="34" charset="-122"/>
                <a:cs typeface="Arial" pitchFamily="34" charset="-120"/>
              </a:rPr>
              <a:t>AI explains only</a:t>
            </a:r>
            <a:endParaRPr lang="en-US" sz="2100" dirty="0"/>
          </a:p>
        </p:txBody>
      </p:sp>
      <p:sp>
        <p:nvSpPr>
          <p:cNvPr id="13" name="Text 10"/>
          <p:cNvSpPr/>
          <p:nvPr/>
        </p:nvSpPr>
        <p:spPr>
          <a:xfrm>
            <a:off x="7360920" y="3575304"/>
            <a:ext cx="3429000" cy="493776"/>
          </a:xfrm>
          <a:prstGeom prst="rect">
            <a:avLst/>
          </a:prstGeom>
          <a:noFill/>
          <a:ln/>
        </p:spPr>
        <p:txBody>
          <a:bodyPr wrap="square" lIns="0" tIns="0" rIns="0" bIns="0" rtlCol="0" anchor="ctr">
            <a:normAutofit/>
          </a:bodyPr>
          <a:lstStyle/>
          <a:p>
            <a:pPr indent="0" marL="0">
              <a:buNone/>
            </a:pPr>
            <a:r>
              <a:rPr lang="en-US" sz="1250" dirty="0">
                <a:solidFill>
                  <a:srgbClr val="050505"/>
                </a:solidFill>
                <a:latin typeface="Arial" pitchFamily="34" charset="0"/>
                <a:ea typeface="Arial" pitchFamily="34" charset="-122"/>
                <a:cs typeface="Arial" pitchFamily="34" charset="-120"/>
              </a:rPr>
              <a:t>Plain-language meaning, never a model-generated number.</a:t>
            </a:r>
            <a:endParaRPr lang="en-US" sz="1250" dirty="0"/>
          </a:p>
        </p:txBody>
      </p:sp>
      <p:sp>
        <p:nvSpPr>
          <p:cNvPr id="14" name="Shape 11"/>
          <p:cNvSpPr/>
          <p:nvPr/>
        </p:nvSpPr>
        <p:spPr>
          <a:xfrm>
            <a:off x="3456432" y="4828032"/>
            <a:ext cx="7772400" cy="1069848"/>
          </a:xfrm>
          <a:prstGeom prst="roundRect">
            <a:avLst>
              <a:gd name="adj" fmla="val 5128"/>
            </a:avLst>
          </a:prstGeom>
          <a:solidFill>
            <a:srgbClr val="111111"/>
          </a:solidFill>
          <a:ln w="12700">
            <a:solidFill>
              <a:srgbClr val="303030"/>
            </a:solidFill>
            <a:prstDash val="solid"/>
          </a:ln>
        </p:spPr>
      </p:sp>
      <p:sp>
        <p:nvSpPr>
          <p:cNvPr id="15" name="Text 12"/>
          <p:cNvSpPr/>
          <p:nvPr/>
        </p:nvSpPr>
        <p:spPr>
          <a:xfrm>
            <a:off x="3730752" y="5010912"/>
            <a:ext cx="411480" cy="201168"/>
          </a:xfrm>
          <a:prstGeom prst="rect">
            <a:avLst/>
          </a:prstGeom>
          <a:noFill/>
          <a:ln/>
        </p:spPr>
        <p:txBody>
          <a:bodyPr wrap="square" lIns="0" tIns="0" rIns="0" bIns="0" rtlCol="0" anchor="ctr">
            <a:normAutofit/>
          </a:bodyPr>
          <a:lstStyle/>
          <a:p>
            <a:pPr indent="0" marL="0">
              <a:buNone/>
            </a:pPr>
            <a:r>
              <a:rPr lang="en-US" sz="1050" b="1" dirty="0">
                <a:solidFill>
                  <a:srgbClr val="D6A66D"/>
                </a:solidFill>
                <a:latin typeface="Arial" pitchFamily="34" charset="0"/>
                <a:ea typeface="Arial" pitchFamily="34" charset="-122"/>
                <a:cs typeface="Arial" pitchFamily="34" charset="-120"/>
              </a:rPr>
              <a:t>03</a:t>
            </a:r>
            <a:endParaRPr lang="en-US" sz="1050" dirty="0"/>
          </a:p>
        </p:txBody>
      </p:sp>
      <p:sp>
        <p:nvSpPr>
          <p:cNvPr id="16" name="Text 13"/>
          <p:cNvSpPr/>
          <p:nvPr/>
        </p:nvSpPr>
        <p:spPr>
          <a:xfrm>
            <a:off x="4343400" y="4965192"/>
            <a:ext cx="2971800" cy="310896"/>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Private by design</a:t>
            </a:r>
            <a:endParaRPr lang="en-US" sz="2100" dirty="0"/>
          </a:p>
        </p:txBody>
      </p:sp>
      <p:sp>
        <p:nvSpPr>
          <p:cNvPr id="17" name="Text 14"/>
          <p:cNvSpPr/>
          <p:nvPr/>
        </p:nvSpPr>
        <p:spPr>
          <a:xfrm>
            <a:off x="7360920" y="4983480"/>
            <a:ext cx="3429000" cy="493776"/>
          </a:xfrm>
          <a:prstGeom prst="rect">
            <a:avLst/>
          </a:prstGeom>
          <a:noFill/>
          <a:ln/>
        </p:spPr>
        <p:txBody>
          <a:bodyPr wrap="square" lIns="0" tIns="0" rIns="0" bIns="0" rtlCol="0" anchor="ctr">
            <a:normAutofit/>
          </a:bodyPr>
          <a:lstStyle/>
          <a:p>
            <a:pPr indent="0" marL="0">
              <a:buNone/>
            </a:pPr>
            <a:r>
              <a:rPr lang="en-US" sz="1250" dirty="0">
                <a:solidFill>
                  <a:srgbClr val="BDBDBD"/>
                </a:solidFill>
                <a:latin typeface="Arial" pitchFamily="34" charset="0"/>
                <a:ea typeface="Arial" pitchFamily="34" charset="-122"/>
                <a:cs typeface="Arial" pitchFamily="34" charset="-120"/>
              </a:rPr>
              <a:t>No raw camera frames or face mesh sent to OpenAI.</a:t>
            </a:r>
            <a:endParaRPr lang="en-US" sz="1250" dirty="0"/>
          </a:p>
        </p:txBody>
      </p:sp>
      <p:sp>
        <p:nvSpPr>
          <p:cNvPr id="18" name="Text 15"/>
          <p:cNvSpPr/>
          <p:nvPr/>
        </p:nvSpPr>
        <p:spPr>
          <a:xfrm>
            <a:off x="11082528" y="6364224"/>
            <a:ext cx="438912" cy="182880"/>
          </a:xfrm>
          <a:prstGeom prst="rect">
            <a:avLst/>
          </a:prstGeom>
          <a:noFill/>
          <a:ln/>
        </p:spPr>
        <p:txBody>
          <a:bodyPr wrap="square" lIns="0" tIns="0" rIns="0" bIns="0" rtlCol="0" anchor="ctr">
            <a:normAutofit/>
          </a:bodyPr>
          <a:lstStyle/>
          <a:p>
            <a:pPr algn="r" indent="0" marL="0">
              <a:buNone/>
            </a:pPr>
            <a:r>
              <a:rPr lang="en-US" sz="1000" b="1" dirty="0">
                <a:solidFill>
                  <a:srgbClr val="BDBDBD"/>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505"/>
        </a:solidFill>
      </p:bgPr>
    </p:bg>
    <p:spTree>
      <p:nvGrpSpPr>
        <p:cNvPr id="1" name=""/>
        <p:cNvGrpSpPr/>
        <p:nvPr/>
      </p:nvGrpSpPr>
      <p:grpSpPr>
        <a:xfrm>
          <a:off x="0" y="0"/>
          <a:ext cx="0" cy="0"/>
          <a:chOff x="0" y="0"/>
          <a:chExt cx="0" cy="0"/>
        </a:xfrm>
      </p:grpSpPr>
      <p:sp>
        <p:nvSpPr>
          <p:cNvPr id="2" name="Text 0"/>
          <p:cNvSpPr/>
          <p:nvPr/>
        </p:nvSpPr>
        <p:spPr>
          <a:xfrm>
            <a:off x="658368" y="347472"/>
            <a:ext cx="3840480" cy="256032"/>
          </a:xfrm>
          <a:prstGeom prst="rect">
            <a:avLst/>
          </a:prstGeom>
          <a:noFill/>
          <a:ln/>
        </p:spPr>
        <p:txBody>
          <a:bodyPr wrap="square" lIns="0" tIns="0" rIns="0" bIns="0" rtlCol="0" anchor="ctr">
            <a:normAutofit/>
          </a:bodyPr>
          <a:lstStyle/>
          <a:p>
            <a:pPr indent="0" marL="0">
              <a:buNone/>
            </a:pPr>
            <a:r>
              <a:rPr lang="en-US" sz="1050" b="1" spc="260" kern="0" dirty="0">
                <a:solidFill>
                  <a:srgbClr val="BDBDBD"/>
                </a:solidFill>
                <a:latin typeface="Arial" pitchFamily="34" charset="0"/>
                <a:ea typeface="Arial" pitchFamily="34" charset="-122"/>
                <a:cs typeface="Arial" pitchFamily="34" charset="-120"/>
              </a:rPr>
              <a:t>WHY IT MATTERS</a:t>
            </a:r>
            <a:endParaRPr lang="en-US" sz="1050" dirty="0"/>
          </a:p>
        </p:txBody>
      </p:sp>
      <p:sp>
        <p:nvSpPr>
          <p:cNvPr id="3" name="Text 1"/>
          <p:cNvSpPr/>
          <p:nvPr/>
        </p:nvSpPr>
        <p:spPr>
          <a:xfrm>
            <a:off x="658368" y="1005840"/>
            <a:ext cx="5669280" cy="1078992"/>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rial" pitchFamily="34" charset="0"/>
                <a:ea typeface="Arial" pitchFamily="34" charset="-122"/>
                <a:cs typeface="Arial" pitchFamily="34" charset="-120"/>
              </a:rPr>
              <a:t>Access starts with the phone already there.</a:t>
            </a:r>
            <a:endParaRPr lang="en-US" sz="4000" dirty="0"/>
          </a:p>
        </p:txBody>
      </p:sp>
      <p:sp>
        <p:nvSpPr>
          <p:cNvPr id="4" name="Text 2"/>
          <p:cNvSpPr/>
          <p:nvPr/>
        </p:nvSpPr>
        <p:spPr>
          <a:xfrm>
            <a:off x="685800" y="2331720"/>
            <a:ext cx="4526280" cy="512064"/>
          </a:xfrm>
          <a:prstGeom prst="rect">
            <a:avLst/>
          </a:prstGeom>
          <a:noFill/>
          <a:ln/>
        </p:spPr>
        <p:txBody>
          <a:bodyPr wrap="square" lIns="0" tIns="0" rIns="0" bIns="0" rtlCol="0" anchor="ctr">
            <a:normAutofit/>
          </a:bodyPr>
          <a:lstStyle/>
          <a:p>
            <a:pPr indent="0" marL="0">
              <a:buNone/>
            </a:pPr>
            <a:r>
              <a:rPr lang="en-US" sz="1800" dirty="0">
                <a:solidFill>
                  <a:srgbClr val="BDBDBD"/>
                </a:solidFill>
                <a:latin typeface="Arial" pitchFamily="34" charset="0"/>
                <a:ea typeface="Arial" pitchFamily="34" charset="-122"/>
                <a:cs typeface="Arial" pitchFamily="34" charset="-120"/>
              </a:rPr>
              <a:t>SeeNA turns one tap into an independent first step.</a:t>
            </a:r>
            <a:endParaRPr lang="en-US" sz="1800" dirty="0"/>
          </a:p>
        </p:txBody>
      </p:sp>
      <p:sp>
        <p:nvSpPr>
          <p:cNvPr id="5" name="Shape 3"/>
          <p:cNvSpPr/>
          <p:nvPr/>
        </p:nvSpPr>
        <p:spPr>
          <a:xfrm>
            <a:off x="676656" y="3246120"/>
            <a:ext cx="1261872" cy="384048"/>
          </a:xfrm>
          <a:prstGeom prst="roundRect">
            <a:avLst>
              <a:gd name="adj" fmla="val 19048"/>
            </a:avLst>
          </a:prstGeom>
          <a:solidFill>
            <a:srgbClr val="FFFFFF"/>
          </a:solidFill>
          <a:ln w="10160">
            <a:solidFill>
              <a:srgbClr val="FFFFFF"/>
            </a:solidFill>
            <a:prstDash val="solid"/>
          </a:ln>
        </p:spPr>
      </p:sp>
      <p:sp>
        <p:nvSpPr>
          <p:cNvPr id="6" name="Text 4"/>
          <p:cNvSpPr/>
          <p:nvPr/>
        </p:nvSpPr>
        <p:spPr>
          <a:xfrm>
            <a:off x="676656" y="3264408"/>
            <a:ext cx="1261872" cy="301752"/>
          </a:xfrm>
          <a:prstGeom prst="rect">
            <a:avLst/>
          </a:prstGeom>
          <a:noFill/>
          <a:ln/>
        </p:spPr>
        <p:txBody>
          <a:bodyPr wrap="square" lIns="0" tIns="0" rIns="0" bIns="0" rtlCol="0" anchor="ctr">
            <a:normAutofit/>
          </a:bodyPr>
          <a:lstStyle/>
          <a:p>
            <a:pPr algn="ctr" indent="0" marL="0">
              <a:buNone/>
            </a:pPr>
            <a:r>
              <a:rPr lang="en-US" sz="1250" b="1" spc="20" kern="0" dirty="0">
                <a:solidFill>
                  <a:srgbClr val="050505"/>
                </a:solidFill>
                <a:latin typeface="Arial" pitchFamily="34" charset="0"/>
                <a:ea typeface="Arial" pitchFamily="34" charset="-122"/>
                <a:cs typeface="Arial" pitchFamily="34" charset="-120"/>
              </a:rPr>
              <a:t>AT HOME</a:t>
            </a:r>
            <a:endParaRPr lang="en-US" sz="1250" dirty="0"/>
          </a:p>
        </p:txBody>
      </p:sp>
      <p:sp>
        <p:nvSpPr>
          <p:cNvPr id="7" name="Shape 5"/>
          <p:cNvSpPr/>
          <p:nvPr/>
        </p:nvSpPr>
        <p:spPr>
          <a:xfrm>
            <a:off x="2121408" y="3246120"/>
            <a:ext cx="1572768" cy="384048"/>
          </a:xfrm>
          <a:prstGeom prst="roundRect">
            <a:avLst>
              <a:gd name="adj" fmla="val 19048"/>
            </a:avLst>
          </a:prstGeom>
          <a:solidFill>
            <a:srgbClr val="FFFFFF"/>
          </a:solidFill>
          <a:ln w="10160">
            <a:solidFill>
              <a:srgbClr val="FFFFFF"/>
            </a:solidFill>
            <a:prstDash val="solid"/>
          </a:ln>
        </p:spPr>
      </p:sp>
      <p:sp>
        <p:nvSpPr>
          <p:cNvPr id="8" name="Text 6"/>
          <p:cNvSpPr/>
          <p:nvPr/>
        </p:nvSpPr>
        <p:spPr>
          <a:xfrm>
            <a:off x="2121408" y="3264408"/>
            <a:ext cx="1572768" cy="301752"/>
          </a:xfrm>
          <a:prstGeom prst="rect">
            <a:avLst/>
          </a:prstGeom>
          <a:noFill/>
          <a:ln/>
        </p:spPr>
        <p:txBody>
          <a:bodyPr wrap="square" lIns="0" tIns="0" rIns="0" bIns="0" rtlCol="0" anchor="ctr">
            <a:normAutofit/>
          </a:bodyPr>
          <a:lstStyle/>
          <a:p>
            <a:pPr algn="ctr" indent="0" marL="0">
              <a:buNone/>
            </a:pPr>
            <a:r>
              <a:rPr lang="en-US" sz="1250" b="1" spc="20" kern="0" dirty="0">
                <a:solidFill>
                  <a:srgbClr val="050505"/>
                </a:solidFill>
                <a:latin typeface="Arial" pitchFamily="34" charset="0"/>
                <a:ea typeface="Arial" pitchFamily="34" charset="-122"/>
                <a:cs typeface="Arial" pitchFamily="34" charset="-120"/>
              </a:rPr>
              <a:t>VOICE GUIDED</a:t>
            </a:r>
            <a:endParaRPr lang="en-US" sz="1250" dirty="0"/>
          </a:p>
        </p:txBody>
      </p:sp>
      <p:sp>
        <p:nvSpPr>
          <p:cNvPr id="9" name="Shape 7"/>
          <p:cNvSpPr/>
          <p:nvPr/>
        </p:nvSpPr>
        <p:spPr>
          <a:xfrm>
            <a:off x="3877056" y="3246120"/>
            <a:ext cx="1463040" cy="384048"/>
          </a:xfrm>
          <a:prstGeom prst="roundRect">
            <a:avLst>
              <a:gd name="adj" fmla="val 19048"/>
            </a:avLst>
          </a:prstGeom>
          <a:solidFill>
            <a:srgbClr val="D6A66D"/>
          </a:solidFill>
          <a:ln w="10160">
            <a:solidFill>
              <a:srgbClr val="D6A66D"/>
            </a:solidFill>
            <a:prstDash val="solid"/>
          </a:ln>
        </p:spPr>
      </p:sp>
      <p:sp>
        <p:nvSpPr>
          <p:cNvPr id="10" name="Text 8"/>
          <p:cNvSpPr/>
          <p:nvPr/>
        </p:nvSpPr>
        <p:spPr>
          <a:xfrm>
            <a:off x="3877056" y="3264408"/>
            <a:ext cx="1463040" cy="301752"/>
          </a:xfrm>
          <a:prstGeom prst="rect">
            <a:avLst/>
          </a:prstGeom>
          <a:noFill/>
          <a:ln/>
        </p:spPr>
        <p:txBody>
          <a:bodyPr wrap="square" lIns="0" tIns="0" rIns="0" bIns="0" rtlCol="0" anchor="ctr">
            <a:normAutofit/>
          </a:bodyPr>
          <a:lstStyle/>
          <a:p>
            <a:pPr algn="ctr" indent="0" marL="0">
              <a:buNone/>
            </a:pPr>
            <a:r>
              <a:rPr lang="en-US" sz="1250" b="1" spc="20" kern="0" dirty="0">
                <a:solidFill>
                  <a:srgbClr val="050505"/>
                </a:solidFill>
                <a:latin typeface="Arial" pitchFamily="34" charset="0"/>
                <a:ea typeface="Arial" pitchFamily="34" charset="-122"/>
                <a:cs typeface="Arial" pitchFamily="34" charset="-120"/>
              </a:rPr>
              <a:t>REVIEWABLE</a:t>
            </a:r>
            <a:endParaRPr lang="en-US" sz="1250" dirty="0"/>
          </a:p>
        </p:txBody>
      </p:sp>
      <p:sp>
        <p:nvSpPr>
          <p:cNvPr id="11" name="Shape 9"/>
          <p:cNvSpPr/>
          <p:nvPr/>
        </p:nvSpPr>
        <p:spPr>
          <a:xfrm>
            <a:off x="5623560" y="3401568"/>
            <a:ext cx="713232" cy="0"/>
          </a:xfrm>
          <a:prstGeom prst="line">
            <a:avLst/>
          </a:prstGeom>
          <a:noFill/>
          <a:ln w="29210">
            <a:solidFill>
              <a:srgbClr val="D6A66D"/>
            </a:solidFill>
            <a:prstDash val="solid"/>
            <a:tailEnd type="triangle"/>
          </a:ln>
        </p:spPr>
      </p:sp>
      <p:sp>
        <p:nvSpPr>
          <p:cNvPr id="12" name="Text 10"/>
          <p:cNvSpPr/>
          <p:nvPr/>
        </p:nvSpPr>
        <p:spPr>
          <a:xfrm>
            <a:off x="6080760" y="822960"/>
            <a:ext cx="1005840" cy="201168"/>
          </a:xfrm>
          <a:prstGeom prst="rect">
            <a:avLst/>
          </a:prstGeom>
          <a:noFill/>
          <a:ln/>
        </p:spPr>
        <p:txBody>
          <a:bodyPr wrap="square" lIns="0" tIns="0" rIns="0" bIns="0" rtlCol="0" anchor="ctr">
            <a:normAutofit/>
          </a:bodyPr>
          <a:lstStyle/>
          <a:p>
            <a:pPr algn="ctr" indent="0" marL="0">
              <a:buNone/>
            </a:pPr>
            <a:r>
              <a:rPr lang="en-US" sz="1050" b="1" spc="170" kern="0" dirty="0">
                <a:solidFill>
                  <a:srgbClr val="D6A66D"/>
                </a:solidFill>
                <a:latin typeface="Arial" pitchFamily="34" charset="0"/>
                <a:ea typeface="Arial" pitchFamily="34" charset="-122"/>
                <a:cs typeface="Arial" pitchFamily="34" charset="-120"/>
              </a:rPr>
              <a:t>START</a:t>
            </a:r>
            <a:endParaRPr lang="en-US" sz="1050" dirty="0"/>
          </a:p>
        </p:txBody>
      </p:sp>
      <p:sp>
        <p:nvSpPr>
          <p:cNvPr id="13" name="Shape 11"/>
          <p:cNvSpPr/>
          <p:nvPr/>
        </p:nvSpPr>
        <p:spPr>
          <a:xfrm>
            <a:off x="5961888" y="1115568"/>
            <a:ext cx="2194560" cy="4608576"/>
          </a:xfrm>
          <a:prstGeom prst="roundRect">
            <a:avLst>
              <a:gd name="adj" fmla="val 4167"/>
            </a:avLst>
          </a:prstGeom>
          <a:solidFill>
            <a:srgbClr val="050505"/>
          </a:solidFill>
          <a:ln w="12700">
            <a:solidFill>
              <a:srgbClr val="FFFFFF"/>
            </a:solidFill>
            <a:prstDash val="solid"/>
          </a:ln>
          <a:effectLst>
            <a:outerShdw sx="100000" sy="100000" kx="0" ky="0" algn="bl" rotWithShape="0" blurRad="127000" dist="38100" dir="2700000">
              <a:srgbClr val="000000">
                <a:alpha val="16000"/>
              </a:srgbClr>
            </a:outerShdw>
          </a:effectLst>
        </p:spPr>
      </p:sp>
      <p:pic>
        <p:nvPicPr>
          <p:cNvPr id="14" name="Image 0" descr="SeeNA start screen">    </p:cNvPr>
          <p:cNvPicPr>
            <a:picLocks noChangeAspect="1"/>
          </p:cNvPicPr>
          <p:nvPr/>
        </p:nvPicPr>
        <p:blipFill>
          <a:blip r:embed="rId1"/>
          <a:srcRect l="0" r="0" t="0" b="0"/>
          <a:stretch/>
        </p:blipFill>
        <p:spPr>
          <a:xfrm>
            <a:off x="6035040" y="1188720"/>
            <a:ext cx="2048256" cy="4462272"/>
          </a:xfrm>
          <a:prstGeom prst="rect">
            <a:avLst/>
          </a:prstGeom>
        </p:spPr>
      </p:pic>
      <p:sp>
        <p:nvSpPr>
          <p:cNvPr id="15" name="Text 12"/>
          <p:cNvSpPr/>
          <p:nvPr/>
        </p:nvSpPr>
        <p:spPr>
          <a:xfrm>
            <a:off x="8750808" y="822960"/>
            <a:ext cx="1005840" cy="201168"/>
          </a:xfrm>
          <a:prstGeom prst="rect">
            <a:avLst/>
          </a:prstGeom>
          <a:noFill/>
          <a:ln/>
        </p:spPr>
        <p:txBody>
          <a:bodyPr wrap="square" lIns="0" tIns="0" rIns="0" bIns="0" rtlCol="0" anchor="ctr">
            <a:normAutofit/>
          </a:bodyPr>
          <a:lstStyle/>
          <a:p>
            <a:pPr algn="ctr" indent="0" marL="0">
              <a:buNone/>
            </a:pPr>
            <a:r>
              <a:rPr lang="en-US" sz="1050" b="1" spc="170" kern="0" dirty="0">
                <a:solidFill>
                  <a:srgbClr val="D6A66D"/>
                </a:solidFill>
                <a:latin typeface="Arial" pitchFamily="34" charset="0"/>
                <a:ea typeface="Arial" pitchFamily="34" charset="-122"/>
                <a:cs typeface="Arial" pitchFamily="34" charset="-120"/>
              </a:rPr>
              <a:t>RESULT</a:t>
            </a:r>
            <a:endParaRPr lang="en-US" sz="1050" dirty="0"/>
          </a:p>
        </p:txBody>
      </p:sp>
      <p:sp>
        <p:nvSpPr>
          <p:cNvPr id="16" name="Shape 13"/>
          <p:cNvSpPr/>
          <p:nvPr/>
        </p:nvSpPr>
        <p:spPr>
          <a:xfrm>
            <a:off x="8577072" y="1115568"/>
            <a:ext cx="2194560" cy="4608576"/>
          </a:xfrm>
          <a:prstGeom prst="roundRect">
            <a:avLst>
              <a:gd name="adj" fmla="val 4167"/>
            </a:avLst>
          </a:prstGeom>
          <a:solidFill>
            <a:srgbClr val="050505"/>
          </a:solidFill>
          <a:ln w="12700">
            <a:solidFill>
              <a:srgbClr val="FFFFFF"/>
            </a:solidFill>
            <a:prstDash val="solid"/>
          </a:ln>
          <a:effectLst>
            <a:outerShdw sx="100000" sy="100000" kx="0" ky="0" algn="bl" rotWithShape="0" blurRad="127000" dist="38100" dir="2700000">
              <a:srgbClr val="000000">
                <a:alpha val="16000"/>
              </a:srgbClr>
            </a:outerShdw>
          </a:effectLst>
        </p:spPr>
      </p:sp>
      <p:pic>
        <p:nvPicPr>
          <p:cNvPr id="17" name="Image 1" descr="SeeNA screening result screen">    </p:cNvPr>
          <p:cNvPicPr>
            <a:picLocks noChangeAspect="1"/>
          </p:cNvPicPr>
          <p:nvPr/>
        </p:nvPicPr>
        <p:blipFill>
          <a:blip r:embed="rId2"/>
          <a:srcRect l="0" r="0" t="0" b="0"/>
          <a:stretch/>
        </p:blipFill>
        <p:spPr>
          <a:xfrm>
            <a:off x="8650224" y="1188720"/>
            <a:ext cx="2048256" cy="4462272"/>
          </a:xfrm>
          <a:prstGeom prst="rect">
            <a:avLst/>
          </a:prstGeom>
        </p:spPr>
      </p:pic>
      <p:sp>
        <p:nvSpPr>
          <p:cNvPr id="18" name="Shape 14"/>
          <p:cNvSpPr/>
          <p:nvPr/>
        </p:nvSpPr>
        <p:spPr>
          <a:xfrm>
            <a:off x="8156448" y="3401568"/>
            <a:ext cx="347472" cy="0"/>
          </a:xfrm>
          <a:prstGeom prst="line">
            <a:avLst/>
          </a:prstGeom>
          <a:noFill/>
          <a:ln w="29210">
            <a:solidFill>
              <a:srgbClr val="D6A66D"/>
            </a:solidFill>
            <a:prstDash val="solid"/>
            <a:tailEnd type="triangle"/>
          </a:ln>
        </p:spPr>
      </p:sp>
      <p:sp>
        <p:nvSpPr>
          <p:cNvPr id="19" name="Text 15"/>
          <p:cNvSpPr/>
          <p:nvPr/>
        </p:nvSpPr>
        <p:spPr>
          <a:xfrm>
            <a:off x="6784848" y="5961888"/>
            <a:ext cx="3108960" cy="25603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One guided screening</a:t>
            </a:r>
            <a:endParaRPr lang="en-US" sz="1400" dirty="0"/>
          </a:p>
        </p:txBody>
      </p:sp>
      <p:sp>
        <p:nvSpPr>
          <p:cNvPr id="20" name="Text 16"/>
          <p:cNvSpPr/>
          <p:nvPr/>
        </p:nvSpPr>
        <p:spPr>
          <a:xfrm>
            <a:off x="11082528" y="6364224"/>
            <a:ext cx="438912" cy="182880"/>
          </a:xfrm>
          <a:prstGeom prst="rect">
            <a:avLst/>
          </a:prstGeom>
          <a:noFill/>
          <a:ln/>
        </p:spPr>
        <p:txBody>
          <a:bodyPr wrap="square" lIns="0" tIns="0" rIns="0" bIns="0" rtlCol="0" anchor="ctr">
            <a:normAutofit/>
          </a:bodyPr>
          <a:lstStyle/>
          <a:p>
            <a:pPr algn="r" indent="0" marL="0">
              <a:buNone/>
            </a:pPr>
            <a:r>
              <a:rPr lang="en-US" sz="1000" b="1" dirty="0">
                <a:solidFill>
                  <a:srgbClr val="BDBDBD"/>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SeeNA app icon">    </p:cNvPr>
          <p:cNvPicPr>
            <a:picLocks noChangeAspect="1"/>
          </p:cNvPicPr>
          <p:nvPr/>
        </p:nvPicPr>
        <p:blipFill>
          <a:blip r:embed="rId1"/>
          <a:srcRect l="0" r="0" t="0" b="0"/>
          <a:stretch/>
        </p:blipFill>
        <p:spPr>
          <a:xfrm>
            <a:off x="713232" y="566928"/>
            <a:ext cx="987552" cy="987552"/>
          </a:xfrm>
          <a:prstGeom prst="rect">
            <a:avLst/>
          </a:prstGeom>
        </p:spPr>
      </p:pic>
      <p:sp>
        <p:nvSpPr>
          <p:cNvPr id="3" name="Shape 0"/>
          <p:cNvSpPr/>
          <p:nvPr/>
        </p:nvSpPr>
        <p:spPr>
          <a:xfrm>
            <a:off x="9189720" y="640080"/>
            <a:ext cx="2286000" cy="384048"/>
          </a:xfrm>
          <a:prstGeom prst="roundRect">
            <a:avLst>
              <a:gd name="adj" fmla="val 19048"/>
            </a:avLst>
          </a:prstGeom>
          <a:solidFill>
            <a:srgbClr val="FFFFFF"/>
          </a:solidFill>
          <a:ln w="10160">
            <a:solidFill>
              <a:srgbClr val="FFFFFF"/>
            </a:solidFill>
            <a:prstDash val="solid"/>
          </a:ln>
        </p:spPr>
      </p:sp>
      <p:sp>
        <p:nvSpPr>
          <p:cNvPr id="4" name="Text 1"/>
          <p:cNvSpPr/>
          <p:nvPr/>
        </p:nvSpPr>
        <p:spPr>
          <a:xfrm>
            <a:off x="9189720" y="658368"/>
            <a:ext cx="2286000" cy="301752"/>
          </a:xfrm>
          <a:prstGeom prst="rect">
            <a:avLst/>
          </a:prstGeom>
          <a:noFill/>
          <a:ln/>
        </p:spPr>
        <p:txBody>
          <a:bodyPr wrap="square" lIns="0" tIns="0" rIns="0" bIns="0" rtlCol="0" anchor="ctr">
            <a:normAutofit/>
          </a:bodyPr>
          <a:lstStyle/>
          <a:p>
            <a:pPr algn="ctr" indent="0" marL="0">
              <a:buNone/>
            </a:pPr>
            <a:r>
              <a:rPr lang="en-US" sz="1250" b="1" spc="20" kern="0" dirty="0">
                <a:solidFill>
                  <a:srgbClr val="050505"/>
                </a:solidFill>
                <a:latin typeface="Arial" pitchFamily="34" charset="0"/>
                <a:ea typeface="Arial" pitchFamily="34" charset="-122"/>
                <a:cs typeface="Arial" pitchFamily="34" charset="-120"/>
              </a:rPr>
              <a:t>SYNCS HACKATHON 2026</a:t>
            </a:r>
            <a:endParaRPr lang="en-US" sz="1250" dirty="0"/>
          </a:p>
        </p:txBody>
      </p:sp>
      <p:sp>
        <p:nvSpPr>
          <p:cNvPr id="5" name="Text 2"/>
          <p:cNvSpPr/>
          <p:nvPr/>
        </p:nvSpPr>
        <p:spPr>
          <a:xfrm>
            <a:off x="713232" y="1828800"/>
            <a:ext cx="8138160" cy="1508760"/>
          </a:xfrm>
          <a:prstGeom prst="rect">
            <a:avLst/>
          </a:prstGeom>
          <a:noFill/>
          <a:ln/>
        </p:spPr>
        <p:txBody>
          <a:bodyPr wrap="square" lIns="0" tIns="0" rIns="0" bIns="0" rtlCol="0" anchor="ctr">
            <a:normAutofit/>
          </a:bodyPr>
          <a:lstStyle/>
          <a:p>
            <a:pPr indent="0" marL="0">
              <a:lnSpc>
                <a:spcPct val="90000"/>
              </a:lnSpc>
              <a:buNone/>
            </a:pPr>
            <a:r>
              <a:rPr lang="en-US" sz="4400" b="1" dirty="0">
                <a:solidFill>
                  <a:srgbClr val="FFFFFF"/>
                </a:solidFill>
                <a:latin typeface="Arial" pitchFamily="34" charset="0"/>
                <a:ea typeface="Arial" pitchFamily="34" charset="-122"/>
                <a:cs typeface="Arial" pitchFamily="34" charset="-120"/>
              </a:rPr>
              <a:t>A first step toward clarity.</a:t>
            </a:r>
            <a:endParaRPr lang="en-US" sz="4400" dirty="0"/>
          </a:p>
          <a:p>
            <a:pPr indent="0" marL="0">
              <a:lnSpc>
                <a:spcPct val="90000"/>
              </a:lnSpc>
              <a:buNone/>
            </a:pPr>
            <a:r>
              <a:rPr lang="en-US" sz="4400" b="1" dirty="0">
                <a:solidFill>
                  <a:srgbClr val="FFFFFF"/>
                </a:solidFill>
                <a:latin typeface="Arial" pitchFamily="34" charset="0"/>
                <a:ea typeface="Arial" pitchFamily="34" charset="-122"/>
                <a:cs typeface="Arial" pitchFamily="34" charset="-120"/>
              </a:rPr>
              <a:t>For anyone, anywhere.</a:t>
            </a:r>
            <a:endParaRPr lang="en-US" sz="4400" dirty="0"/>
          </a:p>
        </p:txBody>
      </p:sp>
      <p:sp>
        <p:nvSpPr>
          <p:cNvPr id="6" name="Text 3"/>
          <p:cNvSpPr/>
          <p:nvPr/>
        </p:nvSpPr>
        <p:spPr>
          <a:xfrm>
            <a:off x="731520" y="3749040"/>
            <a:ext cx="2011680" cy="530352"/>
          </a:xfrm>
          <a:prstGeom prst="rect">
            <a:avLst/>
          </a:prstGeom>
          <a:noFill/>
          <a:ln/>
        </p:spPr>
        <p:txBody>
          <a:bodyPr wrap="square" lIns="0" tIns="0" rIns="0" bIns="0" rtlCol="0" anchor="ctr">
            <a:normAutofit/>
          </a:bodyPr>
          <a:lstStyle/>
          <a:p>
            <a:pPr indent="0" marL="0">
              <a:buNone/>
            </a:pPr>
            <a:r>
              <a:rPr lang="en-US" sz="3300" b="1" dirty="0">
                <a:solidFill>
                  <a:srgbClr val="D6A66D"/>
                </a:solidFill>
                <a:latin typeface="Arial" pitchFamily="34" charset="0"/>
                <a:ea typeface="Arial" pitchFamily="34" charset="-122"/>
                <a:cs typeface="Arial" pitchFamily="34" charset="-120"/>
              </a:rPr>
              <a:t>SeeNA</a:t>
            </a:r>
            <a:endParaRPr lang="en-US" sz="3300" dirty="0"/>
          </a:p>
        </p:txBody>
      </p:sp>
      <p:sp>
        <p:nvSpPr>
          <p:cNvPr id="7" name="Text 4"/>
          <p:cNvSpPr/>
          <p:nvPr/>
        </p:nvSpPr>
        <p:spPr>
          <a:xfrm>
            <a:off x="749808" y="4315968"/>
            <a:ext cx="3017520" cy="292608"/>
          </a:xfrm>
          <a:prstGeom prst="rect">
            <a:avLst/>
          </a:prstGeom>
          <a:noFill/>
          <a:ln/>
        </p:spPr>
        <p:txBody>
          <a:bodyPr wrap="square" lIns="0" tIns="0" rIns="0" bIns="0" rtlCol="0" anchor="ctr">
            <a:normAutofit/>
          </a:bodyPr>
          <a:lstStyle/>
          <a:p>
            <a:pPr indent="0" marL="0">
              <a:buNone/>
            </a:pPr>
            <a:r>
              <a:rPr lang="en-US" sz="1600" dirty="0">
                <a:solidFill>
                  <a:srgbClr val="BDBDBD"/>
                </a:solidFill>
                <a:latin typeface="Arial" pitchFamily="34" charset="0"/>
                <a:ea typeface="Arial" pitchFamily="34" charset="-122"/>
                <a:cs typeface="Arial" pitchFamily="34" charset="-120"/>
              </a:rPr>
              <a:t>See Now and Always</a:t>
            </a:r>
            <a:endParaRPr lang="en-US" sz="1600" dirty="0"/>
          </a:p>
        </p:txBody>
      </p:sp>
      <p:sp>
        <p:nvSpPr>
          <p:cNvPr id="8" name="Shape 5"/>
          <p:cNvSpPr/>
          <p:nvPr/>
        </p:nvSpPr>
        <p:spPr>
          <a:xfrm>
            <a:off x="731520" y="5138928"/>
            <a:ext cx="10744200" cy="0"/>
          </a:xfrm>
          <a:prstGeom prst="line">
            <a:avLst/>
          </a:prstGeom>
          <a:noFill/>
          <a:ln w="12700">
            <a:solidFill>
              <a:srgbClr val="2B2B2B"/>
            </a:solidFill>
            <a:prstDash val="solid"/>
          </a:ln>
        </p:spPr>
      </p:sp>
      <p:sp>
        <p:nvSpPr>
          <p:cNvPr id="9" name="Text 6"/>
          <p:cNvSpPr/>
          <p:nvPr/>
        </p:nvSpPr>
        <p:spPr>
          <a:xfrm>
            <a:off x="731520" y="5532120"/>
            <a:ext cx="2286000" cy="27432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Karthik Ramesh</a:t>
            </a:r>
            <a:endParaRPr lang="en-US" sz="1400" dirty="0"/>
          </a:p>
        </p:txBody>
      </p:sp>
      <p:sp>
        <p:nvSpPr>
          <p:cNvPr id="10" name="Text 7"/>
          <p:cNvSpPr/>
          <p:nvPr/>
        </p:nvSpPr>
        <p:spPr>
          <a:xfrm>
            <a:off x="3401568" y="5532120"/>
            <a:ext cx="2468880" cy="27432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Kishore Srinivasan</a:t>
            </a:r>
            <a:endParaRPr lang="en-US" sz="1400" dirty="0"/>
          </a:p>
        </p:txBody>
      </p:sp>
      <p:sp>
        <p:nvSpPr>
          <p:cNvPr id="11" name="Text 8"/>
          <p:cNvSpPr/>
          <p:nvPr/>
        </p:nvSpPr>
        <p:spPr>
          <a:xfrm>
            <a:off x="6327648" y="5532120"/>
            <a:ext cx="2286000" cy="27432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Suryateja Challa</a:t>
            </a:r>
            <a:endParaRPr lang="en-US" sz="1400" dirty="0"/>
          </a:p>
        </p:txBody>
      </p:sp>
      <p:sp>
        <p:nvSpPr>
          <p:cNvPr id="12" name="Text 9"/>
          <p:cNvSpPr/>
          <p:nvPr/>
        </p:nvSpPr>
        <p:spPr>
          <a:xfrm>
            <a:off x="9107424" y="5532120"/>
            <a:ext cx="2011680" cy="27432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Sujan Ramesh</a:t>
            </a:r>
            <a:endParaRPr lang="en-US" sz="1400" dirty="0"/>
          </a:p>
        </p:txBody>
      </p:sp>
      <p:sp>
        <p:nvSpPr>
          <p:cNvPr id="13" name="Text 10"/>
          <p:cNvSpPr/>
          <p:nvPr/>
        </p:nvSpPr>
        <p:spPr>
          <a:xfrm>
            <a:off x="6967728" y="3913632"/>
            <a:ext cx="4480560" cy="585216"/>
          </a:xfrm>
          <a:prstGeom prst="rect">
            <a:avLst/>
          </a:prstGeom>
          <a:noFill/>
          <a:ln/>
        </p:spPr>
        <p:txBody>
          <a:bodyPr wrap="square" lIns="0" tIns="0" rIns="0" bIns="0" rtlCol="0" anchor="ctr">
            <a:normAutofit/>
          </a:bodyPr>
          <a:lstStyle/>
          <a:p>
            <a:pPr algn="r" indent="0" marL="0">
              <a:buNone/>
            </a:pPr>
            <a:r>
              <a:rPr lang="en-US" sz="2000" b="1" dirty="0">
                <a:solidFill>
                  <a:srgbClr val="FFFFFF"/>
                </a:solidFill>
                <a:latin typeface="Arial" pitchFamily="34" charset="0"/>
                <a:ea typeface="Arial" pitchFamily="34" charset="-122"/>
                <a:cs typeface="Arial" pitchFamily="34" charset="-120"/>
              </a:rPr>
              <a:t>Because everyone deserves to see their world, now and always.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SeeNA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SeeNA: See Now and Always</dc:title>
  <dc:subject>Syncs Hackathon 2026 product pitch</dc:subject>
  <dc:creator>Karthik Ramesh, Kishore Srinivasan, Suryateja Challa, Sujan Ramesh</dc:creator>
  <cp:lastModifiedBy>Karthik Ramesh, Kishore Srinivasan, Suryateja Challa, Sujan Ramesh</cp:lastModifiedBy>
  <cp:revision>1</cp:revision>
  <dcterms:created xsi:type="dcterms:W3CDTF">2026-08-30T04:00:14Z</dcterms:created>
  <dcterms:modified xsi:type="dcterms:W3CDTF">2026-08-30T04:00:14Z</dcterms:modified>
</cp:coreProperties>
</file>